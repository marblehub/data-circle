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53f9077907141fa" /><Relationship Type="http://schemas.openxmlformats.org/officeDocument/2006/relationships/extended-properties" Target="/docProps/app.xml" Id="R724106940e8549d3" /><Relationship Type="http://schemas.openxmlformats.org/officeDocument/2006/relationships/officeDocument" Target="/ppt/presentation.xml" Id="R52489e232b724ced" /></Relationships>
</file>

<file path=ppt/presentation.xml><?xml version="1.0" encoding="utf-8"?>
<p:presentation xmlns:p="http://schemas.openxmlformats.org/presentationml/2006/main">
  <p:sldMasterIdLst>
    <p:sldMasterId xmlns:r="http://schemas.openxmlformats.org/officeDocument/2006/relationships" id="2147483648" r:id="Rf540ee60b20c42af"/>
    <p:sldMasterId xmlns:r="http://schemas.openxmlformats.org/officeDocument/2006/relationships" id="2147483652" r:id="R686a0ed74dba48be"/>
    <p:sldMasterId xmlns:r="http://schemas.openxmlformats.org/officeDocument/2006/relationships" id="2147483654" r:id="R6f64d8aeb1f2442b"/>
  </p:sldMasterIdLst>
  <p:notesMasterIdLst>
    <p:notesMasterId xmlns:r="http://schemas.openxmlformats.org/officeDocument/2006/relationships" r:id="R2184b1ba900746f1"/>
  </p:notesMasterIdLst>
  <p:sldIdLst>
    <p:sldId xmlns:r="http://schemas.openxmlformats.org/officeDocument/2006/relationships" id="256" r:id="R914d944ad8c5495a"/>
    <p:sldId xmlns:r="http://schemas.openxmlformats.org/officeDocument/2006/relationships" id="257" r:id="R09229e6299394c05"/>
    <p:sldId xmlns:r="http://schemas.openxmlformats.org/officeDocument/2006/relationships" id="258" r:id="R5a56763ec6ca4935"/>
    <p:sldId xmlns:r="http://schemas.openxmlformats.org/officeDocument/2006/relationships" id="259" r:id="R1b400df28dfc49b2"/>
    <p:sldId xmlns:r="http://schemas.openxmlformats.org/officeDocument/2006/relationships" id="260" r:id="R8fa76348ed4f4887"/>
    <p:sldId xmlns:r="http://schemas.openxmlformats.org/officeDocument/2006/relationships" id="261" r:id="Re59d6271d76e4179"/>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1543db7a18d4dc4" /><Relationship Type="http://schemas.openxmlformats.org/officeDocument/2006/relationships/slideMaster" Target="/ppt/slideMasters/slideMaster1.xml" Id="Rf540ee60b20c42af" /><Relationship Type="http://schemas.openxmlformats.org/officeDocument/2006/relationships/slideMaster" Target="/ppt/slideMasters/slideMaster2.xml" Id="R686a0ed74dba48be" /><Relationship Type="http://schemas.openxmlformats.org/officeDocument/2006/relationships/slideMaster" Target="/ppt/slideMasters/slideMaster3.xml" Id="R6f64d8aeb1f2442b" /><Relationship Type="http://schemas.openxmlformats.org/officeDocument/2006/relationships/notesMaster" Target="/ppt/notesMasters/notesMaster1.xml" Id="R2184b1ba900746f1" /><Relationship Type="http://schemas.openxmlformats.org/officeDocument/2006/relationships/presProps" Target="/ppt/presProps.xml" Id="Rf24de685b234463e" /><Relationship Type="http://schemas.openxmlformats.org/officeDocument/2006/relationships/viewProps" Target="/ppt/viewProps.xml" Id="Rb2b887dc51cc4d72" /><Relationship Type="http://schemas.openxmlformats.org/officeDocument/2006/relationships/tableStyles" Target="/ppt/tableStyles.xml" Id="R2055b00e33c14ffe" /><Relationship Type="http://schemas.openxmlformats.org/officeDocument/2006/relationships/slide" Target="/ppt/slides/slide1.xml" Id="R914d944ad8c5495a" /><Relationship Type="http://schemas.openxmlformats.org/officeDocument/2006/relationships/slide" Target="/ppt/slides/slide2.xml" Id="R09229e6299394c05" /><Relationship Type="http://schemas.openxmlformats.org/officeDocument/2006/relationships/slide" Target="/ppt/slides/slide3.xml" Id="R5a56763ec6ca4935" /><Relationship Type="http://schemas.openxmlformats.org/officeDocument/2006/relationships/slide" Target="/ppt/slides/slide4.xml" Id="R1b400df28dfc49b2" /><Relationship Type="http://schemas.openxmlformats.org/officeDocument/2006/relationships/slide" Target="/ppt/slides/slide5.xml" Id="R8fa76348ed4f4887" /><Relationship Type="http://schemas.openxmlformats.org/officeDocument/2006/relationships/slide" Target="/ppt/slides/slide6.xml" Id="Re59d6271d76e41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ca6caa75f77647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a741aa2ba14278" /><Relationship Type="http://schemas.openxmlformats.org/officeDocument/2006/relationships/notesMaster" Target="/ppt/notesMasters/notesMaster1.xml" Id="R2b2af2f6412e4d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59772239584aba" /><Relationship Type="http://schemas.openxmlformats.org/officeDocument/2006/relationships/notesMaster" Target="/ppt/notesMasters/notesMaster1.xml" Id="Rabb696c7cecb43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4075fdbb264b3c" /><Relationship Type="http://schemas.openxmlformats.org/officeDocument/2006/relationships/notesMaster" Target="/ppt/notesMasters/notesMaster1.xml" Id="R9ba5e2c2816b4a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10954ceda44533" /><Relationship Type="http://schemas.openxmlformats.org/officeDocument/2006/relationships/notesMaster" Target="/ppt/notesMasters/notesMaster1.xml" Id="R3b3a0d02ea3045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d51a2902c44008" /><Relationship Type="http://schemas.openxmlformats.org/officeDocument/2006/relationships/notesMaster" Target="/ppt/notesMasters/notesMaster1.xml" Id="Re06c7b9507e744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0bf03afc9d4741" /><Relationship Type="http://schemas.openxmlformats.org/officeDocument/2006/relationships/notesMaster" Target="/ppt/notesMasters/notesMaster1.xml" Id="R404d063d4dc74e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Goodfriend (0:00-0:20)</a:t>
            </a:r>
          </a:p>
          <a:p xmlns:a="http://schemas.openxmlformats.org/drawingml/2006/main">
            <a:r>
              <a:t/>
            </a:r>
          </a:p>
          <a:p xmlns:a="http://schemas.openxmlformats.org/drawingml/2006/main">
            <a:r>
              <a:t>Hello, we are Team WTM: Goodfriend, Morisade, Tari and Tayaphon. We want to predict whether a waterpoint works, needs repair, or does not work. Sprint 1 checked the data and compared pump conditions across different groups. Tayaphon will introduce the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Tayaphon (0:20-1:00)</a:t>
            </a:r>
          </a:p>
          <a:p xmlns:a="http://schemas.openxmlformats.org/drawingml/2006/main">
            <a:r>
              <a:t/>
            </a:r>
          </a:p>
          <a:p xmlns:a="http://schemas.openxmlformats.org/drawingml/2006/main">
            <a:r>
              <a:t>We have 59,400 waterpoint records, collected between 2002 and 2013. We grouped the 40 original input columns into topics so we could ask clear questions about location, pump construction, water conditions and management. The three labels are uneven. About 54 percent work, 38 percent do not work, and only seven percent work but need repair. That small repair group will need separate checks when we build models. First, Morisade will explain the data problems that affect our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Morisade (1:00-1:45)</a:t>
            </a:r>
          </a:p>
          <a:p xmlns:a="http://schemas.openxmlformats.org/drawingml/2006/main">
            <a:r>
              <a:t/>
            </a:r>
          </a:p>
          <a:p xmlns:a="http://schemas.openxmlformats.org/drawingml/2006/main">
            <a:r>
              <a:t>About 35 percent of construction years are unknown. Four regions have no usable years and contain one fifth of all records. Our age results therefore describe only part of the dataset. We also found 2,145 different installer names, including spelling variants. The amount and height correlation falls from 0.34 to 0.02 when we leave out zero heights. That shows how data choices can change a result. Our shared cleaned copy keeps every row and marks uncertain values. Some questions remain open. Tari will now show the patterns we can describe with those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Tari (1:45-2:50)</a:t>
            </a:r>
          </a:p>
          <a:p xmlns:a="http://schemas.openxmlformats.org/drawingml/2006/main">
            <a:r>
              <a:t/>
            </a:r>
          </a:p>
          <a:p xmlns:a="http://schemas.openxmlformats.org/drawingml/2006/main">
            <a:r>
              <a:t>Water availability has a clear link with pump condition. Almost 97 percent of dry waterpoints are not working, compared with about 28 percent where water is recorded as enough. However, dry may describe a problem that already exists. We will compare models with and without this field. Age also shows a difference. Among records with usable ages, about 72 percent of the youngest group work, compared with 31 percent of the oldest. The youngest group also works more often within all 16 regions and five pump groups with enough records. The middle age groups do not always fall steadily. These comparisons do not prove that age or water supply caused the condition. Tayaphon will show what we found in the other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Tayaphon (2:50-3:50)</a:t>
            </a:r>
          </a:p>
          <a:p xmlns:a="http://schemas.openxmlformats.org/drawingml/2006/main">
            <a:r>
              <a:t/>
            </a:r>
          </a:p>
          <a:p xmlns:a="http://schemas.openxmlformats.org/drawingml/2006/main">
            <a:r>
              <a:t>The left chart compares how strongly each field is linked to pump status. Water quantity ranks highest among the categorical fields we checked. Pump type and outlet type follow. Permit has a much weaker link on its own, but that does not prove it is useless in a model. The right chart gives three examples. Multiple standpipes have a higher non-working share than single standpipes. Lake sources have a higher share than springs. Waterpoints where users never pay have a higher share than those with annual payments. These groups also differ in location, age and other ways. We cannot say that changing the outlet, source or payment would fix a pump. Goodfriend will explain how these findings guide Sprint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Goodfriend (3:50-4:30)</a:t>
            </a:r>
          </a:p>
          <a:p xmlns:a="http://schemas.openxmlformats.org/drawingml/2006/main">
            <a:r>
              <a:t/>
            </a:r>
          </a:p>
          <a:p xmlns:a="http://schemas.openxmlformats.org/drawingml/2006/main">
            <a:r>
              <a:t>We will compare simple and more complex models using the same data preparation. We will test water quantity both ways, check repeated information, and review installer name variants. We will learn preprocessing choices from training data only. Always predicting working would already score 54 percent overall, while missing every repair case. So we will report precision, recall and F1 for each pump state. We will check missed repairs and false alarms. That will show whether our models improve on a simple starting point.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3807c41cdc48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950bfddf5d4a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6d2b544ff44a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5a2aa4102f7c43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3.xml" Id="R6f743c202982430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_TITLE">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4FE521-D957-4493-B87B-6278440BF48A}"/>
              </a:ext>
            </a:extLst>
          </p:cNvPr>
          <p:cNvSpPr>
            <a:spLocks xmlns:a="http://schemas.openxmlformats.org/drawingml/2006/main" noGrp="1"/>
          </p:cNvSpPr>
          <p:nvPr>
            <p:ph type="title" idx="100" hasCustomPrompt="1"/>
          </p:nvPr>
        </p:nvSpPr>
        <p:spPr>
          <a:xfrm xmlns:a="http://schemas.openxmlformats.org/drawingml/2006/main">
            <a:off x="640080" y="1417320"/>
            <a:ext cx="10881360" cy="4572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1500" b="1" kern="0" spc="200">
                <a:solidFill>
                  <a:schemeClr val="accent1"/>
                </a:solidFill>
                <a:latin typeface="Calibri"/>
                <a:ea typeface="Calibri"/>
                <a:cs typeface="Calibri"/>
              </a:defRPr>
            </a:lvl1pPr>
          </a:lstStyle>
          <a:p xmlns:a="http://schemas.openxmlformats.org/drawingml/2006/main">
            <a:pPr marL="0" indent="0" algn="l">
              <a:buNone/>
            </a:pPr>
            <a:r>
              <a:rPr sz="1500" b="1" spc="200">
                <a:solidFill>
                  <a:schemeClr val="accent1"/>
                </a:solidFill>
                <a:latin typeface="Calibri"/>
                <a:ea typeface="Calibri"/>
                <a:cs typeface="Calibri"/>
              </a:rPr>
              <a:t>KICKER</a:t>
            </a:r>
            <a:endParaRPr sz="1500"/>
          </a:p>
        </p:txBody>
      </p:sp>
      <p:sp>
        <p:nvSpPr>
          <p:cNvPr id="3" name="Text 0">
            <a:extLst xmlns:a="http://schemas.openxmlformats.org/drawingml/2006/main">
              <a:ext uri="{FF2B5EF4-FFF2-40B4-BE49-F238E27FC236}">
                <a16:creationId xmlns:a16="http://schemas.microsoft.com/office/drawing/2014/main" id="{16283B42-DDBE-4E14-91AC-8F2276D80883}"/>
              </a:ext>
            </a:extLst>
          </p:cNvPr>
          <p:cNvSpPr>
            <a:spLocks xmlns:a="http://schemas.openxmlformats.org/drawingml/2006/main" noGrp="1"/>
          </p:cNvSpPr>
          <p:nvPr>
            <p:ph type="body" idx="101" hasCustomPrompt="1"/>
          </p:nvPr>
        </p:nvSpPr>
        <p:spPr>
          <a:xfrm xmlns:a="http://schemas.openxmlformats.org/drawingml/2006/main">
            <a:off x="640080" y="1920240"/>
            <a:ext cx="10881360" cy="17373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4000" b="1">
                <a:solidFill>
                  <a:schemeClr val="bg1"/>
                </a:solidFill>
                <a:latin typeface="Cambria"/>
                <a:ea typeface="Cambria"/>
                <a:cs typeface="Cambria"/>
              </a:defRPr>
            </a:lvl1pPr>
          </a:lstStyle>
          <a:p xmlns:a="http://schemas.openxmlformats.org/drawingml/2006/main">
            <a:pPr marL="0" indent="0" algn="l">
              <a:buNone/>
            </a:pPr>
            <a:r>
              <a:rPr sz="4000" b="1">
                <a:solidFill>
                  <a:schemeClr val="bg1"/>
                </a:solidFill>
                <a:latin typeface="Cambria"/>
                <a:ea typeface="Cambria"/>
                <a:cs typeface="Cambria"/>
              </a:rPr>
              <a:t>Title</a:t>
            </a:r>
            <a:endParaRPr sz="4000"/>
          </a:p>
        </p:txBody>
      </p:sp>
      <p:sp>
        <p:nvSpPr>
          <p:cNvPr id="4" name="Text 0">
            <a:extLst xmlns:a="http://schemas.openxmlformats.org/drawingml/2006/main">
              <a:ext uri="{FF2B5EF4-FFF2-40B4-BE49-F238E27FC236}">
                <a16:creationId xmlns:a16="http://schemas.microsoft.com/office/drawing/2014/main" id="{79C1CED7-A72C-47ED-AF3E-FF84E24E9437}"/>
              </a:ext>
            </a:extLst>
          </p:cNvPr>
          <p:cNvSpPr>
            <a:spLocks xmlns:a="http://schemas.openxmlformats.org/drawingml/2006/main" noGrp="1"/>
          </p:cNvSpPr>
          <p:nvPr>
            <p:ph type="body" idx="102" hasCustomPrompt="1"/>
          </p:nvPr>
        </p:nvSpPr>
        <p:spPr>
          <a:xfrm xmlns:a="http://schemas.openxmlformats.org/drawingml/2006/main">
            <a:off x="640080" y="3703320"/>
            <a:ext cx="10058400" cy="11887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1700">
                <a:solidFill>
                  <a:schemeClr val="bg2"/>
                </a:solidFill>
                <a:latin typeface="Calibri"/>
                <a:ea typeface="Calibri"/>
                <a:cs typeface="Calibri"/>
              </a:defRPr>
            </a:lvl1pPr>
          </a:lstStyle>
          <a:p xmlns:a="http://schemas.openxmlformats.org/drawingml/2006/main">
            <a:pPr marL="0" indent="0" algn="l">
              <a:buNone/>
            </a:pPr>
            <a:r>
              <a:rPr sz="1700">
                <a:solidFill>
                  <a:schemeClr val="bg2"/>
                </a:solidFill>
                <a:latin typeface="Calibri"/>
                <a:ea typeface="Calibri"/>
                <a:cs typeface="Calibri"/>
              </a:rPr>
              <a:t>Subtitle</a:t>
            </a:r>
            <a:endParaRPr sz="1700"/>
          </a:p>
        </p:txBody>
      </p:sp>
      <p:sp>
        <p:nvSpPr>
          <p:cNvPr id="5" name="Text 0">
            <a:extLst xmlns:a="http://schemas.openxmlformats.org/drawingml/2006/main">
              <a:ext uri="{FF2B5EF4-FFF2-40B4-BE49-F238E27FC236}">
                <a16:creationId xmlns:a16="http://schemas.microsoft.com/office/drawing/2014/main" id="{29DE0FB4-F0BA-486E-9D93-3B538A7D5CC3}"/>
              </a:ext>
            </a:extLst>
          </p:cNvPr>
          <p:cNvSpPr>
            <a:spLocks xmlns:a="http://schemas.openxmlformats.org/drawingml/2006/main" noGrp="1"/>
          </p:cNvSpPr>
          <p:nvPr/>
        </p:nvSpPr>
        <p:spPr>
          <a:xfrm xmlns:a="http://schemas.openxmlformats.org/drawingml/2006/main">
            <a:off x="640080" y="6355080"/>
            <a:ext cx="108813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chemeClr val="accent5"/>
                </a:solidFill>
                <a:latin typeface="Calibri"/>
                <a:ea typeface="Calibri"/>
                <a:cs typeface="Calibri"/>
              </a:rPr>
              <a:t>Team WTM  ·  Pump it Up: Data Mining the Water Table  ·  Sprint 1</a:t>
            </a:r>
            <a:endParaRPr sz="1000"/>
          </a:p>
        </p:txBody>
      </p:sp>
      <p:sp>
        <p:nvSpPr>
          <p:cNvPr id="25" name="Slide Number Placeholder 0">
            <a:extLst xmlns:a="http://schemas.openxmlformats.org/drawingml/2006/main">
              <a:ext uri="{FF2B5EF4-FFF2-40B4-BE49-F238E27FC236}">
                <a16:creationId xmlns:a16="http://schemas.microsoft.com/office/drawing/2014/main" id="{ECE79BCE-83C5-480F-984F-8BCFCD468C4F}"/>
              </a:ext>
            </a:extLst>
          </p:cNvPr>
          <p:cNvSpPr>
            <a:spLocks xmlns:a="http://schemas.openxmlformats.org/drawingml/2006/main" noGrp="1"/>
          </p:cNvSpPr>
          <p:nvPr>
            <p:ph type="sldNum" idx="4294967295"/>
          </p:nvPr>
        </p:nvSpPr>
        <p:spPr>
          <a:xfrm xmlns:a="http://schemas.openxmlformats.org/drawingml/2006/main">
            <a:off x="11658600" y="635508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7FD8C8"/>
                </a:solidFill>
                <a:latin typeface="Calibri"/>
                <a:ea typeface="Calibri"/>
                <a:cs typeface="Calibri"/>
              </a:defRPr>
            </a:lvl1pPr>
          </a:lstStyle>
          <a:p xmlns:a="http://schemas.openxmlformats.org/drawingml/2006/main">
            <a:pPr algn="l">
              <a:buNone/>
            </a:pPr>
            <a:fld id="{F7021451-1387-4CA6-816F-3879F97B5CBC}" type="slidenum">
              <a:rPr b="0"/>
              <a:t>‹#›</a:t>
            </a:fld>
            <a:endParaRPr/>
          </a:p>
        </p:txBody>
      </p:sp>
    </p:spTree>
  </p:cSld>
</p:sldLayout>
</file>

<file path=ppt/slideLayouts/slideLayout3.xml><?xml version="1.0" encoding="utf-8"?>
<p:sldLayout xmlns:p="http://schemas.openxmlformats.org/presentationml/2006/main" preserve="1">
  <p:cSld name="CONTENT_LIGH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DF42CB-E617-47A1-92C7-77BA19F9F98D}"/>
              </a:ext>
            </a:extLst>
          </p:cNvPr>
          <p:cNvSpPr>
            <a:spLocks xmlns:a="http://schemas.openxmlformats.org/drawingml/2006/main" noGrp="1"/>
          </p:cNvSpPr>
          <p:nvPr/>
        </p:nvSpPr>
        <p:spPr>
          <a:xfrm xmlns:a="http://schemas.openxmlformats.org/drawingml/2006/main">
            <a:off x="0" y="0"/>
            <a:ext cx="12191695" cy="1170432"/>
          </a:xfrm>
          <a:prstGeom xmlns:a="http://schemas.openxmlformats.org/drawingml/2006/main" prst="rect">
            <a:avLst/>
          </a:prstGeom>
          <a:solidFill xmlns:a="http://schemas.openxmlformats.org/drawingml/2006/main">
            <a:schemeClr val="bg2"/>
          </a:solidFill>
        </p:spPr>
      </p:sp>
      <p:sp>
        <p:nvSpPr>
          <p:cNvPr id="3" name="Text 1">
            <a:extLst xmlns:a="http://schemas.openxmlformats.org/drawingml/2006/main">
              <a:ext uri="{FF2B5EF4-FFF2-40B4-BE49-F238E27FC236}">
                <a16:creationId xmlns:a16="http://schemas.microsoft.com/office/drawing/2014/main" id="{BF6C146B-8B74-4404-84A2-FD80E104F8A8}"/>
              </a:ext>
            </a:extLst>
          </p:cNvPr>
          <p:cNvSpPr>
            <a:spLocks xmlns:a="http://schemas.openxmlformats.org/drawingml/2006/main" noGrp="1"/>
          </p:cNvSpPr>
          <p:nvPr>
            <p:ph type="title" idx="101" hasCustomPrompt="1"/>
          </p:nvPr>
        </p:nvSpPr>
        <p:spPr>
          <a:xfrm xmlns:a="http://schemas.openxmlformats.org/drawingml/2006/main">
            <a:off x="548640" y="201168"/>
            <a:ext cx="9601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1300" b="1" kern="0" spc="150">
                <a:solidFill>
                  <a:schemeClr val="tx2"/>
                </a:solidFill>
                <a:latin typeface="Calibri"/>
                <a:ea typeface="Calibri"/>
                <a:cs typeface="Calibri"/>
              </a:defRPr>
            </a:lvl1pPr>
          </a:lstStyle>
          <a:p xmlns:a="http://schemas.openxmlformats.org/drawingml/2006/main">
            <a:pPr marL="0" indent="0" algn="l">
              <a:buNone/>
            </a:pPr>
            <a:r>
              <a:rPr sz="1300" b="1" spc="150">
                <a:solidFill>
                  <a:schemeClr val="tx2"/>
                </a:solidFill>
                <a:latin typeface="Calibri"/>
                <a:ea typeface="Calibri"/>
                <a:cs typeface="Calibri"/>
              </a:rPr>
              <a:t>KICKER</a:t>
            </a:r>
            <a:endParaRPr sz="1300"/>
          </a:p>
        </p:txBody>
      </p:sp>
      <p:sp>
        <p:nvSpPr>
          <p:cNvPr id="4" name="Text 1">
            <a:extLst xmlns:a="http://schemas.openxmlformats.org/drawingml/2006/main">
              <a:ext uri="{FF2B5EF4-FFF2-40B4-BE49-F238E27FC236}">
                <a16:creationId xmlns:a16="http://schemas.microsoft.com/office/drawing/2014/main" id="{3D024392-C08F-477A-A7FA-E976EFBA8458}"/>
              </a:ext>
            </a:extLst>
          </p:cNvPr>
          <p:cNvSpPr>
            <a:spLocks xmlns:a="http://schemas.openxmlformats.org/drawingml/2006/main" noGrp="1"/>
          </p:cNvSpPr>
          <p:nvPr>
            <p:ph type="body" idx="102" hasCustomPrompt="1"/>
          </p:nvPr>
        </p:nvSpPr>
        <p:spPr>
          <a:xfrm xmlns:a="http://schemas.openxmlformats.org/drawingml/2006/main">
            <a:off x="548640" y="512064"/>
            <a:ext cx="10515600" cy="5943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600" b="1">
                <a:solidFill>
                  <a:schemeClr val="tx1"/>
                </a:solidFill>
                <a:latin typeface="Cambria"/>
                <a:ea typeface="Cambria"/>
                <a:cs typeface="Cambria"/>
              </a:defRPr>
            </a:lvl1pPr>
          </a:lstStyle>
          <a:p xmlns:a="http://schemas.openxmlformats.org/drawingml/2006/main">
            <a:pPr marL="0" indent="0" algn="l">
              <a:buNone/>
            </a:pPr>
            <a:r>
              <a:rPr sz="2600" b="1">
                <a:solidFill>
                  <a:schemeClr val="tx1"/>
                </a:solidFill>
                <a:latin typeface="Cambria"/>
                <a:ea typeface="Cambria"/>
                <a:cs typeface="Cambria"/>
              </a:rPr>
              <a:t>Title</a:t>
            </a:r>
            <a:endParaRPr sz="2600"/>
          </a:p>
        </p:txBody>
      </p:sp>
      <p:sp>
        <p:nvSpPr>
          <p:cNvPr id="5" name="Shape 1">
            <a:extLst xmlns:a="http://schemas.openxmlformats.org/drawingml/2006/main">
              <a:ext uri="{FF2B5EF4-FFF2-40B4-BE49-F238E27FC236}">
                <a16:creationId xmlns:a16="http://schemas.microsoft.com/office/drawing/2014/main" id="{80B08BF4-34A4-407B-AE77-33A313FA78FE}"/>
              </a:ext>
            </a:extLst>
          </p:cNvPr>
          <p:cNvSpPr>
            <a:spLocks xmlns:a="http://schemas.openxmlformats.org/drawingml/2006/main" noGrp="1"/>
          </p:cNvSpPr>
          <p:nvPr/>
        </p:nvSpPr>
        <p:spPr>
          <a:xfrm xmlns:a="http://schemas.openxmlformats.org/drawingml/2006/main">
            <a:off x="548640" y="6565392"/>
            <a:ext cx="11064240" cy="0"/>
          </a:xfrm>
          <a:prstGeom xmlns:a="http://schemas.openxmlformats.org/drawingml/2006/main" prst="line">
            <a:avLst/>
          </a:prstGeom>
          <a:noFill xmlns:a="http://schemas.openxmlformats.org/drawingml/2006/main"/>
          <a:ln xmlns:a="http://schemas.openxmlformats.org/drawingml/2006/main" w="9525">
            <a:solidFill>
              <a:schemeClr val="bg2"/>
            </a:solidFill>
            <a:prstDash val="solid"/>
          </a:ln>
        </p:spPr>
      </p:sp>
      <p:sp>
        <p:nvSpPr>
          <p:cNvPr id="6" name="Text 2">
            <a:extLst xmlns:a="http://schemas.openxmlformats.org/drawingml/2006/main">
              <a:ext uri="{FF2B5EF4-FFF2-40B4-BE49-F238E27FC236}">
                <a16:creationId xmlns:a16="http://schemas.microsoft.com/office/drawing/2014/main" id="{69827B13-C31D-4FAB-918E-AEFD8875C061}"/>
              </a:ext>
            </a:extLst>
          </p:cNvPr>
          <p:cNvSpPr>
            <a:spLocks xmlns:a="http://schemas.openxmlformats.org/drawingml/2006/main" noGrp="1"/>
          </p:cNvSpPr>
          <p:nvPr/>
        </p:nvSpPr>
        <p:spPr>
          <a:xfrm xmlns:a="http://schemas.openxmlformats.org/drawingml/2006/main">
            <a:off x="548640" y="6601968"/>
            <a:ext cx="777240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A5A8"/>
                </a:solidFill>
                <a:latin typeface="Calibri"/>
                <a:ea typeface="Calibri"/>
                <a:cs typeface="Calibri"/>
              </a:rPr>
              <a:t>Team WTM  ·  Sprint 1 EDA findings</a:t>
            </a:r>
            <a:endParaRPr sz="900"/>
          </a:p>
        </p:txBody>
      </p:sp>
      <p:sp>
        <p:nvSpPr>
          <p:cNvPr id="25" name="Slide Number Placeholder 0">
            <a:extLst xmlns:a="http://schemas.openxmlformats.org/drawingml/2006/main">
              <a:ext uri="{FF2B5EF4-FFF2-40B4-BE49-F238E27FC236}">
                <a16:creationId xmlns:a16="http://schemas.microsoft.com/office/drawing/2014/main" id="{454EEB0A-2FB8-441F-956B-C8B82C5063D9}"/>
              </a:ext>
            </a:extLst>
          </p:cNvPr>
          <p:cNvSpPr>
            <a:spLocks xmlns:a="http://schemas.openxmlformats.org/drawingml/2006/main" noGrp="1"/>
          </p:cNvSpPr>
          <p:nvPr>
            <p:ph type="sldNum" idx="4294967295"/>
          </p:nvPr>
        </p:nvSpPr>
        <p:spPr>
          <a:xfrm xmlns:a="http://schemas.openxmlformats.org/drawingml/2006/main">
            <a:off x="11658600" y="658368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8AA5A8"/>
                </a:solidFill>
                <a:latin typeface="Calibri"/>
                <a:ea typeface="Calibri"/>
                <a:cs typeface="Calibri"/>
              </a:defRPr>
            </a:lvl1pPr>
          </a:lstStyle>
          <a:p xmlns:a="http://schemas.openxmlformats.org/drawingml/2006/main">
            <a:pPr algn="l">
              <a:buNone/>
            </a:pPr>
            <a:fld id="{F7021451-1387-4CA6-816F-3879F97B5CBC}" type="slidenum">
              <a:rPr b="0"/>
              <a:t>‹#›</a:t>
            </a:fld>
            <a:endParaRPr/>
          </a:p>
        </p:txBody>
      </p:sp>
    </p:spTree>
  </p:cSld>
</p:sldLayout>
</file>

<file path=ppt/slideLayouts/slideLayout4.xml><?xml version="1.0" encoding="utf-8"?>
<p:sldLayout xmlns:p="http://schemas.openxmlformats.org/presentationml/2006/main">
  <p:cSld name="WTM clear canvas">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cSld name="WTM clear canvas">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e1891751f640fe" /><Relationship Type="http://schemas.openxmlformats.org/officeDocument/2006/relationships/slideLayout" Target="/ppt/slideLayouts/slideLayout1.xml" Id="Rfc08a2cd2b284eb1" /><Relationship Type="http://schemas.openxmlformats.org/officeDocument/2006/relationships/slideLayout" Target="/ppt/slideLayouts/slideLayout2.xml" Id="R6e97b396521c4b26" /><Relationship Type="http://schemas.openxmlformats.org/officeDocument/2006/relationships/slideLayout" Target="/ppt/slideLayouts/slideLayout3.xml" Id="R5e695e50895e4f3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b8cd7057ee5456b" /><Relationship Type="http://schemas.openxmlformats.org/officeDocument/2006/relationships/slideLayout" Target="/ppt/slideLayouts/slideLayout4.xml" Id="R3ce9e47557af4f94"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5537c0eb44164a8c" /><Relationship Type="http://schemas.openxmlformats.org/officeDocument/2006/relationships/slideLayout" Target="/ppt/slideLayouts/slideLayout5.xml" Id="R790d28419b39436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8113A7A5-5C02-41E7-AA85-A1242EB244E6}"/>
              </a:ext>
            </a:extLst>
          </p:cNvPr>
          <p:cNvSpPr>
            <a:spLocks xmlns:a="http://schemas.openxmlformats.org/drawingml/2006/main" noGrp="1"/>
          </p:cNvSpPr>
          <p:nvPr>
            <p:ph type="sldNum" idx="4294967295"/>
          </p:nvPr>
        </p:nvSpPr>
        <p:spPr>
          <a:xfrm xmlns:a="http://schemas.openxmlformats.org/drawingml/2006/main">
            <a:off x="11658600" y="635508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7FD8C8"/>
                </a:solidFill>
                <a:latin typeface="Calibri"/>
                <a:ea typeface="Calibri"/>
                <a:cs typeface="Calibri"/>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08a2cd2b284eb1"/>
    <p:sldLayoutId xmlns:r="http://schemas.openxmlformats.org/officeDocument/2006/relationships" id="2147483650" r:id="R6e97b396521c4b26"/>
    <p:sldLayoutId xmlns:r="http://schemas.openxmlformats.org/officeDocument/2006/relationships" id="2147483651" r:id="R5e695e50895e4f3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WTM clear master">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3" r:id="R3ce9e47557af4f94"/>
  </p:sldLayoutIdLst>
</p:sldMaster>
</file>

<file path=ppt/slideMasters/slideMaster3.xml><?xml version="1.0" encoding="utf-8"?>
<p:sldMaster xmlns:p="http://schemas.openxmlformats.org/presentationml/2006/main">
  <p:cSld name="WTM clear master">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790d28419b394361"/>
  </p:sldLayoutIdLst>
</p:sldMaster>
</file>

<file path=ppt/slideMasters/theme/theme2.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5.xml" Id="Rf4af908150fc4b62" /><Relationship Type="http://schemas.openxmlformats.org/officeDocument/2006/relationships/image" Target="/ppt/media/image.png" Id="R6df7ce1a43e9457a" /><Relationship Type="http://schemas.openxmlformats.org/officeDocument/2006/relationships/notesSlide" Target="/ppt/notesSlides/notesSlide1.xml" Id="R758097a506ee46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2c3c055dc93747ca" /><Relationship Type="http://schemas.openxmlformats.org/officeDocument/2006/relationships/chart" Target="/ppt/slides/charts/chart1.xml" Id="Rc3954eac77b741ec" /><Relationship Type="http://schemas.openxmlformats.org/officeDocument/2006/relationships/notesSlide" Target="/ppt/notesSlides/notesSlide2.xml" Id="R87b1921c977b42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ef22b6dd9ffa44fe" /><Relationship Type="http://schemas.openxmlformats.org/officeDocument/2006/relationships/chart" Target="/ppt/slides/charts/chart2.xml" Id="R6f3898c5fc8948f3" /><Relationship Type="http://schemas.openxmlformats.org/officeDocument/2006/relationships/notesSlide" Target="/ppt/notesSlides/notesSlide3.xml" Id="Rff91d48aa62347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f52a14d0aea7483f" /><Relationship Type="http://schemas.openxmlformats.org/officeDocument/2006/relationships/chart" Target="/ppt/slides/charts/chart3.xml" Id="R684746b1be024f32" /><Relationship Type="http://schemas.openxmlformats.org/officeDocument/2006/relationships/chart" Target="/ppt/slides/charts/chart4.xml" Id="R3f5c0289360a45fe" /><Relationship Type="http://schemas.openxmlformats.org/officeDocument/2006/relationships/notesSlide" Target="/ppt/notesSlides/notesSlide4.xml" Id="R61e82390b34a4a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10d544257de0422c" /><Relationship Type="http://schemas.openxmlformats.org/officeDocument/2006/relationships/chart" Target="/ppt/slides/charts/chart5.xml" Id="R903c9575ece145f6" /><Relationship Type="http://schemas.openxmlformats.org/officeDocument/2006/relationships/chart" Target="/ppt/slides/charts/chart6.xml" Id="R47185d0da97845ec" /><Relationship Type="http://schemas.openxmlformats.org/officeDocument/2006/relationships/notesSlide" Target="/ppt/notesSlides/notesSlide5.xml" Id="Rd17128f0cfea41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c0d1ec57321e41d7" /><Relationship Type="http://schemas.openxmlformats.org/officeDocument/2006/relationships/notesSlide" Target="/ppt/notesSlides/notesSlide6.xml" Id="R74da873237474f4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columns</c:v>
          </c:tx>
          <c:spPr>
            <a:solidFill xmlns:a="http://schemas.openxmlformats.org/drawingml/2006/main">
              <a:srgbClr val="55777E"/>
            </a:solidFill>
          </c:spPr>
          <c:invertIfNegative val="0"/>
          <c:cat>
            <c:strRef>
              <c:f>'Chart Data'!$A$2:$A$7</c:f>
              <c:strCache>
                <c:ptCount val="6"/>
                <c:pt idx="0">
                  <c:v>Meaning unclear (num_private)</c:v>
                </c:pt>
                <c:pt idx="1">
                  <c:v>Record details</c:v>
                </c:pt>
                <c:pt idx="2">
                  <c:v>Management and payment</c:v>
                </c:pt>
                <c:pt idx="3">
                  <c:v>Water source, amount and quality</c:v>
                </c:pt>
                <c:pt idx="4">
                  <c:v>Construction and pump type</c:v>
                </c:pt>
                <c:pt idx="5">
                  <c:v>Location and population</c:v>
                </c:pt>
              </c:strCache>
            </c:strRef>
          </c:cat>
          <c:val>
            <c:numRef>
              <c:f>'Chart Data'!$B$2:$B$7</c:f>
              <c:numCache>
                <c:formatCode>0</c:formatCode>
                <c:ptCount val="6"/>
                <c:pt idx="0">
                  <c:v>1</c:v>
                </c:pt>
                <c:pt idx="1">
                  <c:v>4</c:v>
                </c:pt>
                <c:pt idx="2">
                  <c:v>8</c:v>
                </c:pt>
                <c:pt idx="3">
                  <c:v>8</c:v>
                </c:pt>
                <c:pt idx="4">
                  <c:v>8</c:v>
                </c:pt>
                <c:pt idx="5">
                  <c:v>11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55777E"/>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6262A"/>
                </a:solidFill>
                <a:latin typeface="Calibri"/>
                <a:ea typeface="Calibri"/>
                <a:cs typeface="Calibri"/>
              </a:defRPr>
            </a:pPr>
          </a:p>
        </c:txPr>
        <c:crossAx val="48672768"/>
      </c:catAx>
      <c:valAx>
        <c:axId val="48672768"/>
        <c:scaling>
          <c:orientation val="minMax"/>
          <c:max val="12"/>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Unknown construction year</c:v>
          </c:tx>
          <c:spPr>
            <a:solidFill xmlns:a="http://schemas.openxmlformats.org/drawingml/2006/main">
              <a:srgbClr val="008F78"/>
            </a:solidFill>
          </c:spPr>
          <c:invertIfNegative val="0"/>
          <c:dPt>
            <c:idx val="0"/>
            <c:invertIfNegative val="0"/>
            <c:spPr>
              <a:solidFill xmlns:a="http://schemas.openxmlformats.org/drawingml/2006/main">
                <a:srgbClr val="C6283E"/>
              </a:solidFill>
            </c:spPr>
          </c:dPt>
          <c:dPt>
            <c:idx val="1"/>
            <c:invertIfNegative val="0"/>
            <c:spPr>
              <a:solidFill xmlns:a="http://schemas.openxmlformats.org/drawingml/2006/main">
                <a:srgbClr val="B77900"/>
              </a:solidFill>
            </c:spPr>
          </c:dPt>
          <c:dPt>
            <c:idx val="2"/>
            <c:invertIfNegative val="0"/>
            <c:spPr>
              <a:solidFill xmlns:a="http://schemas.openxmlformats.org/drawingml/2006/main">
                <a:srgbClr val="008F78"/>
              </a:solidFill>
            </c:spPr>
          </c:dPt>
          <c:cat>
            <c:strRef>
              <c:f>'Chart Data'!$A$2:$A$4</c:f>
              <c:strCache>
                <c:ptCount val="3"/>
                <c:pt idx="0">
                  <c:v>Not working</c:v>
                </c:pt>
                <c:pt idx="1">
                  <c:v>Needs repair</c:v>
                </c:pt>
                <c:pt idx="2">
                  <c:v>Working</c:v>
                </c:pt>
              </c:strCache>
            </c:strRef>
          </c:cat>
          <c:val>
            <c:numRef>
              <c:f>'Chart Data'!$B$2:$B$4</c:f>
              <c:numCache>
                <c:formatCode>0%</c:formatCode>
                <c:ptCount val="3"/>
                <c:pt idx="0">
                  <c:v>0.366500175</c:v>
                </c:pt>
                <c:pt idx="1">
                  <c:v>0.414408154</c:v>
                </c:pt>
                <c:pt idx="2">
                  <c:v>0.327195511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6262A"/>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6262A"/>
                </a:solidFill>
                <a:latin typeface="Calibri"/>
                <a:ea typeface="Calibri"/>
                <a:cs typeface="Calibri"/>
              </a:defRPr>
            </a:pPr>
          </a:p>
        </c:txPr>
        <c:crossAx val="48672768"/>
      </c:catAx>
      <c:valAx>
        <c:axId val="48672768"/>
        <c:scaling>
          <c:orientation val="minMax"/>
          <c:max val="0.6"/>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1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Working</c:v>
          </c:tx>
          <c:spPr>
            <a:solidFill xmlns:a="http://schemas.openxmlformats.org/drawingml/2006/main">
              <a:srgbClr val="008F78"/>
            </a:solidFill>
          </c:spPr>
          <c:invertIfNegative val="0"/>
          <c:dLbls>
            <c:dLbl>
              <c:idx val="0"/>
              <c:tx>
                <c:rich>
                  <a:bodyPr xmlns:a="http://schemas.openxmlformats.org/drawingml/2006/main"/>
                  <a:lstStyle xmlns:a="http://schemas.openxmlformats.org/drawingml/2006/main"/>
                  <a:p xmlns:a="http://schemas.openxmlformats.org/drawingml/2006/main">
                    <a:r>
                      <a:rPr sz="1875" b="1">
                        <a:solidFill>
                          <a:srgbClr val="FFFFFF"/>
                        </a:solidFill>
                      </a:rPr>
                      <a:t>65.2%</a:t>
                    </a:r>
                  </a:p>
                </c:rich>
              </c:tx>
              <c:txPr>
                <a:bodyPr xmlns:a="http://schemas.openxmlformats.org/drawingml/2006/main" anchorCtr="1"/>
                <a:lstStyle xmlns:a="http://schemas.openxmlformats.org/drawingml/2006/main"/>
                <a:p xmlns:a="http://schemas.openxmlformats.org/drawingml/2006/main">
                  <a:pPr>
                    <a:defRPr sz="1875" b="1">
                      <a:solidFill>
                        <a:srgbClr val="FFFFFF"/>
                      </a:solidFill>
                    </a:defRPr>
                  </a:pPr>
                </a:p>
              </c:txPr>
              <c:dLblPos val="ctr"/>
              <c:showVal val="1"/>
            </c:dLbl>
            <c:showLegendKey val="0"/>
            <c:showVal val="0"/>
            <c:showCatName val="0"/>
            <c:showSerName val="0"/>
            <c:showPercent val="0"/>
            <c:showBubbleSize val="0"/>
            <c:showLeaderLines val="0"/>
          </c:dLbls>
          <c:cat>
            <c:strRef>
              <c:f>'Chart Data'!$A$2:$A$3</c:f>
              <c:strCache>
                <c:ptCount val="2"/>
                <c:pt idx="0">
                  <c:v>Enough water
n=33,186</c:v>
                </c:pt>
                <c:pt idx="1">
                  <c:v>Dry
n=6,246</c:v>
                </c:pt>
              </c:strCache>
            </c:strRef>
          </c:cat>
          <c:val>
            <c:numRef>
              <c:f>'Chart Data'!$B$2:$B$3</c:f>
              <c:numCache>
                <c:formatCode>0%</c:formatCode>
                <c:ptCount val="2"/>
                <c:pt idx="0">
                  <c:v>0.652323269</c:v>
                </c:pt>
                <c:pt idx="1">
                  <c:v>0.025136087</c:v>
                </c:pt>
              </c:numCache>
            </c:numRef>
          </c:val>
        </c:ser>
        <c:ser>
          <c:idx val="1"/>
          <c:order val="1"/>
          <c:tx>
            <c:v>Needs repair</c:v>
          </c:tx>
          <c:spPr>
            <a:solidFill xmlns:a="http://schemas.openxmlformats.org/drawingml/2006/main">
              <a:srgbClr val="B77900"/>
            </a:solidFill>
          </c:spPr>
          <c:invertIfNegative val="0"/>
          <c:dLbls>
            <c:showLegendKey val="0"/>
            <c:showVal val="0"/>
            <c:showCatName val="0"/>
            <c:showSerName val="0"/>
            <c:showPercent val="0"/>
            <c:showBubbleSize val="0"/>
            <c:showLeaderLines val="0"/>
          </c:dLbls>
          <c:cat>
            <c:strRef>
              <c:f>'Chart Data'!$C$2:$C$3</c:f>
              <c:strCache>
                <c:ptCount val="2"/>
                <c:pt idx="0">
                  <c:v>Enough water
n=33,186</c:v>
                </c:pt>
                <c:pt idx="1">
                  <c:v>Dry
n=6,246</c:v>
                </c:pt>
              </c:strCache>
            </c:strRef>
          </c:cat>
          <c:val>
            <c:numRef>
              <c:f>'Chart Data'!$D$2:$D$3</c:f>
              <c:numCache>
                <c:formatCode>0%</c:formatCode>
                <c:ptCount val="2"/>
                <c:pt idx="0">
                  <c:v>0.072319653</c:v>
                </c:pt>
                <c:pt idx="1">
                  <c:v>0.005923791</c:v>
                </c:pt>
              </c:numCache>
            </c:numRef>
          </c:val>
        </c:ser>
        <c:ser>
          <c:idx val="2"/>
          <c:order val="2"/>
          <c:tx>
            <c:v>Not working</c:v>
          </c:tx>
          <c:spPr>
            <a:solidFill xmlns:a="http://schemas.openxmlformats.org/drawingml/2006/main">
              <a:srgbClr val="C6283E"/>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FFFFFF"/>
                    </a:solidFill>
                  </a:defRPr>
                </a:pPr>
              </a:p>
            </c:txPr>
            <c:dLblPos val="ctr"/>
            <c:showLegendKey val="0"/>
            <c:showVal val="1"/>
            <c:showCatName val="0"/>
            <c:showSerName val="0"/>
            <c:showPercent val="0"/>
            <c:showBubbleSize val="0"/>
            <c:showLeaderLines val="0"/>
          </c:dLbls>
          <c:cat>
            <c:strRef>
              <c:f>'Chart Data'!$E$2:$E$3</c:f>
              <c:strCache>
                <c:ptCount val="2"/>
                <c:pt idx="0">
                  <c:v>Enough water
n=33,186</c:v>
                </c:pt>
                <c:pt idx="1">
                  <c:v>Dry
n=6,246</c:v>
                </c:pt>
              </c:strCache>
            </c:strRef>
          </c:cat>
          <c:val>
            <c:numRef>
              <c:f>'Chart Data'!$F$2:$F$3</c:f>
              <c:numCache>
                <c:formatCode>0%</c:formatCode>
                <c:ptCount val="2"/>
                <c:pt idx="0">
                  <c:v>0.275357078</c:v>
                </c:pt>
                <c:pt idx="1">
                  <c:v>0.968940122</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6262A"/>
                </a:solidFill>
                <a:latin typeface="Calibri"/>
                <a:ea typeface="Calibri"/>
                <a:cs typeface="Calibri"/>
              </a:defRPr>
            </a:pPr>
          </a:p>
        </c:txPr>
        <c:crossAx val="48672768"/>
      </c:catAx>
      <c:valAx>
        <c:axId val="48672768"/>
        <c:scaling>
          <c:orientation val="minMax"/>
          <c:max val="1"/>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Working share</c:v>
          </c:tx>
          <c:spPr>
            <a:solidFill xmlns:a="http://schemas.openxmlformats.org/drawingml/2006/main">
              <a:srgbClr val="008F78"/>
            </a:solidFill>
          </c:spPr>
          <c:invertIfNegative val="0"/>
          <c:cat>
            <c:strRef>
              <c:f>'Chart Data'!$A$2:$A$6</c:f>
              <c:strCache>
                <c:ptCount val="5"/>
                <c:pt idx="0">
                  <c:v>0-5</c:v>
                </c:pt>
                <c:pt idx="1">
                  <c:v>6-10</c:v>
                </c:pt>
                <c:pt idx="2">
                  <c:v>11-20</c:v>
                </c:pt>
                <c:pt idx="3">
                  <c:v>21-30</c:v>
                </c:pt>
                <c:pt idx="4">
                  <c:v>31+</c:v>
                </c:pt>
              </c:strCache>
            </c:strRef>
          </c:cat>
          <c:val>
            <c:numRef>
              <c:f>'Chart Data'!$B$2:$B$6</c:f>
              <c:numCache>
                <c:formatCode>0%</c:formatCode>
                <c:ptCount val="5"/>
                <c:pt idx="0">
                  <c:v>0.715305245</c:v>
                </c:pt>
                <c:pt idx="1">
                  <c:v>0.612759908</c:v>
                </c:pt>
                <c:pt idx="2">
                  <c:v>0.576142132</c:v>
                </c:pt>
                <c:pt idx="3">
                  <c:v>0.442748092</c:v>
                </c:pt>
                <c:pt idx="4">
                  <c:v>0.314236111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008F78"/>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4C686E"/>
                    </a:solidFill>
                    <a:latin typeface="Calibri"/>
                    <a:ea typeface="Calibri"/>
                    <a:cs typeface="Calibri"/>
                  </a:rPr>
                  <a:t>Age at recording (years)</a:t>
                </a:r>
              </a:p>
            </c:rich>
          </c:tx>
          <c:overlay val="0"/>
          <c:txPr>
            <a:bodyPr xmlns:a="http://schemas.openxmlformats.org/drawingml/2006/main" anchorCtr="1"/>
            <a:lstStyle xmlns:a="http://schemas.openxmlformats.org/drawingml/2006/main"/>
            <a:p xmlns:a="http://schemas.openxmlformats.org/drawingml/2006/main">
              <a:pPr>
                <a:defRPr sz="1500">
                  <a:solidFill>
                    <a:srgbClr val="4C686E"/>
                  </a:solidFill>
                  <a:latin typeface="Calibri"/>
                  <a:ea typeface="Calibri"/>
                  <a:cs typeface="Calibri"/>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6262A"/>
                </a:solidFill>
                <a:latin typeface="Calibri"/>
                <a:ea typeface="Calibri"/>
                <a:cs typeface="Calibri"/>
              </a:defRPr>
            </a:pPr>
          </a:p>
        </c:txPr>
        <c:crossAx val="48672768"/>
      </c:catAx>
      <c:valAx>
        <c:axId val="48672768"/>
        <c:scaling>
          <c:orientation val="minMax"/>
          <c:max val="0.8"/>
          <c:min val="0"/>
        </c:scaling>
        <c:delete val="0"/>
        <c:axPos val="l"/>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Cramer's V</c:v>
          </c:tx>
          <c:spPr>
            <a:solidFill xmlns:a="http://schemas.openxmlformats.org/drawingml/2006/main">
              <a:srgbClr val="55777E"/>
            </a:solidFill>
          </c:spPr>
          <c:invertIfNegative val="0"/>
          <c:cat>
            <c:strRef>
              <c:f>'Chart Data'!$A$2:$A$8</c:f>
              <c:strCache>
                <c:ptCount val="7"/>
                <c:pt idx="0">
                  <c:v>Permit</c:v>
                </c:pt>
                <c:pt idx="1">
                  <c:v>Management</c:v>
                </c:pt>
                <c:pt idx="2">
                  <c:v>Water source</c:v>
                </c:pt>
                <c:pt idx="3">
                  <c:v>Payment</c:v>
                </c:pt>
                <c:pt idx="4">
                  <c:v>Pump type</c:v>
                </c:pt>
                <c:pt idx="5">
                  <c:v>Outlet type</c:v>
                </c:pt>
                <c:pt idx="6">
                  <c:v>Water quantity</c:v>
                </c:pt>
              </c:strCache>
            </c:strRef>
          </c:cat>
          <c:val>
            <c:numRef>
              <c:f>'Chart Data'!$B$2:$B$8</c:f>
              <c:numCache>
                <c:formatCode>0.0</c:formatCode>
                <c:ptCount val="7"/>
                <c:pt idx="0">
                  <c:v>0.029613185</c:v>
                </c:pt>
                <c:pt idx="1">
                  <c:v>0.1323552</c:v>
                </c:pt>
                <c:pt idx="2">
                  <c:v>0.148618732</c:v>
                </c:pt>
                <c:pt idx="3">
                  <c:v>0.18270368</c:v>
                </c:pt>
                <c:pt idx="4">
                  <c:v>0.248998643</c:v>
                </c:pt>
                <c:pt idx="5">
                  <c:v>0.250425843</c:v>
                </c:pt>
                <c:pt idx="6">
                  <c:v>0.309239971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55777E"/>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6262A"/>
                </a:solidFill>
                <a:latin typeface="Calibri"/>
                <a:ea typeface="Calibri"/>
                <a:cs typeface="Calibri"/>
              </a:defRPr>
            </a:pPr>
          </a:p>
        </c:txPr>
        <c:crossAx val="48672768"/>
      </c:catAx>
      <c:valAx>
        <c:axId val="48672768"/>
        <c:scaling>
          <c:orientation val="minMax"/>
          <c:max val="0.4"/>
          <c:min val="0"/>
        </c:scaling>
        <c:delete val="0"/>
        <c:axPos val="b"/>
        <c:majorGridlines>
          <c:spPr>
            <a:ln xmlns:a="http://schemas.openxmlformats.org/drawingml/2006/main" w="6668">
              <a:solidFill>
                <a:srgbClr val="D7E8E8"/>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Not working</c:v>
          </c:tx>
          <c:spPr>
            <a:solidFill xmlns:a="http://schemas.openxmlformats.org/drawingml/2006/main">
              <a:srgbClr val="C6283E"/>
            </a:solidFill>
          </c:spPr>
          <c:invertIfNegative val="0"/>
          <c:cat>
            <c:strRef>
              <c:f>'Chart Data'!$A$2:$A$7</c:f>
              <c:strCache>
                <c:ptCount val="6"/>
                <c:pt idx="0">
                  <c:v>Pay annually
n=3,642</c:v>
                </c:pt>
                <c:pt idx="1">
                  <c:v>Never pay
n=25,348</c:v>
                </c:pt>
                <c:pt idx="2">
                  <c:v>Spring source
n=17,021</c:v>
                </c:pt>
                <c:pt idx="3">
                  <c:v>Lake source
n=765</c:v>
                </c:pt>
                <c:pt idx="4">
                  <c:v>Single standpipe
n=28,522</c:v>
                </c:pt>
                <c:pt idx="5">
                  <c:v>Multiple standpipe
n=6,103</c:v>
                </c:pt>
              </c:strCache>
            </c:strRef>
          </c:cat>
          <c:val>
            <c:numRef>
              <c:f>'Chart Data'!$B$2:$B$7</c:f>
              <c:numCache>
                <c:formatCode>0%</c:formatCode>
                <c:ptCount val="6"/>
                <c:pt idx="0">
                  <c:v>0.179846238</c:v>
                </c:pt>
                <c:pt idx="1">
                  <c:v>0.475856083</c:v>
                </c:pt>
                <c:pt idx="2">
                  <c:v>0.30274367</c:v>
                </c:pt>
                <c:pt idx="3">
                  <c:v>0.77254902</c:v>
                </c:pt>
                <c:pt idx="4">
                  <c:v>0.299277751</c:v>
                </c:pt>
                <c:pt idx="5">
                  <c:v>0.527609372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C6283E"/>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6262A"/>
                </a:solidFill>
                <a:latin typeface="Calibri"/>
                <a:ea typeface="Calibri"/>
                <a:cs typeface="Calibri"/>
              </a:defRPr>
            </a:pPr>
          </a:p>
        </c:txPr>
        <c:crossAx val="48672768"/>
      </c:catAx>
      <c:valAx>
        <c:axId val="48672768"/>
        <c:scaling>
          <c:orientation val="minMax"/>
          <c:max val="1"/>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AF6F6"/>
        </a:solidFill>
      </p:bgPr>
    </p:bg>
    <p:spTree>
      <p:nvGrpSpPr>
        <p:cNvPr id="1" name=""/>
        <p:cNvGrpSpPr/>
        <p:nvPr/>
      </p:nvGrpSpPr>
      <p:grpSpPr>
        <a:xfrm xmlns:a="http://schemas.openxmlformats.org/drawingml/2006/main"/>
      </p:grpSpPr>
      <p:sp>
        <p:nvSpPr>
          <p:cNvPr id="9" name="school">
            <a:extLst xmlns:a="http://schemas.openxmlformats.org/drawingml/2006/main">
              <a:ext uri="{FF2B5EF4-FFF2-40B4-BE49-F238E27FC236}">
                <a16:creationId xmlns:a16="http://schemas.microsoft.com/office/drawing/2014/main" id="{7980090B-F432-45F4-B0C7-1598F974D3FB}"/>
              </a:ext>
            </a:extLst>
          </p:cNvPr>
          <p:cNvSpPr>
            <a:spLocks xmlns:a="http://schemas.openxmlformats.org/drawingml/2006/main" noGrp="1"/>
          </p:cNvSpPr>
          <p:nvPr/>
        </p:nvSpPr>
        <p:spPr>
          <a:xfrm xmlns:a="http://schemas.openxmlformats.org/drawingml/2006/main">
            <a:off x="609600" y="523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28090"/>
                </a:solidFill>
                <a:latin typeface="Calibri"/>
                <a:ea typeface="Calibri"/>
                <a:cs typeface="Calibri"/>
              </a:defRPr>
            </a:defPPr>
          </a:lstStyle>
          <a:p xmlns:a="http://schemas.openxmlformats.org/drawingml/2006/main">
            <a:pPr>
              <a:defRPr sz="2175" b="1">
                <a:solidFill>
                  <a:srgbClr val="028090"/>
                </a:solidFill>
                <a:latin typeface="Calibri"/>
                <a:ea typeface="Calibri"/>
                <a:cs typeface="Calibri"/>
              </a:defRPr>
            </a:pPr>
            <a:r>
              <a:rPr sz="2175" b="1">
                <a:solidFill>
                  <a:srgbClr val="028090"/>
                </a:solidFill>
                <a:latin typeface="Calibri"/>
                <a:ea typeface="Calibri"/>
                <a:cs typeface="Calibri"/>
              </a:rPr>
              <a:t>ReDI School</a:t>
            </a:r>
          </a:p>
        </p:txBody>
      </p:sp>
      <p:sp>
        <p:nvSpPr>
          <p:cNvPr id="2" name="course">
            <a:extLst xmlns:a="http://schemas.openxmlformats.org/drawingml/2006/main">
              <a:ext uri="{FF2B5EF4-FFF2-40B4-BE49-F238E27FC236}">
                <a16:creationId xmlns:a16="http://schemas.microsoft.com/office/drawing/2014/main" id="{F580A41F-A542-439F-B416-4EB188A4D39B}"/>
              </a:ext>
            </a:extLst>
          </p:cNvPr>
          <p:cNvSpPr>
            <a:spLocks xmlns:a="http://schemas.openxmlformats.org/drawingml/2006/main" noGrp="1"/>
          </p:cNvSpPr>
          <p:nvPr/>
        </p:nvSpPr>
        <p:spPr>
          <a:xfrm xmlns:a="http://schemas.openxmlformats.org/drawingml/2006/main">
            <a:off x="609600" y="9525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C686E"/>
                </a:solidFill>
                <a:latin typeface="Calibri"/>
                <a:ea typeface="Calibri"/>
                <a:cs typeface="Calibri"/>
              </a:defRPr>
            </a:defPPr>
          </a:lstStyle>
          <a:p xmlns:a="http://schemas.openxmlformats.org/drawingml/2006/main">
            <a:pPr>
              <a:defRPr sz="1725" b="0">
                <a:solidFill>
                  <a:srgbClr val="4C686E"/>
                </a:solidFill>
                <a:latin typeface="Calibri"/>
                <a:ea typeface="Calibri"/>
                <a:cs typeface="Calibri"/>
              </a:defRPr>
            </a:pPr>
            <a:r>
              <a:rPr sz="1725" b="0">
                <a:solidFill>
                  <a:srgbClr val="4C686E"/>
                </a:solidFill>
                <a:latin typeface="Calibri"/>
                <a:ea typeface="Calibri"/>
                <a:cs typeface="Calibri"/>
              </a:rPr>
              <a:t>Data Circle 2026</a:t>
            </a:r>
          </a:p>
        </p:txBody>
      </p:sp>
      <p:sp>
        <p:nvSpPr>
          <p:cNvPr id="3" name="title">
            <a:extLst xmlns:a="http://schemas.openxmlformats.org/drawingml/2006/main">
              <a:ext uri="{FF2B5EF4-FFF2-40B4-BE49-F238E27FC236}">
                <a16:creationId xmlns:a16="http://schemas.microsoft.com/office/drawing/2014/main" id="{EA898AE8-04F8-4F5D-A090-188E4A784082}"/>
              </a:ext>
            </a:extLst>
          </p:cNvPr>
          <p:cNvSpPr>
            <a:spLocks xmlns:a="http://schemas.openxmlformats.org/drawingml/2006/main" noGrp="1"/>
          </p:cNvSpPr>
          <p:nvPr/>
        </p:nvSpPr>
        <p:spPr>
          <a:xfrm xmlns:a="http://schemas.openxmlformats.org/drawingml/2006/main">
            <a:off x="609600" y="18478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6262A"/>
                </a:solidFill>
                <a:latin typeface="Cambria"/>
                <a:ea typeface="Cambria"/>
                <a:cs typeface="Cambria"/>
              </a:defRPr>
            </a:defPPr>
          </a:lstStyle>
          <a:p xmlns:a="http://schemas.openxmlformats.org/drawingml/2006/main">
            <a:pPr>
              <a:defRPr sz="4800" b="1">
                <a:solidFill>
                  <a:srgbClr val="16262A"/>
                </a:solidFill>
                <a:latin typeface="Cambria"/>
                <a:ea typeface="Cambria"/>
                <a:cs typeface="Cambria"/>
              </a:defRPr>
            </a:pPr>
            <a:r>
              <a:rPr sz="4800" b="1">
                <a:solidFill>
                  <a:srgbClr val="16262A"/>
                </a:solidFill>
                <a:latin typeface="Cambria"/>
                <a:ea typeface="Cambria"/>
                <a:cs typeface="Cambria"/>
              </a:rPr>
              <a:t>Water pumps</a:t>
            </a:r>
          </a:p>
          <a:p xmlns:a="http://schemas.openxmlformats.org/drawingml/2006/main">
            <a:pPr>
              <a:defRPr sz="4800" b="1">
                <a:solidFill>
                  <a:srgbClr val="16262A"/>
                </a:solidFill>
                <a:latin typeface="Cambria"/>
                <a:ea typeface="Cambria"/>
                <a:cs typeface="Cambria"/>
              </a:defRPr>
            </a:pPr>
            <a:r>
              <a:rPr sz="4800" b="1">
                <a:solidFill>
                  <a:srgbClr val="16262A"/>
                </a:solidFill>
                <a:latin typeface="Cambria"/>
                <a:ea typeface="Cambria"/>
                <a:cs typeface="Cambria"/>
              </a:rPr>
              <a:t>in Tanzania</a:t>
            </a:r>
          </a:p>
        </p:txBody>
      </p:sp>
      <p:sp>
        <p:nvSpPr>
          <p:cNvPr id="4" name="title-subline">
            <a:extLst xmlns:a="http://schemas.openxmlformats.org/drawingml/2006/main">
              <a:ext uri="{FF2B5EF4-FFF2-40B4-BE49-F238E27FC236}">
                <a16:creationId xmlns:a16="http://schemas.microsoft.com/office/drawing/2014/main" id="{9FE573D7-CA01-4C31-B9F2-8E79315472A2}"/>
              </a:ext>
            </a:extLst>
          </p:cNvPr>
          <p:cNvSpPr>
            <a:spLocks xmlns:a="http://schemas.openxmlformats.org/drawingml/2006/main" noGrp="1"/>
          </p:cNvSpPr>
          <p:nvPr/>
        </p:nvSpPr>
        <p:spPr>
          <a:xfrm xmlns:a="http://schemas.openxmlformats.org/drawingml/2006/main">
            <a:off x="609600" y="35623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28090"/>
                </a:solidFill>
                <a:latin typeface="Calibri"/>
                <a:ea typeface="Calibri"/>
                <a:cs typeface="Calibri"/>
              </a:defRPr>
            </a:defPPr>
          </a:lstStyle>
          <a:p xmlns:a="http://schemas.openxmlformats.org/drawingml/2006/main">
            <a:pPr>
              <a:defRPr sz="2325" b="1">
                <a:solidFill>
                  <a:srgbClr val="028090"/>
                </a:solidFill>
                <a:latin typeface="Calibri"/>
                <a:ea typeface="Calibri"/>
                <a:cs typeface="Calibri"/>
              </a:defRPr>
            </a:pPr>
            <a:r>
              <a:rPr sz="2325" b="1">
                <a:solidFill>
                  <a:srgbClr val="028090"/>
                </a:solidFill>
                <a:latin typeface="Calibri"/>
                <a:ea typeface="Calibri"/>
                <a:cs typeface="Calibri"/>
              </a:rPr>
              <a:t>Sprint 1 findings</a:t>
            </a:r>
          </a:p>
        </p:txBody>
      </p:sp>
      <p:sp>
        <p:nvSpPr>
          <p:cNvPr id="5" name="team">
            <a:extLst xmlns:a="http://schemas.openxmlformats.org/drawingml/2006/main">
              <a:ext uri="{FF2B5EF4-FFF2-40B4-BE49-F238E27FC236}">
                <a16:creationId xmlns:a16="http://schemas.microsoft.com/office/drawing/2014/main" id="{4D90EC59-22CB-413C-81B7-138066262ECC}"/>
              </a:ext>
            </a:extLst>
          </p:cNvPr>
          <p:cNvSpPr>
            <a:spLocks xmlns:a="http://schemas.openxmlformats.org/drawingml/2006/main" noGrp="1"/>
          </p:cNvSpPr>
          <p:nvPr/>
        </p:nvSpPr>
        <p:spPr>
          <a:xfrm xmlns:a="http://schemas.openxmlformats.org/drawingml/2006/main">
            <a:off x="609600" y="44767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libri"/>
                <a:ea typeface="Calibri"/>
                <a:cs typeface="Calibri"/>
              </a:defRPr>
            </a:defPPr>
          </a:lstStyle>
          <a:p xmlns:a="http://schemas.openxmlformats.org/drawingml/2006/main">
            <a:pPr>
              <a:defRPr sz="2025" b="1">
                <a:solidFill>
                  <a:srgbClr val="16262A"/>
                </a:solidFill>
                <a:latin typeface="Calibri"/>
                <a:ea typeface="Calibri"/>
                <a:cs typeface="Calibri"/>
              </a:defRPr>
            </a:pPr>
            <a:r>
              <a:rPr sz="2025" b="1">
                <a:solidFill>
                  <a:srgbClr val="16262A"/>
                </a:solidFill>
                <a:latin typeface="Calibri"/>
                <a:ea typeface="Calibri"/>
                <a:cs typeface="Calibri"/>
              </a:rPr>
              <a:t>Team WTM</a:t>
            </a:r>
          </a:p>
        </p:txBody>
      </p:sp>
      <p:sp>
        <p:nvSpPr>
          <p:cNvPr id="6" name="members">
            <a:extLst xmlns:a="http://schemas.openxmlformats.org/drawingml/2006/main">
              <a:ext uri="{FF2B5EF4-FFF2-40B4-BE49-F238E27FC236}">
                <a16:creationId xmlns:a16="http://schemas.microsoft.com/office/drawing/2014/main" id="{A36D4DD5-745A-4B9F-B035-4F4D0B9EB73E}"/>
              </a:ext>
            </a:extLst>
          </p:cNvPr>
          <p:cNvSpPr>
            <a:spLocks xmlns:a="http://schemas.openxmlformats.org/drawingml/2006/main" noGrp="1"/>
          </p:cNvSpPr>
          <p:nvPr/>
        </p:nvSpPr>
        <p:spPr>
          <a:xfrm xmlns:a="http://schemas.openxmlformats.org/drawingml/2006/main">
            <a:off x="609600" y="4914900"/>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62A"/>
                </a:solidFill>
                <a:latin typeface="Calibri"/>
                <a:ea typeface="Calibri"/>
                <a:cs typeface="Calibri"/>
              </a:defRPr>
            </a:defPPr>
          </a:lstStyle>
          <a:p xmlns:a="http://schemas.openxmlformats.org/drawingml/2006/main">
            <a:pPr>
              <a:defRPr sz="2025" b="0">
                <a:solidFill>
                  <a:srgbClr val="16262A"/>
                </a:solidFill>
                <a:latin typeface="Calibri"/>
                <a:ea typeface="Calibri"/>
                <a:cs typeface="Calibri"/>
              </a:defRPr>
            </a:pPr>
            <a:r>
              <a:rPr sz="2025" b="0">
                <a:solidFill>
                  <a:srgbClr val="16262A"/>
                </a:solidFill>
                <a:latin typeface="Calibri"/>
                <a:ea typeface="Calibri"/>
                <a:cs typeface="Calibri"/>
              </a:rPr>
              <a:t>Goodfriend, Morisade,</a:t>
            </a:r>
          </a:p>
          <a:p xmlns:a="http://schemas.openxmlformats.org/drawingml/2006/main">
            <a:pPr>
              <a:defRPr sz="2025" b="0">
                <a:solidFill>
                  <a:srgbClr val="16262A"/>
                </a:solidFill>
                <a:latin typeface="Calibri"/>
                <a:ea typeface="Calibri"/>
                <a:cs typeface="Calibri"/>
              </a:defRPr>
            </a:pPr>
            <a:r>
              <a:rPr sz="2025" b="0">
                <a:solidFill>
                  <a:srgbClr val="16262A"/>
                </a:solidFill>
                <a:latin typeface="Calibri"/>
                <a:ea typeface="Calibri"/>
                <a:cs typeface="Calibri"/>
              </a:rPr>
              <a:t>Tari and Tayaphon</a:t>
            </a:r>
          </a:p>
        </p:txBody>
      </p:sp>
      <p:sp>
        <p:nvSpPr>
          <p:cNvPr id="7" name="date">
            <a:extLst xmlns:a="http://schemas.openxmlformats.org/drawingml/2006/main">
              <a:ext uri="{FF2B5EF4-FFF2-40B4-BE49-F238E27FC236}">
                <a16:creationId xmlns:a16="http://schemas.microsoft.com/office/drawing/2014/main" id="{1933B424-6505-4C53-99C6-ADD7B47DDF25}"/>
              </a:ext>
            </a:extLst>
          </p:cNvPr>
          <p:cNvSpPr>
            <a:spLocks xmlns:a="http://schemas.openxmlformats.org/drawingml/2006/main" noGrp="1"/>
          </p:cNvSpPr>
          <p:nvPr/>
        </p:nvSpPr>
        <p:spPr>
          <a:xfrm xmlns:a="http://schemas.openxmlformats.org/drawingml/2006/main">
            <a:off x="609600" y="60388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C686E"/>
                </a:solidFill>
                <a:latin typeface="Calibri"/>
                <a:ea typeface="Calibri"/>
                <a:cs typeface="Calibri"/>
              </a:defRPr>
            </a:defPPr>
          </a:lstStyle>
          <a:p xmlns:a="http://schemas.openxmlformats.org/drawingml/2006/main">
            <a:pPr>
              <a:defRPr sz="1800" b="0">
                <a:solidFill>
                  <a:srgbClr val="4C686E"/>
                </a:solidFill>
                <a:latin typeface="Calibri"/>
                <a:ea typeface="Calibri"/>
                <a:cs typeface="Calibri"/>
              </a:defRPr>
            </a:pPr>
            <a:r>
              <a:rPr sz="1800" b="0">
                <a:solidFill>
                  <a:srgbClr val="4C686E"/>
                </a:solidFill>
                <a:latin typeface="Calibri"/>
                <a:ea typeface="Calibri"/>
                <a:cs typeface="Calibri"/>
              </a:rPr>
              <a:t>15 October 2026</a:t>
            </a:r>
          </a:p>
        </p:txBody>
      </p:sp>
      <p:pic>
        <p:nvPicPr>
          <p:cNvPr id="8" name="">
            <a:extLst xmlns:a="http://schemas.openxmlformats.org/drawingml/2006/main">
              <a:ext uri="{FF2B5EF4-FFF2-40B4-BE49-F238E27FC236}">
                <a16:creationId xmlns:a16="http://schemas.microsoft.com/office/drawing/2014/main" id="{D6D789B4-26E4-4CD8-90B3-B3DA237E1123}"/>
              </a:ext>
            </a:extLst>
          </p:cNvPr>
          <p:cNvPicPr>
            <a:picLocks xmlns:a="http://schemas.openxmlformats.org/drawingml/2006/main" noChangeAspect="1"/>
          </p:cNvPicPr>
          <p:nvPr/>
        </p:nvPicPr>
        <p:blipFill>
          <a:blip xmlns:r="http://schemas.openxmlformats.org/officeDocument/2006/relationships" xmlns:a="http://schemas.openxmlformats.org/drawingml/2006/main" r:embed="R6df7ce1a43e9457a"/>
          <a:stretch xmlns:a="http://schemas.openxmlformats.org/drawingml/2006/main"/>
        </p:blipFill>
        <p:spPr>
          <a:xfrm xmlns:a="http://schemas.openxmlformats.org/drawingml/2006/main">
            <a:off x="6448425" y="1699419"/>
            <a:ext cx="5191125" cy="4325938"/>
          </a:xfrm>
          <a:prstGeom xmlns:a="http://schemas.openxmlformats.org/drawingml/2006/main" prst="rect">
            <a:avLst/>
          </a:prstGeom>
        </p:spPr>
      </p:pic>
    </p:spTree>
    <p:extLst>
      <p:ext uri="{BB962C8B-B14F-4D97-AF65-F5344CB8AC3E}">
        <p14:creationId xmlns:p14="http://schemas.microsoft.com/office/powerpoint/2010/main" val="3046717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er-band">
            <a:extLst xmlns:a="http://schemas.openxmlformats.org/drawingml/2006/main">
              <a:ext uri="{FF2B5EF4-FFF2-40B4-BE49-F238E27FC236}">
                <a16:creationId xmlns:a16="http://schemas.microsoft.com/office/drawing/2014/main" id="{9C0F33DA-EE27-4316-BA11-FA7B0A9FD5FA}"/>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B8E9FEFE-0304-4F11-8ECE-0D9ED11B1D2F}"/>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THE DATA</a:t>
            </a:r>
          </a:p>
        </p:txBody>
      </p:sp>
      <p:sp>
        <p:nvSpPr>
          <p:cNvPr id="3" name="title">
            <a:extLst xmlns:a="http://schemas.openxmlformats.org/drawingml/2006/main">
              <a:ext uri="{FF2B5EF4-FFF2-40B4-BE49-F238E27FC236}">
                <a16:creationId xmlns:a16="http://schemas.microsoft.com/office/drawing/2014/main" id="{FEFB5210-918B-497A-85AF-0A49B53E1725}"/>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We grouped the columns to guide our questions</a:t>
            </a:r>
          </a:p>
        </p:txBody>
      </p:sp>
      <p:sp>
        <p:nvSpPr>
          <p:cNvPr id="4" name="page">
            <a:extLst xmlns:a="http://schemas.openxmlformats.org/drawingml/2006/main">
              <a:ext uri="{FF2B5EF4-FFF2-40B4-BE49-F238E27FC236}">
                <a16:creationId xmlns:a16="http://schemas.microsoft.com/office/drawing/2014/main" id="{58460887-4450-4EAA-81C7-10785CCF23AC}"/>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2</a:t>
            </a:r>
          </a:p>
        </p:txBody>
      </p:sp>
      <p:sp>
        <p:nvSpPr>
          <p:cNvPr id="5" name="figure-title">
            <a:extLst xmlns:a="http://schemas.openxmlformats.org/drawingml/2006/main">
              <a:ext uri="{FF2B5EF4-FFF2-40B4-BE49-F238E27FC236}">
                <a16:creationId xmlns:a16="http://schemas.microsoft.com/office/drawing/2014/main" id="{A84056BD-E9BA-42D5-A3BE-D794AC53B8CB}"/>
              </a:ext>
            </a:extLst>
          </p:cNvPr>
          <p:cNvSpPr>
            <a:spLocks xmlns:a="http://schemas.openxmlformats.org/drawingml/2006/main" noGrp="1"/>
          </p:cNvSpPr>
          <p:nvPr/>
        </p:nvSpPr>
        <p:spPr>
          <a:xfrm xmlns:a="http://schemas.openxmlformats.org/drawingml/2006/main">
            <a:off x="609600" y="15811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40 original input columns</a:t>
            </a:r>
          </a:p>
        </p:txBody>
      </p:sp>
      <p:graphicFrame>
        <p:nvGraphicFramePr>
          <p:cNvPr id="6" name="Chart">
            <a:extLst xmlns:a="http://schemas.openxmlformats.org/drawingml/2006/main">
              <a:ext uri="{FF2B5EF4-FFF2-40B4-BE49-F238E27FC236}">
                <a16:creationId xmlns:a16="http://schemas.microsoft.com/office/drawing/2014/main" id="{383316F2-6990-41A0-A127-E39816523C99}"/>
              </a:ext>
            </a:extLst>
          </p:cNvPr>
          <p:cNvGraphicFramePr/>
          <p:nvPr/>
        </p:nvGraphicFramePr>
        <p:xfrm>
          <a:off xmlns:a="http://schemas.openxmlformats.org/drawingml/2006/main" x="419100" y="2095500"/>
          <a:ext xmlns:a="http://schemas.openxmlformats.org/drawingml/2006/main" cx="7620000" cy="3476625"/>
        </p:xfrm>
        <a:graphic xmlns:a="http://schemas.openxmlformats.org/drawingml/2006/main">
          <a:graphicData uri="http://schemas.openxmlformats.org/drawingml/2006/chart">
            <c:chart xmlns:r="http://schemas.openxmlformats.org/officeDocument/2006/relationships" xmlns:c="http://schemas.openxmlformats.org/drawingml/2006/chart" r:id="Rc3954eac77b741ec"/>
          </a:graphicData>
        </a:graphic>
      </p:graphicFrame>
      <p:sp>
        <p:nvSpPr>
          <p:cNvPr id="7" name="record-count">
            <a:extLst xmlns:a="http://schemas.openxmlformats.org/drawingml/2006/main">
              <a:ext uri="{FF2B5EF4-FFF2-40B4-BE49-F238E27FC236}">
                <a16:creationId xmlns:a16="http://schemas.microsoft.com/office/drawing/2014/main" id="{C1C60D4B-78E7-43E6-BC3D-E778CE042421}"/>
              </a:ext>
            </a:extLst>
          </p:cNvPr>
          <p:cNvSpPr>
            <a:spLocks xmlns:a="http://schemas.openxmlformats.org/drawingml/2006/main" noGrp="1"/>
          </p:cNvSpPr>
          <p:nvPr/>
        </p:nvSpPr>
        <p:spPr>
          <a:xfrm xmlns:a="http://schemas.openxmlformats.org/drawingml/2006/main">
            <a:off x="8667750" y="156210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28090"/>
                </a:solidFill>
                <a:latin typeface="Cambria"/>
                <a:ea typeface="Cambria"/>
                <a:cs typeface="Cambria"/>
              </a:defRPr>
            </a:defPPr>
          </a:lstStyle>
          <a:p xmlns:a="http://schemas.openxmlformats.org/drawingml/2006/main">
            <a:pPr>
              <a:defRPr sz="3825" b="1">
                <a:solidFill>
                  <a:srgbClr val="028090"/>
                </a:solidFill>
                <a:latin typeface="Cambria"/>
                <a:ea typeface="Cambria"/>
                <a:cs typeface="Cambria"/>
              </a:defRPr>
            </a:pPr>
            <a:r>
              <a:rPr sz="3825" b="1">
                <a:solidFill>
                  <a:srgbClr val="028090"/>
                </a:solidFill>
                <a:latin typeface="Cambria"/>
                <a:ea typeface="Cambria"/>
                <a:cs typeface="Cambria"/>
              </a:rPr>
              <a:t>59,400</a:t>
            </a:r>
          </a:p>
        </p:txBody>
      </p:sp>
      <p:sp>
        <p:nvSpPr>
          <p:cNvPr id="8" name="record-unit">
            <a:extLst xmlns:a="http://schemas.openxmlformats.org/drawingml/2006/main">
              <a:ext uri="{FF2B5EF4-FFF2-40B4-BE49-F238E27FC236}">
                <a16:creationId xmlns:a16="http://schemas.microsoft.com/office/drawing/2014/main" id="{7117EFDB-33DC-4524-B714-25ED9D9447FC}"/>
              </a:ext>
            </a:extLst>
          </p:cNvPr>
          <p:cNvSpPr>
            <a:spLocks xmlns:a="http://schemas.openxmlformats.org/drawingml/2006/main" noGrp="1"/>
          </p:cNvSpPr>
          <p:nvPr/>
        </p:nvSpPr>
        <p:spPr>
          <a:xfrm xmlns:a="http://schemas.openxmlformats.org/drawingml/2006/main">
            <a:off x="8667750" y="23241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4C686E"/>
                </a:solidFill>
                <a:latin typeface="Calibri"/>
                <a:ea typeface="Calibri"/>
                <a:cs typeface="Calibri"/>
              </a:defRPr>
            </a:defPPr>
          </a:lstStyle>
          <a:p xmlns:a="http://schemas.openxmlformats.org/drawingml/2006/main">
            <a:pPr>
              <a:defRPr sz="1950" b="0">
                <a:solidFill>
                  <a:srgbClr val="4C686E"/>
                </a:solidFill>
                <a:latin typeface="Calibri"/>
                <a:ea typeface="Calibri"/>
                <a:cs typeface="Calibri"/>
              </a:defRPr>
            </a:pPr>
            <a:r>
              <a:rPr sz="1950" b="0">
                <a:solidFill>
                  <a:srgbClr val="4C686E"/>
                </a:solidFill>
                <a:latin typeface="Calibri"/>
                <a:ea typeface="Calibri"/>
                <a:cs typeface="Calibri"/>
              </a:rPr>
              <a:t>waterpoint records</a:t>
            </a:r>
          </a:p>
        </p:txBody>
      </p:sp>
      <p:sp>
        <p:nvSpPr>
          <p:cNvPr id="9" name="figure-title">
            <a:extLst xmlns:a="http://schemas.openxmlformats.org/drawingml/2006/main">
              <a:ext uri="{FF2B5EF4-FFF2-40B4-BE49-F238E27FC236}">
                <a16:creationId xmlns:a16="http://schemas.microsoft.com/office/drawing/2014/main" id="{22F0BE45-07C0-4E02-803D-846C61A3414A}"/>
              </a:ext>
            </a:extLst>
          </p:cNvPr>
          <p:cNvSpPr>
            <a:spLocks xmlns:a="http://schemas.openxmlformats.org/drawingml/2006/main" noGrp="1"/>
          </p:cNvSpPr>
          <p:nvPr/>
        </p:nvSpPr>
        <p:spPr>
          <a:xfrm xmlns:a="http://schemas.openxmlformats.org/drawingml/2006/main">
            <a:off x="8667750" y="30099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262A"/>
                </a:solidFill>
                <a:latin typeface="Calibri"/>
                <a:ea typeface="Calibri"/>
                <a:cs typeface="Calibri"/>
              </a:defRPr>
            </a:defPPr>
          </a:lstStyle>
          <a:p xmlns:a="http://schemas.openxmlformats.org/drawingml/2006/main">
            <a:pPr>
              <a:defRPr sz="1875" b="1">
                <a:solidFill>
                  <a:srgbClr val="16262A"/>
                </a:solidFill>
                <a:latin typeface="Calibri"/>
                <a:ea typeface="Calibri"/>
                <a:cs typeface="Calibri"/>
              </a:defRPr>
            </a:pPr>
            <a:r>
              <a:rPr sz="1875" b="1">
                <a:solidFill>
                  <a:srgbClr val="16262A"/>
                </a:solidFill>
                <a:latin typeface="Calibri"/>
                <a:ea typeface="Calibri"/>
                <a:cs typeface="Calibri"/>
              </a:rPr>
              <a:t>Three recorded states</a:t>
            </a:r>
          </a:p>
        </p:txBody>
      </p:sp>
      <p:sp>
        <p:nvSpPr>
          <p:cNvPr id="10" name="state-working">
            <a:extLst xmlns:a="http://schemas.openxmlformats.org/drawingml/2006/main">
              <a:ext uri="{FF2B5EF4-FFF2-40B4-BE49-F238E27FC236}">
                <a16:creationId xmlns:a16="http://schemas.microsoft.com/office/drawing/2014/main" id="{D15A47BE-B7B5-431B-BD48-67F0C8944EE3}"/>
              </a:ext>
            </a:extLst>
          </p:cNvPr>
          <p:cNvSpPr>
            <a:spLocks xmlns:a="http://schemas.openxmlformats.org/drawingml/2006/main" noGrp="1"/>
          </p:cNvSpPr>
          <p:nvPr/>
        </p:nvSpPr>
        <p:spPr>
          <a:xfrm xmlns:a="http://schemas.openxmlformats.org/drawingml/2006/main">
            <a:off x="8667750" y="355282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08F78"/>
                </a:solidFill>
                <a:latin typeface="Calibri"/>
                <a:ea typeface="Calibri"/>
                <a:cs typeface="Calibri"/>
              </a:defRPr>
            </a:defPPr>
          </a:lstStyle>
          <a:p xmlns:a="http://schemas.openxmlformats.org/drawingml/2006/main">
            <a:pPr>
              <a:defRPr sz="2025" b="1">
                <a:solidFill>
                  <a:srgbClr val="008F78"/>
                </a:solidFill>
                <a:latin typeface="Calibri"/>
                <a:ea typeface="Calibri"/>
                <a:cs typeface="Calibri"/>
              </a:defRPr>
            </a:pPr>
            <a:r>
              <a:rPr sz="2025" b="1">
                <a:solidFill>
                  <a:srgbClr val="008F78"/>
                </a:solidFill>
                <a:latin typeface="Calibri"/>
                <a:ea typeface="Calibri"/>
                <a:cs typeface="Calibri"/>
              </a:rPr>
              <a:t>Working  54.3%</a:t>
            </a:r>
          </a:p>
        </p:txBody>
      </p:sp>
      <p:sp>
        <p:nvSpPr>
          <p:cNvPr id="11" name="state-repair">
            <a:extLst xmlns:a="http://schemas.openxmlformats.org/drawingml/2006/main">
              <a:ext uri="{FF2B5EF4-FFF2-40B4-BE49-F238E27FC236}">
                <a16:creationId xmlns:a16="http://schemas.microsoft.com/office/drawing/2014/main" id="{964477B3-D612-4539-8DBE-92ADDF5C1644}"/>
              </a:ext>
            </a:extLst>
          </p:cNvPr>
          <p:cNvSpPr>
            <a:spLocks xmlns:a="http://schemas.openxmlformats.org/drawingml/2006/main" noGrp="1"/>
          </p:cNvSpPr>
          <p:nvPr/>
        </p:nvSpPr>
        <p:spPr>
          <a:xfrm xmlns:a="http://schemas.openxmlformats.org/drawingml/2006/main">
            <a:off x="8667750" y="40767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77900"/>
                </a:solidFill>
                <a:latin typeface="Calibri"/>
                <a:ea typeface="Calibri"/>
                <a:cs typeface="Calibri"/>
              </a:defRPr>
            </a:defPPr>
          </a:lstStyle>
          <a:p xmlns:a="http://schemas.openxmlformats.org/drawingml/2006/main">
            <a:pPr>
              <a:defRPr sz="1950" b="1">
                <a:solidFill>
                  <a:srgbClr val="B77900"/>
                </a:solidFill>
                <a:latin typeface="Calibri"/>
                <a:ea typeface="Calibri"/>
                <a:cs typeface="Calibri"/>
              </a:defRPr>
            </a:pPr>
            <a:r>
              <a:rPr sz="1950" b="1">
                <a:solidFill>
                  <a:srgbClr val="B77900"/>
                </a:solidFill>
                <a:latin typeface="Calibri"/>
                <a:ea typeface="Calibri"/>
                <a:cs typeface="Calibri"/>
              </a:rPr>
              <a:t>Needs repair  7.3%</a:t>
            </a:r>
          </a:p>
        </p:txBody>
      </p:sp>
      <p:sp>
        <p:nvSpPr>
          <p:cNvPr id="12" name="repair-definition">
            <a:extLst xmlns:a="http://schemas.openxmlformats.org/drawingml/2006/main">
              <a:ext uri="{FF2B5EF4-FFF2-40B4-BE49-F238E27FC236}">
                <a16:creationId xmlns:a16="http://schemas.microsoft.com/office/drawing/2014/main" id="{B7B99ED2-D93C-46EE-8ECD-38539E6C8895}"/>
              </a:ext>
            </a:extLst>
          </p:cNvPr>
          <p:cNvSpPr>
            <a:spLocks xmlns:a="http://schemas.openxmlformats.org/drawingml/2006/main" noGrp="1"/>
          </p:cNvSpPr>
          <p:nvPr/>
        </p:nvSpPr>
        <p:spPr>
          <a:xfrm xmlns:a="http://schemas.openxmlformats.org/drawingml/2006/main">
            <a:off x="8667750" y="4467225"/>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77900"/>
                </a:solidFill>
                <a:latin typeface="Calibri"/>
                <a:ea typeface="Calibri"/>
                <a:cs typeface="Calibri"/>
              </a:defRPr>
            </a:defPPr>
          </a:lstStyle>
          <a:p xmlns:a="http://schemas.openxmlformats.org/drawingml/2006/main">
            <a:pPr>
              <a:defRPr sz="1650" b="0">
                <a:solidFill>
                  <a:srgbClr val="B77900"/>
                </a:solidFill>
                <a:latin typeface="Calibri"/>
                <a:ea typeface="Calibri"/>
                <a:cs typeface="Calibri"/>
              </a:defRPr>
            </a:pPr>
            <a:r>
              <a:rPr sz="1650" b="0">
                <a:solidFill>
                  <a:srgbClr val="B77900"/>
                </a:solidFill>
                <a:latin typeface="Calibri"/>
                <a:ea typeface="Calibri"/>
                <a:cs typeface="Calibri"/>
              </a:rPr>
              <a:t>Still working</a:t>
            </a:r>
          </a:p>
        </p:txBody>
      </p:sp>
      <p:sp>
        <p:nvSpPr>
          <p:cNvPr id="13" name="state-not-working">
            <a:extLst xmlns:a="http://schemas.openxmlformats.org/drawingml/2006/main">
              <a:ext uri="{FF2B5EF4-FFF2-40B4-BE49-F238E27FC236}">
                <a16:creationId xmlns:a16="http://schemas.microsoft.com/office/drawing/2014/main" id="{448C9150-7DED-40BD-8266-A3865700427A}"/>
              </a:ext>
            </a:extLst>
          </p:cNvPr>
          <p:cNvSpPr>
            <a:spLocks xmlns:a="http://schemas.openxmlformats.org/drawingml/2006/main" noGrp="1"/>
          </p:cNvSpPr>
          <p:nvPr/>
        </p:nvSpPr>
        <p:spPr>
          <a:xfrm xmlns:a="http://schemas.openxmlformats.org/drawingml/2006/main">
            <a:off x="8667750" y="498157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6283E"/>
                </a:solidFill>
                <a:latin typeface="Calibri"/>
                <a:ea typeface="Calibri"/>
                <a:cs typeface="Calibri"/>
              </a:defRPr>
            </a:defPPr>
          </a:lstStyle>
          <a:p xmlns:a="http://schemas.openxmlformats.org/drawingml/2006/main">
            <a:pPr>
              <a:defRPr sz="1950" b="1">
                <a:solidFill>
                  <a:srgbClr val="C6283E"/>
                </a:solidFill>
                <a:latin typeface="Calibri"/>
                <a:ea typeface="Calibri"/>
                <a:cs typeface="Calibri"/>
              </a:defRPr>
            </a:pPr>
            <a:r>
              <a:rPr sz="1950" b="1">
                <a:solidFill>
                  <a:srgbClr val="C6283E"/>
                </a:solidFill>
                <a:latin typeface="Calibri"/>
                <a:ea typeface="Calibri"/>
                <a:cs typeface="Calibri"/>
              </a:rPr>
              <a:t>Not working  38.4%</a:t>
            </a:r>
          </a:p>
        </p:txBody>
      </p:sp>
      <p:sp>
        <p:nvSpPr>
          <p:cNvPr id="14" name="group-note">
            <a:extLst xmlns:a="http://schemas.openxmlformats.org/drawingml/2006/main">
              <a:ext uri="{FF2B5EF4-FFF2-40B4-BE49-F238E27FC236}">
                <a16:creationId xmlns:a16="http://schemas.microsoft.com/office/drawing/2014/main" id="{D3E377B1-A38B-4ABE-A986-7F994CEFA3C2}"/>
              </a:ext>
            </a:extLst>
          </p:cNvPr>
          <p:cNvSpPr>
            <a:spLocks xmlns:a="http://schemas.openxmlformats.org/drawingml/2006/main" noGrp="1"/>
          </p:cNvSpPr>
          <p:nvPr/>
        </p:nvSpPr>
        <p:spPr>
          <a:xfrm xmlns:a="http://schemas.openxmlformats.org/drawingml/2006/main">
            <a:off x="609600" y="5838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C686E"/>
                </a:solidFill>
                <a:latin typeface="Calibri"/>
                <a:ea typeface="Calibri"/>
                <a:cs typeface="Calibri"/>
              </a:defRPr>
            </a:defPPr>
          </a:lstStyle>
          <a:p xmlns:a="http://schemas.openxmlformats.org/drawingml/2006/main">
            <a:pPr>
              <a:defRPr sz="1650" b="0">
                <a:solidFill>
                  <a:srgbClr val="4C686E"/>
                </a:solidFill>
                <a:latin typeface="Calibri"/>
                <a:ea typeface="Calibri"/>
                <a:cs typeface="Calibri"/>
              </a:defRPr>
            </a:pPr>
            <a:r>
              <a:rPr sz="1650" b="0">
                <a:solidFill>
                  <a:srgbClr val="4C686E"/>
                </a:solidFill>
                <a:latin typeface="Calibri"/>
                <a:ea typeface="Calibri"/>
                <a:cs typeface="Calibri"/>
              </a:rPr>
              <a:t>The bars count columns. The record ID is included. Pump labels are stored separately.</a:t>
            </a:r>
          </a:p>
        </p:txBody>
      </p:sp>
      <p:sp>
        <p:nvSpPr>
          <p:cNvPr id="15" name="record-dates">
            <a:extLst xmlns:a="http://schemas.openxmlformats.org/drawingml/2006/main">
              <a:ext uri="{FF2B5EF4-FFF2-40B4-BE49-F238E27FC236}">
                <a16:creationId xmlns:a16="http://schemas.microsoft.com/office/drawing/2014/main" id="{923A98CF-74F5-4921-BBB4-76EA1B613514}"/>
              </a:ext>
            </a:extLst>
          </p:cNvPr>
          <p:cNvSpPr>
            <a:spLocks xmlns:a="http://schemas.openxmlformats.org/drawingml/2006/main" noGrp="1"/>
          </p:cNvSpPr>
          <p:nvPr/>
        </p:nvSpPr>
        <p:spPr>
          <a:xfrm xmlns:a="http://schemas.openxmlformats.org/drawingml/2006/main">
            <a:off x="609600" y="63817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86E"/>
                </a:solidFill>
                <a:latin typeface="Calibri"/>
                <a:ea typeface="Calibri"/>
                <a:cs typeface="Calibri"/>
              </a:defRPr>
            </a:defPPr>
          </a:lstStyle>
          <a:p xmlns:a="http://schemas.openxmlformats.org/drawingml/2006/main">
            <a:pPr>
              <a:defRPr sz="1350" b="0">
                <a:solidFill>
                  <a:srgbClr val="4C686E"/>
                </a:solidFill>
                <a:latin typeface="Calibri"/>
                <a:ea typeface="Calibri"/>
                <a:cs typeface="Calibri"/>
              </a:defRPr>
            </a:pPr>
            <a:r>
              <a:rPr sz="1350" b="0">
                <a:solidFill>
                  <a:srgbClr val="4C686E"/>
                </a:solidFill>
                <a:latin typeface="Calibri"/>
                <a:ea typeface="Calibri"/>
                <a:cs typeface="Calibri"/>
              </a:rPr>
              <a:t>Recording dates: 2002-2013</a:t>
            </a:r>
          </a:p>
        </p:txBody>
      </p:sp>
    </p:spTree>
    <p:extLst>
      <p:ext uri="{BB962C8B-B14F-4D97-AF65-F5344CB8AC3E}">
        <p14:creationId xmlns:p14="http://schemas.microsoft.com/office/powerpoint/2010/main" val="2788213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header-band">
            <a:extLst xmlns:a="http://schemas.openxmlformats.org/drawingml/2006/main">
              <a:ext uri="{FF2B5EF4-FFF2-40B4-BE49-F238E27FC236}">
                <a16:creationId xmlns:a16="http://schemas.microsoft.com/office/drawing/2014/main" id="{4AC1C197-EDE5-4271-A93F-5F59033F2CAF}"/>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F8C8841D-5124-471A-ACC7-F39544EFBFD5}"/>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DATA QUALITY</a:t>
            </a:r>
          </a:p>
        </p:txBody>
      </p:sp>
      <p:sp>
        <p:nvSpPr>
          <p:cNvPr id="3" name="title">
            <a:extLst xmlns:a="http://schemas.openxmlformats.org/drawingml/2006/main">
              <a:ext uri="{FF2B5EF4-FFF2-40B4-BE49-F238E27FC236}">
                <a16:creationId xmlns:a16="http://schemas.microsoft.com/office/drawing/2014/main" id="{15E899C7-0DD5-41C0-A9F4-D6B3EE40E0F7}"/>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Missing values and unclear fields need care</a:t>
            </a:r>
          </a:p>
        </p:txBody>
      </p:sp>
      <p:sp>
        <p:nvSpPr>
          <p:cNvPr id="4" name="page">
            <a:extLst xmlns:a="http://schemas.openxmlformats.org/drawingml/2006/main">
              <a:ext uri="{FF2B5EF4-FFF2-40B4-BE49-F238E27FC236}">
                <a16:creationId xmlns:a16="http://schemas.microsoft.com/office/drawing/2014/main" id="{5DC609D9-032D-4AD2-ABFA-F2EAB0A3BA97}"/>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3</a:t>
            </a:r>
          </a:p>
        </p:txBody>
      </p:sp>
      <p:sp>
        <p:nvSpPr>
          <p:cNvPr id="5" name="figure-title">
            <a:extLst xmlns:a="http://schemas.openxmlformats.org/drawingml/2006/main">
              <a:ext uri="{FF2B5EF4-FFF2-40B4-BE49-F238E27FC236}">
                <a16:creationId xmlns:a16="http://schemas.microsoft.com/office/drawing/2014/main" id="{213CCCC9-10AC-4668-A18E-D148240F0BC2}"/>
              </a:ext>
            </a:extLst>
          </p:cNvPr>
          <p:cNvSpPr>
            <a:spLocks xmlns:a="http://schemas.openxmlformats.org/drawingml/2006/main" noGrp="1"/>
          </p:cNvSpPr>
          <p:nvPr/>
        </p:nvSpPr>
        <p:spPr>
          <a:xfrm xmlns:a="http://schemas.openxmlformats.org/drawingml/2006/main">
            <a:off x="609600" y="15811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Unknown construction year, by pump state</a:t>
            </a:r>
          </a:p>
        </p:txBody>
      </p:sp>
      <p:graphicFrame>
        <p:nvGraphicFramePr>
          <p:cNvPr id="6" name="Chart">
            <a:extLst xmlns:a="http://schemas.openxmlformats.org/drawingml/2006/main">
              <a:ext uri="{FF2B5EF4-FFF2-40B4-BE49-F238E27FC236}">
                <a16:creationId xmlns:a16="http://schemas.microsoft.com/office/drawing/2014/main" id="{6B9BDAD7-736B-4475-AD4A-A21EA466701F}"/>
              </a:ext>
            </a:extLst>
          </p:cNvPr>
          <p:cNvGraphicFramePr/>
          <p:nvPr/>
        </p:nvGraphicFramePr>
        <p:xfrm>
          <a:off xmlns:a="http://schemas.openxmlformats.org/drawingml/2006/main" x="419100" y="2143125"/>
          <a:ext xmlns:a="http://schemas.openxmlformats.org/drawingml/2006/main" cx="6572250" cy="2524125"/>
        </p:xfrm>
        <a:graphic xmlns:a="http://schemas.openxmlformats.org/drawingml/2006/main">
          <a:graphicData uri="http://schemas.openxmlformats.org/drawingml/2006/chart">
            <c:chart xmlns:r="http://schemas.openxmlformats.org/officeDocument/2006/relationships" xmlns:c="http://schemas.openxmlformats.org/drawingml/2006/chart" r:id="R6f3898c5fc8948f3"/>
          </a:graphicData>
        </a:graphic>
      </p:graphicFrame>
      <p:sp>
        <p:nvSpPr>
          <p:cNvPr id="7" name="coverage-title">
            <a:extLst xmlns:a="http://schemas.openxmlformats.org/drawingml/2006/main">
              <a:ext uri="{FF2B5EF4-FFF2-40B4-BE49-F238E27FC236}">
                <a16:creationId xmlns:a16="http://schemas.microsoft.com/office/drawing/2014/main" id="{3D0FB95B-066E-4058-9FC0-C0C0F56457E5}"/>
              </a:ext>
            </a:extLst>
          </p:cNvPr>
          <p:cNvSpPr>
            <a:spLocks xmlns:a="http://schemas.openxmlformats.org/drawingml/2006/main" noGrp="1"/>
          </p:cNvSpPr>
          <p:nvPr/>
        </p:nvSpPr>
        <p:spPr>
          <a:xfrm xmlns:a="http://schemas.openxmlformats.org/drawingml/2006/main">
            <a:off x="609600" y="4895850"/>
            <a:ext cx="642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28090"/>
                </a:solidFill>
                <a:latin typeface="Calibri"/>
                <a:ea typeface="Calibri"/>
                <a:cs typeface="Calibri"/>
              </a:defRPr>
            </a:defPPr>
          </a:lstStyle>
          <a:p xmlns:a="http://schemas.openxmlformats.org/drawingml/2006/main">
            <a:pPr>
              <a:defRPr sz="2100" b="1">
                <a:solidFill>
                  <a:srgbClr val="028090"/>
                </a:solidFill>
                <a:latin typeface="Calibri"/>
                <a:ea typeface="Calibri"/>
                <a:cs typeface="Calibri"/>
              </a:defRPr>
            </a:pPr>
            <a:r>
              <a:rPr sz="2100" b="1">
                <a:solidFill>
                  <a:srgbClr val="028090"/>
                </a:solidFill>
                <a:latin typeface="Calibri"/>
                <a:ea typeface="Calibri"/>
                <a:cs typeface="Calibri"/>
              </a:rPr>
              <a:t>4 regions have no usable years</a:t>
            </a:r>
          </a:p>
        </p:txBody>
      </p:sp>
      <p:sp>
        <p:nvSpPr>
          <p:cNvPr id="8" name="coverage-note">
            <a:extLst xmlns:a="http://schemas.openxmlformats.org/drawingml/2006/main">
              <a:ext uri="{FF2B5EF4-FFF2-40B4-BE49-F238E27FC236}">
                <a16:creationId xmlns:a16="http://schemas.microsoft.com/office/drawing/2014/main" id="{3B27C912-1867-4019-84AA-BEE61BE44C3B}"/>
              </a:ext>
            </a:extLst>
          </p:cNvPr>
          <p:cNvSpPr>
            <a:spLocks xmlns:a="http://schemas.openxmlformats.org/drawingml/2006/main" noGrp="1"/>
          </p:cNvSpPr>
          <p:nvPr/>
        </p:nvSpPr>
        <p:spPr>
          <a:xfrm xmlns:a="http://schemas.openxmlformats.org/drawingml/2006/main">
            <a:off x="609600" y="5334000"/>
            <a:ext cx="6429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C686E"/>
                </a:solidFill>
                <a:latin typeface="Calibri"/>
                <a:ea typeface="Calibri"/>
                <a:cs typeface="Calibri"/>
              </a:defRPr>
            </a:defPPr>
          </a:lstStyle>
          <a:p xmlns:a="http://schemas.openxmlformats.org/drawingml/2006/main">
            <a:pPr>
              <a:defRPr sz="1725" b="0">
                <a:solidFill>
                  <a:srgbClr val="4C686E"/>
                </a:solidFill>
                <a:latin typeface="Calibri"/>
                <a:ea typeface="Calibri"/>
                <a:cs typeface="Calibri"/>
              </a:defRPr>
            </a:pPr>
            <a:r>
              <a:rPr sz="1725" b="0">
                <a:solidFill>
                  <a:srgbClr val="4C686E"/>
                </a:solidFill>
                <a:latin typeface="Calibri"/>
                <a:ea typeface="Calibri"/>
                <a:cs typeface="Calibri"/>
              </a:rPr>
              <a:t>Dodoma, Kagera, Mbeya and Tabora</a:t>
            </a:r>
          </a:p>
          <a:p xmlns:a="http://schemas.openxmlformats.org/drawingml/2006/main">
            <a:pPr>
              <a:defRPr sz="1725" b="0">
                <a:solidFill>
                  <a:srgbClr val="4C686E"/>
                </a:solidFill>
                <a:latin typeface="Calibri"/>
                <a:ea typeface="Calibri"/>
                <a:cs typeface="Calibri"/>
              </a:defRPr>
            </a:pPr>
            <a:r>
              <a:rPr sz="1725" b="0">
                <a:solidFill>
                  <a:srgbClr val="4C686E"/>
                </a:solidFill>
                <a:latin typeface="Calibri"/>
                <a:ea typeface="Calibri"/>
                <a:cs typeface="Calibri"/>
              </a:rPr>
              <a:t>12,115 records, or 20.4% of all waterpoints</a:t>
            </a:r>
          </a:p>
        </p:txBody>
      </p:sp>
      <p:sp>
        <p:nvSpPr>
          <p:cNvPr id="9" name="figure-title">
            <a:extLst xmlns:a="http://schemas.openxmlformats.org/drawingml/2006/main">
              <a:ext uri="{FF2B5EF4-FFF2-40B4-BE49-F238E27FC236}">
                <a16:creationId xmlns:a16="http://schemas.microsoft.com/office/drawing/2014/main" id="{6EB860E2-7A2B-4B88-BF60-F23FE8642B41}"/>
              </a:ext>
            </a:extLst>
          </p:cNvPr>
          <p:cNvSpPr>
            <a:spLocks xmlns:a="http://schemas.openxmlformats.org/drawingml/2006/main" noGrp="1"/>
          </p:cNvSpPr>
          <p:nvPr/>
        </p:nvSpPr>
        <p:spPr>
          <a:xfrm xmlns:a="http://schemas.openxmlformats.org/drawingml/2006/main">
            <a:off x="7572375" y="15811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Other checks</a:t>
            </a:r>
          </a:p>
        </p:txBody>
      </p:sp>
      <p:sp>
        <p:nvSpPr>
          <p:cNvPr id="10" name="names">
            <a:extLst xmlns:a="http://schemas.openxmlformats.org/drawingml/2006/main">
              <a:ext uri="{FF2B5EF4-FFF2-40B4-BE49-F238E27FC236}">
                <a16:creationId xmlns:a16="http://schemas.microsoft.com/office/drawing/2014/main" id="{AA6B99A1-5256-4811-8D62-638CE325070C}"/>
              </a:ext>
            </a:extLst>
          </p:cNvPr>
          <p:cNvSpPr>
            <a:spLocks xmlns:a="http://schemas.openxmlformats.org/drawingml/2006/main" noGrp="1"/>
          </p:cNvSpPr>
          <p:nvPr/>
        </p:nvSpPr>
        <p:spPr>
          <a:xfrm xmlns:a="http://schemas.openxmlformats.org/drawingml/2006/main">
            <a:off x="7572375" y="218122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6262A"/>
                </a:solidFill>
                <a:latin typeface="Cambria"/>
                <a:ea typeface="Cambria"/>
                <a:cs typeface="Cambria"/>
              </a:defRPr>
            </a:defPPr>
          </a:lstStyle>
          <a:p xmlns:a="http://schemas.openxmlformats.org/drawingml/2006/main">
            <a:pPr>
              <a:defRPr sz="2400" b="1">
                <a:solidFill>
                  <a:srgbClr val="16262A"/>
                </a:solidFill>
                <a:latin typeface="Cambria"/>
                <a:ea typeface="Cambria"/>
                <a:cs typeface="Cambria"/>
              </a:defRPr>
            </a:pPr>
            <a:r>
              <a:rPr sz="2400" b="1">
                <a:solidFill>
                  <a:srgbClr val="16262A"/>
                </a:solidFill>
                <a:latin typeface="Cambria"/>
                <a:ea typeface="Cambria"/>
                <a:cs typeface="Cambria"/>
              </a:rPr>
              <a:t>2,145 installer names</a:t>
            </a:r>
          </a:p>
        </p:txBody>
      </p:sp>
      <p:sp>
        <p:nvSpPr>
          <p:cNvPr id="11" name="names-note">
            <a:extLst xmlns:a="http://schemas.openxmlformats.org/drawingml/2006/main">
              <a:ext uri="{FF2B5EF4-FFF2-40B4-BE49-F238E27FC236}">
                <a16:creationId xmlns:a16="http://schemas.microsoft.com/office/drawing/2014/main" id="{7111B24E-5D8B-4D99-B032-986DA05685EF}"/>
              </a:ext>
            </a:extLst>
          </p:cNvPr>
          <p:cNvSpPr>
            <a:spLocks xmlns:a="http://schemas.openxmlformats.org/drawingml/2006/main" noGrp="1"/>
          </p:cNvSpPr>
          <p:nvPr/>
        </p:nvSpPr>
        <p:spPr>
          <a:xfrm xmlns:a="http://schemas.openxmlformats.org/drawingml/2006/main">
            <a:off x="7572375" y="27051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C686E"/>
                </a:solidFill>
                <a:latin typeface="Calibri"/>
                <a:ea typeface="Calibri"/>
                <a:cs typeface="Calibri"/>
              </a:defRPr>
            </a:defPPr>
          </a:lstStyle>
          <a:p xmlns:a="http://schemas.openxmlformats.org/drawingml/2006/main">
            <a:pPr>
              <a:defRPr sz="1800" b="0">
                <a:solidFill>
                  <a:srgbClr val="4C686E"/>
                </a:solidFill>
                <a:latin typeface="Calibri"/>
                <a:ea typeface="Calibri"/>
                <a:cs typeface="Calibri"/>
              </a:defRPr>
            </a:pPr>
            <a:r>
              <a:rPr sz="1800" b="0">
                <a:solidFill>
                  <a:srgbClr val="4C686E"/>
                </a:solidFill>
                <a:latin typeface="Calibri"/>
                <a:ea typeface="Calibri"/>
                <a:cs typeface="Calibri"/>
              </a:rPr>
              <a:t>Spelling variants need review.</a:t>
            </a:r>
          </a:p>
          <a:p xmlns:a="http://schemas.openxmlformats.org/drawingml/2006/main">
            <a:pPr>
              <a:defRPr sz="1800" b="0">
                <a:solidFill>
                  <a:srgbClr val="4C686E"/>
                </a:solidFill>
                <a:latin typeface="Calibri"/>
                <a:ea typeface="Calibri"/>
                <a:cs typeface="Calibri"/>
              </a:defRPr>
            </a:pPr>
            <a:r>
              <a:rPr sz="1800" b="0">
                <a:solidFill>
                  <a:srgbClr val="4C686E"/>
                </a:solidFill>
                <a:latin typeface="Calibri"/>
                <a:ea typeface="Calibri"/>
                <a:cs typeface="Calibri"/>
              </a:rPr>
              <a:t>This is not a count of organisations.</a:t>
            </a:r>
          </a:p>
        </p:txBody>
      </p:sp>
      <p:sp>
        <p:nvSpPr>
          <p:cNvPr id="12" name="zero-title">
            <a:extLst xmlns:a="http://schemas.openxmlformats.org/drawingml/2006/main">
              <a:ext uri="{FF2B5EF4-FFF2-40B4-BE49-F238E27FC236}">
                <a16:creationId xmlns:a16="http://schemas.microsoft.com/office/drawing/2014/main" id="{250B04A5-6820-4A02-A6DB-99D384D28877}"/>
              </a:ext>
            </a:extLst>
          </p:cNvPr>
          <p:cNvSpPr>
            <a:spLocks xmlns:a="http://schemas.openxmlformats.org/drawingml/2006/main" noGrp="1"/>
          </p:cNvSpPr>
          <p:nvPr/>
        </p:nvSpPr>
        <p:spPr>
          <a:xfrm xmlns:a="http://schemas.openxmlformats.org/drawingml/2006/main">
            <a:off x="7572375" y="378142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262A"/>
                </a:solidFill>
                <a:latin typeface="Cambria"/>
                <a:ea typeface="Cambria"/>
                <a:cs typeface="Cambria"/>
              </a:defRPr>
            </a:defPPr>
          </a:lstStyle>
          <a:p xmlns:a="http://schemas.openxmlformats.org/drawingml/2006/main">
            <a:pPr>
              <a:defRPr sz="2100" b="1">
                <a:solidFill>
                  <a:srgbClr val="16262A"/>
                </a:solidFill>
                <a:latin typeface="Cambria"/>
                <a:ea typeface="Cambria"/>
                <a:cs typeface="Cambria"/>
              </a:defRPr>
            </a:pPr>
            <a:r>
              <a:rPr sz="2100" b="1">
                <a:solidFill>
                  <a:srgbClr val="16262A"/>
                </a:solidFill>
                <a:latin typeface="Cambria"/>
                <a:ea typeface="Cambria"/>
                <a:cs typeface="Cambria"/>
              </a:rPr>
              <a:t>Zero heights change a result</a:t>
            </a:r>
          </a:p>
        </p:txBody>
      </p:sp>
      <p:sp>
        <p:nvSpPr>
          <p:cNvPr id="13" name="zero-result">
            <a:extLst xmlns:a="http://schemas.openxmlformats.org/drawingml/2006/main">
              <a:ext uri="{FF2B5EF4-FFF2-40B4-BE49-F238E27FC236}">
                <a16:creationId xmlns:a16="http://schemas.microsoft.com/office/drawing/2014/main" id="{E66859E4-04D2-4C82-A458-5A5E28213031}"/>
              </a:ext>
            </a:extLst>
          </p:cNvPr>
          <p:cNvSpPr>
            <a:spLocks xmlns:a="http://schemas.openxmlformats.org/drawingml/2006/main" noGrp="1"/>
          </p:cNvSpPr>
          <p:nvPr/>
        </p:nvSpPr>
        <p:spPr>
          <a:xfrm xmlns:a="http://schemas.openxmlformats.org/drawingml/2006/main">
            <a:off x="7572375" y="4295775"/>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5C3A8C"/>
                </a:solidFill>
                <a:latin typeface="Calibri"/>
                <a:ea typeface="Calibri"/>
                <a:cs typeface="Calibri"/>
              </a:defRPr>
            </a:defPPr>
          </a:lstStyle>
          <a:p xmlns:a="http://schemas.openxmlformats.org/drawingml/2006/main">
            <a:pPr>
              <a:defRPr sz="2400" b="1">
                <a:solidFill>
                  <a:srgbClr val="5C3A8C"/>
                </a:solidFill>
                <a:latin typeface="Calibri"/>
                <a:ea typeface="Calibri"/>
                <a:cs typeface="Calibri"/>
              </a:defRPr>
            </a:pPr>
            <a:r>
              <a:rPr sz="2400" b="1">
                <a:solidFill>
                  <a:srgbClr val="5C3A8C"/>
                </a:solidFill>
                <a:latin typeface="Calibri"/>
                <a:ea typeface="Calibri"/>
                <a:cs typeface="Calibri"/>
              </a:rPr>
              <a:t>0.34 with zeros</a:t>
            </a:r>
          </a:p>
          <a:p xmlns:a="http://schemas.openxmlformats.org/drawingml/2006/main">
            <a:pPr>
              <a:defRPr sz="2400" b="1">
                <a:solidFill>
                  <a:srgbClr val="5C3A8C"/>
                </a:solidFill>
                <a:latin typeface="Calibri"/>
                <a:ea typeface="Calibri"/>
                <a:cs typeface="Calibri"/>
              </a:defRPr>
            </a:pPr>
            <a:r>
              <a:rPr sz="2400" b="1">
                <a:solidFill>
                  <a:srgbClr val="5C3A8C"/>
                </a:solidFill>
                <a:latin typeface="Calibri"/>
                <a:ea typeface="Calibri"/>
                <a:cs typeface="Calibri"/>
              </a:rPr>
              <a:t>0.02 without zeros</a:t>
            </a:r>
          </a:p>
        </p:txBody>
      </p:sp>
      <p:sp>
        <p:nvSpPr>
          <p:cNvPr id="14" name="zero-note">
            <a:extLst xmlns:a="http://schemas.openxmlformats.org/drawingml/2006/main">
              <a:ext uri="{FF2B5EF4-FFF2-40B4-BE49-F238E27FC236}">
                <a16:creationId xmlns:a16="http://schemas.microsoft.com/office/drawing/2014/main" id="{0C126E58-7C61-4765-9D85-1E58531F302A}"/>
              </a:ext>
            </a:extLst>
          </p:cNvPr>
          <p:cNvSpPr>
            <a:spLocks xmlns:a="http://schemas.openxmlformats.org/drawingml/2006/main" noGrp="1"/>
          </p:cNvSpPr>
          <p:nvPr/>
        </p:nvSpPr>
        <p:spPr>
          <a:xfrm xmlns:a="http://schemas.openxmlformats.org/drawingml/2006/main">
            <a:off x="7572375" y="5219700"/>
            <a:ext cx="400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C686E"/>
                </a:solidFill>
                <a:latin typeface="Calibri"/>
                <a:ea typeface="Calibri"/>
                <a:cs typeface="Calibri"/>
              </a:defRPr>
            </a:defPPr>
          </a:lstStyle>
          <a:p xmlns:a="http://schemas.openxmlformats.org/drawingml/2006/main">
            <a:pPr>
              <a:defRPr sz="1725" b="0">
                <a:solidFill>
                  <a:srgbClr val="4C686E"/>
                </a:solidFill>
                <a:latin typeface="Calibri"/>
                <a:ea typeface="Calibri"/>
                <a:cs typeface="Calibri"/>
              </a:defRPr>
            </a:pPr>
            <a:r>
              <a:rPr sz="1725" b="0">
                <a:solidFill>
                  <a:srgbClr val="4C686E"/>
                </a:solidFill>
                <a:latin typeface="Calibri"/>
                <a:ea typeface="Calibri"/>
                <a:cs typeface="Calibri"/>
              </a:rPr>
              <a:t>Amount-height correlation (Spearman).</a:t>
            </a:r>
          </a:p>
          <a:p xmlns:a="http://schemas.openxmlformats.org/drawingml/2006/main">
            <a:pPr>
              <a:defRPr sz="1725" b="0">
                <a:solidFill>
                  <a:srgbClr val="4C686E"/>
                </a:solidFill>
                <a:latin typeface="Calibri"/>
                <a:ea typeface="Calibri"/>
                <a:cs typeface="Calibri"/>
              </a:defRPr>
            </a:pPr>
            <a:r>
              <a:rPr sz="1725" b="0">
                <a:solidFill>
                  <a:srgbClr val="4C686E"/>
                </a:solidFill>
                <a:latin typeface="Calibri"/>
                <a:ea typeface="Calibri"/>
                <a:cs typeface="Calibri"/>
              </a:rPr>
              <a:t>The amount field still needs clarification.</a:t>
            </a:r>
          </a:p>
        </p:txBody>
      </p:sp>
      <p:sp>
        <p:nvSpPr>
          <p:cNvPr id="15" name="cleaned-title">
            <a:extLst xmlns:a="http://schemas.openxmlformats.org/drawingml/2006/main">
              <a:ext uri="{FF2B5EF4-FFF2-40B4-BE49-F238E27FC236}">
                <a16:creationId xmlns:a16="http://schemas.microsoft.com/office/drawing/2014/main" id="{B638F3B3-AE49-4BEE-959D-2A777B7ECA43}"/>
              </a:ext>
            </a:extLst>
          </p:cNvPr>
          <p:cNvSpPr>
            <a:spLocks xmlns:a="http://schemas.openxmlformats.org/drawingml/2006/main" noGrp="1"/>
          </p:cNvSpPr>
          <p:nvPr/>
        </p:nvSpPr>
        <p:spPr>
          <a:xfrm xmlns:a="http://schemas.openxmlformats.org/drawingml/2006/main">
            <a:off x="609600" y="61912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28090"/>
                </a:solidFill>
                <a:latin typeface="Calibri"/>
                <a:ea typeface="Calibri"/>
                <a:cs typeface="Calibri"/>
              </a:defRPr>
            </a:defPPr>
          </a:lstStyle>
          <a:p xmlns:a="http://schemas.openxmlformats.org/drawingml/2006/main">
            <a:pPr>
              <a:defRPr sz="2025" b="1">
                <a:solidFill>
                  <a:srgbClr val="028090"/>
                </a:solidFill>
                <a:latin typeface="Calibri"/>
                <a:ea typeface="Calibri"/>
                <a:cs typeface="Calibri"/>
              </a:defRPr>
            </a:pPr>
            <a:r>
              <a:rPr sz="2025" b="1">
                <a:solidFill>
                  <a:srgbClr val="028090"/>
                </a:solidFill>
                <a:latin typeface="Calibri"/>
                <a:ea typeface="Calibri"/>
                <a:cs typeface="Calibri"/>
              </a:rPr>
              <a:t>The shared cleaned copy keeps all 59,400 records</a:t>
            </a:r>
          </a:p>
        </p:txBody>
      </p:sp>
      <p:sp>
        <p:nvSpPr>
          <p:cNvPr id="16" name="cleaned-note">
            <a:extLst xmlns:a="http://schemas.openxmlformats.org/drawingml/2006/main">
              <a:ext uri="{FF2B5EF4-FFF2-40B4-BE49-F238E27FC236}">
                <a16:creationId xmlns:a16="http://schemas.microsoft.com/office/drawing/2014/main" id="{B0087A4B-DEAE-43A9-937E-AA52DFD47BB7}"/>
              </a:ext>
            </a:extLst>
          </p:cNvPr>
          <p:cNvSpPr>
            <a:spLocks xmlns:a="http://schemas.openxmlformats.org/drawingml/2006/main" noGrp="1"/>
          </p:cNvSpPr>
          <p:nvPr/>
        </p:nvSpPr>
        <p:spPr>
          <a:xfrm xmlns:a="http://schemas.openxmlformats.org/drawingml/2006/main">
            <a:off x="609600" y="6562725"/>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86E"/>
                </a:solidFill>
                <a:latin typeface="Calibri"/>
                <a:ea typeface="Calibri"/>
                <a:cs typeface="Calibri"/>
              </a:defRPr>
            </a:defPPr>
          </a:lstStyle>
          <a:p xmlns:a="http://schemas.openxmlformats.org/drawingml/2006/main">
            <a:pPr>
              <a:defRPr sz="1350" b="0">
                <a:solidFill>
                  <a:srgbClr val="4C686E"/>
                </a:solidFill>
                <a:latin typeface="Calibri"/>
                <a:ea typeface="Calibri"/>
                <a:cs typeface="Calibri"/>
              </a:defRPr>
            </a:pPr>
            <a:r>
              <a:rPr sz="1350" b="0">
                <a:solidFill>
                  <a:srgbClr val="4C686E"/>
                </a:solidFill>
                <a:latin typeface="Calibri"/>
                <a:ea typeface="Calibri"/>
                <a:cs typeface="Calibri"/>
              </a:rPr>
              <a:t>Missing values and 9 invalid ages are marked. We kept 36 repeated records for review.</a:t>
            </a:r>
          </a:p>
        </p:txBody>
      </p:sp>
    </p:spTree>
    <p:extLst>
      <p:ext uri="{BB962C8B-B14F-4D97-AF65-F5344CB8AC3E}">
        <p14:creationId xmlns:p14="http://schemas.microsoft.com/office/powerpoint/2010/main" val="927058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header-band">
            <a:extLst xmlns:a="http://schemas.openxmlformats.org/drawingml/2006/main">
              <a:ext uri="{FF2B5EF4-FFF2-40B4-BE49-F238E27FC236}">
                <a16:creationId xmlns:a16="http://schemas.microsoft.com/office/drawing/2014/main" id="{74E2C0C8-E047-4A3C-990F-F4AA4EB119C0}"/>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9B8E4680-D9C2-4B68-A01D-97661779F6E0}"/>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MAIN FINDINGS</a:t>
            </a:r>
          </a:p>
        </p:txBody>
      </p:sp>
      <p:sp>
        <p:nvSpPr>
          <p:cNvPr id="3" name="title">
            <a:extLst xmlns:a="http://schemas.openxmlformats.org/drawingml/2006/main">
              <a:ext uri="{FF2B5EF4-FFF2-40B4-BE49-F238E27FC236}">
                <a16:creationId xmlns:a16="http://schemas.microsoft.com/office/drawing/2014/main" id="{819455F4-0208-4B8F-9D9E-97746F27B064}"/>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Water supply and age are linked to pump condition</a:t>
            </a:r>
          </a:p>
        </p:txBody>
      </p:sp>
      <p:sp>
        <p:nvSpPr>
          <p:cNvPr id="4" name="page">
            <a:extLst xmlns:a="http://schemas.openxmlformats.org/drawingml/2006/main">
              <a:ext uri="{FF2B5EF4-FFF2-40B4-BE49-F238E27FC236}">
                <a16:creationId xmlns:a16="http://schemas.microsoft.com/office/drawing/2014/main" id="{16B19AAC-D463-48B3-B4E4-3B9A8E08029F}"/>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4</a:t>
            </a:r>
          </a:p>
        </p:txBody>
      </p:sp>
      <p:sp>
        <p:nvSpPr>
          <p:cNvPr id="5" name="figure-title">
            <a:extLst xmlns:a="http://schemas.openxmlformats.org/drawingml/2006/main">
              <a:ext uri="{FF2B5EF4-FFF2-40B4-BE49-F238E27FC236}">
                <a16:creationId xmlns:a16="http://schemas.microsoft.com/office/drawing/2014/main" id="{577C7387-C1C2-43B8-A24D-55E7B13C9F8C}"/>
              </a:ext>
            </a:extLst>
          </p:cNvPr>
          <p:cNvSpPr>
            <a:spLocks xmlns:a="http://schemas.openxmlformats.org/drawingml/2006/main" noGrp="1"/>
          </p:cNvSpPr>
          <p:nvPr/>
        </p:nvSpPr>
        <p:spPr>
          <a:xfrm xmlns:a="http://schemas.openxmlformats.org/drawingml/2006/main">
            <a:off x="609600"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Recorded water supply</a:t>
            </a:r>
          </a:p>
        </p:txBody>
      </p:sp>
      <p:sp>
        <p:nvSpPr>
          <p:cNvPr id="6" name="figure-title">
            <a:extLst xmlns:a="http://schemas.openxmlformats.org/drawingml/2006/main">
              <a:ext uri="{FF2B5EF4-FFF2-40B4-BE49-F238E27FC236}">
                <a16:creationId xmlns:a16="http://schemas.microsoft.com/office/drawing/2014/main" id="{CBCA9BAB-0C91-4E81-896E-C575928FD2AD}"/>
              </a:ext>
            </a:extLst>
          </p:cNvPr>
          <p:cNvSpPr>
            <a:spLocks xmlns:a="http://schemas.openxmlformats.org/drawingml/2006/main" noGrp="1"/>
          </p:cNvSpPr>
          <p:nvPr/>
        </p:nvSpPr>
        <p:spPr>
          <a:xfrm xmlns:a="http://schemas.openxmlformats.org/drawingml/2006/main">
            <a:off x="6477000" y="1581150"/>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8F78"/>
                </a:solidFill>
                <a:latin typeface="Calibri"/>
                <a:ea typeface="Calibri"/>
                <a:cs typeface="Calibri"/>
              </a:defRPr>
            </a:defPPr>
          </a:lstStyle>
          <a:p xmlns:a="http://schemas.openxmlformats.org/drawingml/2006/main">
            <a:pPr>
              <a:defRPr sz="1950" b="1">
                <a:solidFill>
                  <a:srgbClr val="008F78"/>
                </a:solidFill>
                <a:latin typeface="Calibri"/>
                <a:ea typeface="Calibri"/>
                <a:cs typeface="Calibri"/>
              </a:defRPr>
            </a:pPr>
            <a:r>
              <a:rPr sz="1950" b="1">
                <a:solidFill>
                  <a:srgbClr val="008F78"/>
                </a:solidFill>
                <a:latin typeface="Calibri"/>
                <a:ea typeface="Calibri"/>
                <a:cs typeface="Calibri"/>
              </a:rPr>
              <a:t>Working share by age</a:t>
            </a:r>
          </a:p>
        </p:txBody>
      </p:sp>
      <p:graphicFrame>
        <p:nvGraphicFramePr>
          <p:cNvPr id="7" name="Chart">
            <a:extLst xmlns:a="http://schemas.openxmlformats.org/drawingml/2006/main">
              <a:ext uri="{FF2B5EF4-FFF2-40B4-BE49-F238E27FC236}">
                <a16:creationId xmlns:a16="http://schemas.microsoft.com/office/drawing/2014/main" id="{2BD7EEA6-32E8-4D5E-90B0-9AB831D20449}"/>
              </a:ext>
            </a:extLst>
          </p:cNvPr>
          <p:cNvGraphicFramePr/>
          <p:nvPr/>
        </p:nvGraphicFramePr>
        <p:xfrm>
          <a:off xmlns:a="http://schemas.openxmlformats.org/drawingml/2006/main" x="419100" y="2114550"/>
          <a:ext xmlns:a="http://schemas.openxmlformats.org/drawingml/2006/main" cx="5410200" cy="2619375"/>
        </p:xfrm>
        <a:graphic xmlns:a="http://schemas.openxmlformats.org/drawingml/2006/main">
          <a:graphicData uri="http://schemas.openxmlformats.org/drawingml/2006/chart">
            <c:chart xmlns:r="http://schemas.openxmlformats.org/officeDocument/2006/relationships" xmlns:c="http://schemas.openxmlformats.org/drawingml/2006/chart" r:id="R684746b1be024f32"/>
          </a:graphicData>
        </a:graphic>
      </p:graphicFrame>
      <p:sp>
        <p:nvSpPr>
          <p:cNvPr id="8" name="status-legend">
            <a:extLst xmlns:a="http://schemas.openxmlformats.org/drawingml/2006/main">
              <a:ext uri="{FF2B5EF4-FFF2-40B4-BE49-F238E27FC236}">
                <a16:creationId xmlns:a16="http://schemas.microsoft.com/office/drawing/2014/main" id="{853E2601-4E43-4771-B4D4-963160C03718}"/>
              </a:ext>
            </a:extLst>
          </p:cNvPr>
          <p:cNvSpPr>
            <a:spLocks xmlns:a="http://schemas.openxmlformats.org/drawingml/2006/main" noGrp="1"/>
          </p:cNvSpPr>
          <p:nvPr/>
        </p:nvSpPr>
        <p:spPr>
          <a:xfrm xmlns:a="http://schemas.openxmlformats.org/drawingml/2006/main">
            <a:off x="609600" y="49053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F78"/>
                </a:solidFill>
                <a:latin typeface="Calibri"/>
                <a:ea typeface="Calibri"/>
                <a:cs typeface="Calibri"/>
              </a:defRPr>
            </a:defPPr>
          </a:lstStyle>
          <a:p xmlns:a="http://schemas.openxmlformats.org/drawingml/2006/main">
            <a:pPr>
              <a:defRPr sz="1650" b="1">
                <a:solidFill>
                  <a:srgbClr val="008F78"/>
                </a:solidFill>
                <a:latin typeface="Calibri"/>
                <a:ea typeface="Calibri"/>
                <a:cs typeface="Calibri"/>
              </a:defRPr>
            </a:pPr>
            <a:r>
              <a:rPr sz="1650" b="1">
                <a:solidFill>
                  <a:srgbClr val="008F78"/>
                </a:solidFill>
                <a:latin typeface="Calibri"/>
                <a:ea typeface="Calibri"/>
                <a:cs typeface="Calibri"/>
              </a:rPr>
              <a:t>Working</a:t>
            </a:r>
          </a:p>
        </p:txBody>
      </p:sp>
      <p:sp>
        <p:nvSpPr>
          <p:cNvPr id="9" name="status-legend">
            <a:extLst xmlns:a="http://schemas.openxmlformats.org/drawingml/2006/main">
              <a:ext uri="{FF2B5EF4-FFF2-40B4-BE49-F238E27FC236}">
                <a16:creationId xmlns:a16="http://schemas.microsoft.com/office/drawing/2014/main" id="{8012E12F-0C70-4FAD-96AA-357C8D5B0E7D}"/>
              </a:ext>
            </a:extLst>
          </p:cNvPr>
          <p:cNvSpPr>
            <a:spLocks xmlns:a="http://schemas.openxmlformats.org/drawingml/2006/main" noGrp="1"/>
          </p:cNvSpPr>
          <p:nvPr/>
        </p:nvSpPr>
        <p:spPr>
          <a:xfrm xmlns:a="http://schemas.openxmlformats.org/drawingml/2006/main">
            <a:off x="2352675" y="49053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B77900"/>
                </a:solidFill>
                <a:latin typeface="Calibri"/>
                <a:ea typeface="Calibri"/>
                <a:cs typeface="Calibri"/>
              </a:defRPr>
            </a:defPPr>
          </a:lstStyle>
          <a:p xmlns:a="http://schemas.openxmlformats.org/drawingml/2006/main">
            <a:pPr>
              <a:defRPr sz="1650" b="1">
                <a:solidFill>
                  <a:srgbClr val="B77900"/>
                </a:solidFill>
                <a:latin typeface="Calibri"/>
                <a:ea typeface="Calibri"/>
                <a:cs typeface="Calibri"/>
              </a:defRPr>
            </a:pPr>
            <a:r>
              <a:rPr sz="1650" b="1">
                <a:solidFill>
                  <a:srgbClr val="B77900"/>
                </a:solidFill>
                <a:latin typeface="Calibri"/>
                <a:ea typeface="Calibri"/>
                <a:cs typeface="Calibri"/>
              </a:rPr>
              <a:t>Needs repair</a:t>
            </a:r>
          </a:p>
        </p:txBody>
      </p:sp>
      <p:sp>
        <p:nvSpPr>
          <p:cNvPr id="10" name="status-legend">
            <a:extLst xmlns:a="http://schemas.openxmlformats.org/drawingml/2006/main">
              <a:ext uri="{FF2B5EF4-FFF2-40B4-BE49-F238E27FC236}">
                <a16:creationId xmlns:a16="http://schemas.microsoft.com/office/drawing/2014/main" id="{21557EBD-6B2B-4545-A301-E30D63A11DAE}"/>
              </a:ext>
            </a:extLst>
          </p:cNvPr>
          <p:cNvSpPr>
            <a:spLocks xmlns:a="http://schemas.openxmlformats.org/drawingml/2006/main" noGrp="1"/>
          </p:cNvSpPr>
          <p:nvPr/>
        </p:nvSpPr>
        <p:spPr>
          <a:xfrm xmlns:a="http://schemas.openxmlformats.org/drawingml/2006/main">
            <a:off x="4095750" y="49053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C6283E"/>
                </a:solidFill>
                <a:latin typeface="Calibri"/>
                <a:ea typeface="Calibri"/>
                <a:cs typeface="Calibri"/>
              </a:defRPr>
            </a:defPPr>
          </a:lstStyle>
          <a:p xmlns:a="http://schemas.openxmlformats.org/drawingml/2006/main">
            <a:pPr>
              <a:defRPr sz="1650" b="1">
                <a:solidFill>
                  <a:srgbClr val="C6283E"/>
                </a:solidFill>
                <a:latin typeface="Calibri"/>
                <a:ea typeface="Calibri"/>
                <a:cs typeface="Calibri"/>
              </a:defRPr>
            </a:pPr>
            <a:r>
              <a:rPr sz="1650" b="1">
                <a:solidFill>
                  <a:srgbClr val="C6283E"/>
                </a:solidFill>
                <a:latin typeface="Calibri"/>
                <a:ea typeface="Calibri"/>
                <a:cs typeface="Calibri"/>
              </a:rPr>
              <a:t>Not working</a:t>
            </a:r>
          </a:p>
        </p:txBody>
      </p:sp>
      <p:graphicFrame>
        <p:nvGraphicFramePr>
          <p:cNvPr id="11" name="Chart">
            <a:extLst xmlns:a="http://schemas.openxmlformats.org/drawingml/2006/main">
              <a:ext uri="{FF2B5EF4-FFF2-40B4-BE49-F238E27FC236}">
                <a16:creationId xmlns:a16="http://schemas.microsoft.com/office/drawing/2014/main" id="{5F61178E-1529-426A-9D81-CDCC697F5799}"/>
              </a:ext>
            </a:extLst>
          </p:cNvPr>
          <p:cNvGraphicFramePr/>
          <p:nvPr/>
        </p:nvGraphicFramePr>
        <p:xfrm>
          <a:off xmlns:a="http://schemas.openxmlformats.org/drawingml/2006/main" x="6334125" y="2076450"/>
          <a:ext xmlns:a="http://schemas.openxmlformats.org/drawingml/2006/main" cx="5248275" cy="3114675"/>
        </p:xfrm>
        <a:graphic xmlns:a="http://schemas.openxmlformats.org/drawingml/2006/main">
          <a:graphicData uri="http://schemas.openxmlformats.org/drawingml/2006/chart">
            <c:chart xmlns:r="http://schemas.openxmlformats.org/officeDocument/2006/relationships" xmlns:c="http://schemas.openxmlformats.org/drawingml/2006/chart" r:id="R3f5c0289360a45fe"/>
          </a:graphicData>
        </a:graphic>
      </p:graphicFrame>
      <p:sp>
        <p:nvSpPr>
          <p:cNvPr id="12" name="water-takeaway">
            <a:extLst xmlns:a="http://schemas.openxmlformats.org/drawingml/2006/main">
              <a:ext uri="{FF2B5EF4-FFF2-40B4-BE49-F238E27FC236}">
                <a16:creationId xmlns:a16="http://schemas.microsoft.com/office/drawing/2014/main" id="{D9C49055-FBF7-4227-8303-F6C06A1877FE}"/>
              </a:ext>
            </a:extLst>
          </p:cNvPr>
          <p:cNvSpPr>
            <a:spLocks xmlns:a="http://schemas.openxmlformats.org/drawingml/2006/main" noGrp="1"/>
          </p:cNvSpPr>
          <p:nvPr/>
        </p:nvSpPr>
        <p:spPr>
          <a:xfrm xmlns:a="http://schemas.openxmlformats.org/drawingml/2006/main">
            <a:off x="609600" y="54292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C6283E"/>
                </a:solidFill>
                <a:latin typeface="Calibri"/>
                <a:ea typeface="Calibri"/>
                <a:cs typeface="Calibri"/>
              </a:defRPr>
            </a:defPPr>
          </a:lstStyle>
          <a:p xmlns:a="http://schemas.openxmlformats.org/drawingml/2006/main">
            <a:pPr>
              <a:defRPr sz="1875" b="1">
                <a:solidFill>
                  <a:srgbClr val="C6283E"/>
                </a:solidFill>
                <a:latin typeface="Calibri"/>
                <a:ea typeface="Calibri"/>
                <a:cs typeface="Calibri"/>
              </a:defRPr>
            </a:pPr>
            <a:r>
              <a:rPr sz="1875" b="1">
                <a:solidFill>
                  <a:srgbClr val="C6283E"/>
                </a:solidFill>
                <a:latin typeface="Calibri"/>
                <a:ea typeface="Calibri"/>
                <a:cs typeface="Calibri"/>
              </a:rPr>
              <a:t>Dry may reveal an existing problem.</a:t>
            </a:r>
          </a:p>
          <a:p xmlns:a="http://schemas.openxmlformats.org/drawingml/2006/main">
            <a:pPr>
              <a:defRPr sz="1875" b="1">
                <a:solidFill>
                  <a:srgbClr val="C6283E"/>
                </a:solidFill>
                <a:latin typeface="Calibri"/>
                <a:ea typeface="Calibri"/>
                <a:cs typeface="Calibri"/>
              </a:defRPr>
            </a:pPr>
            <a:r>
              <a:rPr sz="1875" b="1">
                <a:solidFill>
                  <a:srgbClr val="C6283E"/>
                </a:solidFill>
                <a:latin typeface="Calibri"/>
                <a:ea typeface="Calibri"/>
                <a:cs typeface="Calibri"/>
              </a:rPr>
              <a:t>Test models with and without quantity.</a:t>
            </a:r>
          </a:p>
        </p:txBody>
      </p:sp>
      <p:sp>
        <p:nvSpPr>
          <p:cNvPr id="13" name="age-takeaway">
            <a:extLst xmlns:a="http://schemas.openxmlformats.org/drawingml/2006/main">
              <a:ext uri="{FF2B5EF4-FFF2-40B4-BE49-F238E27FC236}">
                <a16:creationId xmlns:a16="http://schemas.microsoft.com/office/drawing/2014/main" id="{91F600C7-C88C-40B3-801C-4000E15D9989}"/>
              </a:ext>
            </a:extLst>
          </p:cNvPr>
          <p:cNvSpPr>
            <a:spLocks xmlns:a="http://schemas.openxmlformats.org/drawingml/2006/main" noGrp="1"/>
          </p:cNvSpPr>
          <p:nvPr/>
        </p:nvSpPr>
        <p:spPr>
          <a:xfrm xmlns:a="http://schemas.openxmlformats.org/drawingml/2006/main">
            <a:off x="6477000" y="542925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8F78"/>
                </a:solidFill>
                <a:latin typeface="Calibri"/>
                <a:ea typeface="Calibri"/>
                <a:cs typeface="Calibri"/>
              </a:defRPr>
            </a:defPPr>
          </a:lstStyle>
          <a:p xmlns:a="http://schemas.openxmlformats.org/drawingml/2006/main">
            <a:pPr>
              <a:defRPr sz="1950" b="1">
                <a:solidFill>
                  <a:srgbClr val="008F78"/>
                </a:solidFill>
                <a:latin typeface="Calibri"/>
                <a:ea typeface="Calibri"/>
                <a:cs typeface="Calibri"/>
              </a:defRPr>
            </a:pPr>
            <a:r>
              <a:rPr sz="1950" b="1">
                <a:solidFill>
                  <a:srgbClr val="008F78"/>
                </a:solidFill>
                <a:latin typeface="Calibri"/>
                <a:ea typeface="Calibri"/>
                <a:cs typeface="Calibri"/>
              </a:rPr>
              <a:t>The age gap also appears within</a:t>
            </a:r>
          </a:p>
          <a:p xmlns:a="http://schemas.openxmlformats.org/drawingml/2006/main">
            <a:pPr>
              <a:defRPr sz="1950" b="1">
                <a:solidFill>
                  <a:srgbClr val="008F78"/>
                </a:solidFill>
                <a:latin typeface="Calibri"/>
                <a:ea typeface="Calibri"/>
                <a:cs typeface="Calibri"/>
              </a:defRPr>
            </a:pPr>
            <a:r>
              <a:rPr sz="1950" b="1">
                <a:solidFill>
                  <a:srgbClr val="008F78"/>
                </a:solidFill>
                <a:latin typeface="Calibri"/>
                <a:ea typeface="Calibri"/>
                <a:cs typeface="Calibri"/>
              </a:rPr>
              <a:t>16 regions and 5 pump groups</a:t>
            </a:r>
          </a:p>
        </p:txBody>
      </p:sp>
      <p:sp>
        <p:nvSpPr>
          <p:cNvPr id="14" name="age-denominator">
            <a:extLst xmlns:a="http://schemas.openxmlformats.org/drawingml/2006/main">
              <a:ext uri="{FF2B5EF4-FFF2-40B4-BE49-F238E27FC236}">
                <a16:creationId xmlns:a16="http://schemas.microsoft.com/office/drawing/2014/main" id="{F120D0C6-672E-49AC-AA24-DF928EDBA7B5}"/>
              </a:ext>
            </a:extLst>
          </p:cNvPr>
          <p:cNvSpPr>
            <a:spLocks xmlns:a="http://schemas.openxmlformats.org/drawingml/2006/main" noGrp="1"/>
          </p:cNvSpPr>
          <p:nvPr/>
        </p:nvSpPr>
        <p:spPr>
          <a:xfrm xmlns:a="http://schemas.openxmlformats.org/drawingml/2006/main">
            <a:off x="609600" y="6334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86E"/>
                </a:solidFill>
                <a:latin typeface="Calibri"/>
                <a:ea typeface="Calibri"/>
                <a:cs typeface="Calibri"/>
              </a:defRPr>
            </a:defPPr>
          </a:lstStyle>
          <a:p xmlns:a="http://schemas.openxmlformats.org/drawingml/2006/main">
            <a:pPr>
              <a:defRPr sz="1350" b="0">
                <a:solidFill>
                  <a:srgbClr val="4C686E"/>
                </a:solidFill>
                <a:latin typeface="Calibri"/>
                <a:ea typeface="Calibri"/>
                <a:cs typeface="Calibri"/>
              </a:defRPr>
            </a:pPr>
            <a:r>
              <a:rPr sz="1350" b="0">
                <a:solidFill>
                  <a:srgbClr val="4C686E"/>
                </a:solidFill>
                <a:latin typeface="Calibri"/>
                <a:ea typeface="Calibri"/>
                <a:cs typeface="Calibri"/>
              </a:rPr>
              <a:t>Age plot: 38,682 usable ages. Within-group checks require at least 30 records in both the youngest and oldest groups.</a:t>
            </a:r>
          </a:p>
        </p:txBody>
      </p:sp>
    </p:spTree>
    <p:extLst>
      <p:ext uri="{BB962C8B-B14F-4D97-AF65-F5344CB8AC3E}">
        <p14:creationId xmlns:p14="http://schemas.microsoft.com/office/powerpoint/2010/main" val="1425440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er-band">
            <a:extLst xmlns:a="http://schemas.openxmlformats.org/drawingml/2006/main">
              <a:ext uri="{FF2B5EF4-FFF2-40B4-BE49-F238E27FC236}">
                <a16:creationId xmlns:a16="http://schemas.microsoft.com/office/drawing/2014/main" id="{5FB2A256-D89E-444B-B4D5-E6C54A8AE06C}"/>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E18A4A70-49AD-49C4-BB6E-62BD3BC6A9D6}"/>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OTHER FINDINGS</a:t>
            </a:r>
          </a:p>
        </p:txBody>
      </p:sp>
      <p:sp>
        <p:nvSpPr>
          <p:cNvPr id="3" name="title">
            <a:extLst xmlns:a="http://schemas.openxmlformats.org/drawingml/2006/main">
              <a:ext uri="{FF2B5EF4-FFF2-40B4-BE49-F238E27FC236}">
                <a16:creationId xmlns:a16="http://schemas.microsoft.com/office/drawing/2014/main" id="{85A2557B-3724-42FB-8918-C3327F1074A0}"/>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Pump type, source and payment show differences</a:t>
            </a:r>
          </a:p>
        </p:txBody>
      </p:sp>
      <p:sp>
        <p:nvSpPr>
          <p:cNvPr id="4" name="page">
            <a:extLst xmlns:a="http://schemas.openxmlformats.org/drawingml/2006/main">
              <a:ext uri="{FF2B5EF4-FFF2-40B4-BE49-F238E27FC236}">
                <a16:creationId xmlns:a16="http://schemas.microsoft.com/office/drawing/2014/main" id="{D0AA9258-5B58-4261-B4C5-4FC1514EE478}"/>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5</a:t>
            </a:r>
          </a:p>
        </p:txBody>
      </p:sp>
      <p:sp>
        <p:nvSpPr>
          <p:cNvPr id="5" name="figure-title">
            <a:extLst xmlns:a="http://schemas.openxmlformats.org/drawingml/2006/main">
              <a:ext uri="{FF2B5EF4-FFF2-40B4-BE49-F238E27FC236}">
                <a16:creationId xmlns:a16="http://schemas.microsoft.com/office/drawing/2014/main" id="{24815BE1-32AE-4159-B395-7D110AD21A9D}"/>
              </a:ext>
            </a:extLst>
          </p:cNvPr>
          <p:cNvSpPr>
            <a:spLocks xmlns:a="http://schemas.openxmlformats.org/drawingml/2006/main" noGrp="1"/>
          </p:cNvSpPr>
          <p:nvPr/>
        </p:nvSpPr>
        <p:spPr>
          <a:xfrm xmlns:a="http://schemas.openxmlformats.org/drawingml/2006/main">
            <a:off x="609600" y="1562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libri"/>
                <a:ea typeface="Calibri"/>
                <a:cs typeface="Calibri"/>
              </a:defRPr>
            </a:defPPr>
          </a:lstStyle>
          <a:p xmlns:a="http://schemas.openxmlformats.org/drawingml/2006/main">
            <a:pPr>
              <a:defRPr sz="2025" b="1">
                <a:solidFill>
                  <a:srgbClr val="16262A"/>
                </a:solidFill>
                <a:latin typeface="Calibri"/>
                <a:ea typeface="Calibri"/>
                <a:cs typeface="Calibri"/>
              </a:defRPr>
            </a:pPr>
            <a:r>
              <a:rPr sz="2025" b="1">
                <a:solidFill>
                  <a:srgbClr val="16262A"/>
                </a:solidFill>
                <a:latin typeface="Calibri"/>
                <a:ea typeface="Calibri"/>
                <a:cs typeface="Calibri"/>
              </a:rPr>
              <a:t>Link with pump status</a:t>
            </a:r>
          </a:p>
        </p:txBody>
      </p:sp>
      <p:sp>
        <p:nvSpPr>
          <p:cNvPr id="6" name="figure-title">
            <a:extLst xmlns:a="http://schemas.openxmlformats.org/drawingml/2006/main">
              <a:ext uri="{FF2B5EF4-FFF2-40B4-BE49-F238E27FC236}">
                <a16:creationId xmlns:a16="http://schemas.microsoft.com/office/drawing/2014/main" id="{C829B607-CF58-4348-AA82-77EF07CE79E0}"/>
              </a:ext>
            </a:extLst>
          </p:cNvPr>
          <p:cNvSpPr>
            <a:spLocks xmlns:a="http://schemas.openxmlformats.org/drawingml/2006/main" noGrp="1"/>
          </p:cNvSpPr>
          <p:nvPr/>
        </p:nvSpPr>
        <p:spPr>
          <a:xfrm xmlns:a="http://schemas.openxmlformats.org/drawingml/2006/main">
            <a:off x="6534150" y="1562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6283E"/>
                </a:solidFill>
                <a:latin typeface="Calibri"/>
                <a:ea typeface="Calibri"/>
                <a:cs typeface="Calibri"/>
              </a:defRPr>
            </a:defPPr>
          </a:lstStyle>
          <a:p xmlns:a="http://schemas.openxmlformats.org/drawingml/2006/main">
            <a:pPr>
              <a:defRPr sz="2025" b="1">
                <a:solidFill>
                  <a:srgbClr val="C6283E"/>
                </a:solidFill>
                <a:latin typeface="Calibri"/>
                <a:ea typeface="Calibri"/>
                <a:cs typeface="Calibri"/>
              </a:defRPr>
            </a:pPr>
            <a:r>
              <a:rPr sz="2025" b="1">
                <a:solidFill>
                  <a:srgbClr val="C6283E"/>
                </a:solidFill>
                <a:latin typeface="Calibri"/>
                <a:ea typeface="Calibri"/>
                <a:cs typeface="Calibri"/>
              </a:rPr>
              <a:t>Not working share</a:t>
            </a:r>
          </a:p>
        </p:txBody>
      </p:sp>
      <p:graphicFrame>
        <p:nvGraphicFramePr>
          <p:cNvPr id="7" name="Chart">
            <a:extLst xmlns:a="http://schemas.openxmlformats.org/drawingml/2006/main">
              <a:ext uri="{FF2B5EF4-FFF2-40B4-BE49-F238E27FC236}">
                <a16:creationId xmlns:a16="http://schemas.microsoft.com/office/drawing/2014/main" id="{DE4D1209-4607-4719-807D-82D1A53ED40F}"/>
              </a:ext>
            </a:extLst>
          </p:cNvPr>
          <p:cNvGraphicFramePr/>
          <p:nvPr/>
        </p:nvGraphicFramePr>
        <p:xfrm>
          <a:off xmlns:a="http://schemas.openxmlformats.org/drawingml/2006/main" x="419100" y="2105025"/>
          <a:ext xmlns:a="http://schemas.openxmlformats.org/drawingml/2006/main" cx="5238750" cy="3609975"/>
        </p:xfrm>
        <a:graphic xmlns:a="http://schemas.openxmlformats.org/drawingml/2006/main">
          <a:graphicData uri="http://schemas.openxmlformats.org/drawingml/2006/chart">
            <c:chart xmlns:r="http://schemas.openxmlformats.org/officeDocument/2006/relationships" xmlns:c="http://schemas.openxmlformats.org/drawingml/2006/chart" r:id="R903c9575ece145f6"/>
          </a:graphicData>
        </a:graphic>
      </p:graphicFrame>
      <p:graphicFrame>
        <p:nvGraphicFramePr>
          <p:cNvPr id="8" name="Chart">
            <a:extLst xmlns:a="http://schemas.openxmlformats.org/drawingml/2006/main">
              <a:ext uri="{FF2B5EF4-FFF2-40B4-BE49-F238E27FC236}">
                <a16:creationId xmlns:a16="http://schemas.microsoft.com/office/drawing/2014/main" id="{59A2353C-7242-4BA9-91C1-44EB3A6A354C}"/>
              </a:ext>
            </a:extLst>
          </p:cNvPr>
          <p:cNvGraphicFramePr/>
          <p:nvPr/>
        </p:nvGraphicFramePr>
        <p:xfrm>
          <a:off xmlns:a="http://schemas.openxmlformats.org/drawingml/2006/main" x="6143625" y="2085975"/>
          <a:ext xmlns:a="http://schemas.openxmlformats.org/drawingml/2006/main" cx="5438775" cy="3629025"/>
        </p:xfrm>
        <a:graphic xmlns:a="http://schemas.openxmlformats.org/drawingml/2006/main">
          <a:graphicData uri="http://schemas.openxmlformats.org/drawingml/2006/chart">
            <c:chart xmlns:r="http://schemas.openxmlformats.org/officeDocument/2006/relationships" xmlns:c="http://schemas.openxmlformats.org/drawingml/2006/chart" r:id="R47185d0da97845ec"/>
          </a:graphicData>
        </a:graphic>
      </p:graphicFrame>
      <p:sp>
        <p:nvSpPr>
          <p:cNvPr id="9" name="rank-explain">
            <a:extLst xmlns:a="http://schemas.openxmlformats.org/drawingml/2006/main">
              <a:ext uri="{FF2B5EF4-FFF2-40B4-BE49-F238E27FC236}">
                <a16:creationId xmlns:a16="http://schemas.microsoft.com/office/drawing/2014/main" id="{3910430E-0C7A-4CD3-9168-BCBD0919ECD1}"/>
              </a:ext>
            </a:extLst>
          </p:cNvPr>
          <p:cNvSpPr>
            <a:spLocks xmlns:a="http://schemas.openxmlformats.org/drawingml/2006/main" noGrp="1"/>
          </p:cNvSpPr>
          <p:nvPr/>
        </p:nvSpPr>
        <p:spPr>
          <a:xfrm xmlns:a="http://schemas.openxmlformats.org/drawingml/2006/main">
            <a:off x="609600" y="58864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C686E"/>
                </a:solidFill>
                <a:latin typeface="Calibri"/>
                <a:ea typeface="Calibri"/>
                <a:cs typeface="Calibri"/>
              </a:defRPr>
            </a:defPPr>
          </a:lstStyle>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Cramer's V: 0 means no link, 1 a perfect link.</a:t>
            </a:r>
          </a:p>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Each score checks one field at a time.</a:t>
            </a:r>
          </a:p>
        </p:txBody>
      </p:sp>
      <p:sp>
        <p:nvSpPr>
          <p:cNvPr id="10" name="association-warning">
            <a:extLst xmlns:a="http://schemas.openxmlformats.org/drawingml/2006/main">
              <a:ext uri="{FF2B5EF4-FFF2-40B4-BE49-F238E27FC236}">
                <a16:creationId xmlns:a16="http://schemas.microsoft.com/office/drawing/2014/main" id="{44EB3C7B-7157-4ED0-92C4-2DDDE2085AE8}"/>
              </a:ext>
            </a:extLst>
          </p:cNvPr>
          <p:cNvSpPr>
            <a:spLocks xmlns:a="http://schemas.openxmlformats.org/drawingml/2006/main" noGrp="1"/>
          </p:cNvSpPr>
          <p:nvPr/>
        </p:nvSpPr>
        <p:spPr>
          <a:xfrm xmlns:a="http://schemas.openxmlformats.org/drawingml/2006/main">
            <a:off x="6534150" y="5886450"/>
            <a:ext cx="5048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C686E"/>
                </a:solidFill>
                <a:latin typeface="Calibri"/>
                <a:ea typeface="Calibri"/>
                <a:cs typeface="Calibri"/>
              </a:defRPr>
            </a:defPPr>
          </a:lstStyle>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Groups also differ in location and age.</a:t>
            </a:r>
          </a:p>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These comparisons do not show causes.</a:t>
            </a:r>
          </a:p>
        </p:txBody>
      </p:sp>
    </p:spTree>
    <p:extLst>
      <p:ext uri="{BB962C8B-B14F-4D97-AF65-F5344CB8AC3E}">
        <p14:creationId xmlns:p14="http://schemas.microsoft.com/office/powerpoint/2010/main" val="2614878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ader-band">
            <a:extLst xmlns:a="http://schemas.openxmlformats.org/drawingml/2006/main">
              <a:ext uri="{FF2B5EF4-FFF2-40B4-BE49-F238E27FC236}">
                <a16:creationId xmlns:a16="http://schemas.microsoft.com/office/drawing/2014/main" id="{62F7EA73-0FCC-4E52-AC3C-D202297DBBFD}"/>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2744D021-658D-492C-A3FB-ACC8C1750884}"/>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SPRINT 2</a:t>
            </a:r>
          </a:p>
        </p:txBody>
      </p:sp>
      <p:sp>
        <p:nvSpPr>
          <p:cNvPr id="3" name="title">
            <a:extLst xmlns:a="http://schemas.openxmlformats.org/drawingml/2006/main">
              <a:ext uri="{FF2B5EF4-FFF2-40B4-BE49-F238E27FC236}">
                <a16:creationId xmlns:a16="http://schemas.microsoft.com/office/drawing/2014/main" id="{108A662A-651E-46E5-8DAE-77A101EE01DE}"/>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The findings guide our model tests</a:t>
            </a:r>
          </a:p>
        </p:txBody>
      </p:sp>
      <p:sp>
        <p:nvSpPr>
          <p:cNvPr id="4" name="page">
            <a:extLst xmlns:a="http://schemas.openxmlformats.org/drawingml/2006/main">
              <a:ext uri="{FF2B5EF4-FFF2-40B4-BE49-F238E27FC236}">
                <a16:creationId xmlns:a16="http://schemas.microsoft.com/office/drawing/2014/main" id="{927147C7-DFF2-4C17-B465-82853450D34C}"/>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6</a:t>
            </a:r>
          </a:p>
        </p:txBody>
      </p:sp>
      <p:graphicFrame>
        <p:nvGraphicFramePr>
          <p:cNvPr id="5" name="">
            <a:extLst xmlns:a="http://schemas.openxmlformats.org/drawingml/2006/main">
              <a:ext uri="{FF2B5EF4-FFF2-40B4-BE49-F238E27FC236}">
                <a16:creationId xmlns:a16="http://schemas.microsoft.com/office/drawing/2014/main" id="{51DCB619-C5CD-4242-A38E-55A4AD1C768C}"/>
              </a:ext>
            </a:extLst>
          </p:cNvPr>
          <p:cNvGraphicFramePr/>
          <p:nvPr/>
        </p:nvGraphicFramePr>
        <p:xfrm>
          <a:off xmlns:a="http://schemas.openxmlformats.org/drawingml/2006/main" x="609600" y="1752600"/>
          <a:ext xmlns:a="http://schemas.openxmlformats.org/drawingml/2006/main" cx="10972800" cy="3695700"/>
        </p:xfrm>
        <a:graphic xmlns:a="http://schemas.openxmlformats.org/drawingml/2006/main">
          <a:graphicData uri="http://schemas.openxmlformats.org/drawingml/2006/table">
            <a:tbl>
              <a:tblPr firstRow="0" firstCol="0" bandRow="0" bandCol="0"/>
              <a:tblGrid>
                <a:gridCol w="4552950"/>
                <a:gridCol w="6419850"/>
              </a:tblGrid>
              <a:tr h="609600">
                <a:tc>
                  <a:txBody>
                    <a:bodyPr lIns="142875" tIns="142875" rIns="142875" bIns="142875"/>
                    <a:lstStyle/>
                    <a:p>
                      <a:pPr algn="l"/>
                      <a:r>
                        <a:rPr sz="2025" b="1">
                          <a:solidFill>
                            <a:srgbClr val="16262A"/>
                          </a:solidFill>
                          <a:latin typeface="Calibri"/>
                          <a:ea typeface="Calibri"/>
                          <a:cs typeface="Calibri"/>
                        </a:rPr>
                        <a:t>What Sprint 1 found</a:t>
                      </a:r>
                    </a:p>
                  </a:txBody>
                  <a:tcPr marL="91440" marR="91440" marT="45720" marB="45720" anchor="ct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EAF6F6"/>
                    </a:solidFill>
                  </a:tcPr>
                </a:tc>
                <a:tc>
                  <a:txBody>
                    <a:bodyPr lIns="142875" tIns="142875" rIns="142875" bIns="142875"/>
                    <a:lstStyle/>
                    <a:p>
                      <a:pPr algn="l"/>
                      <a:r>
                        <a:rPr sz="2025" b="1">
                          <a:solidFill>
                            <a:srgbClr val="4C686E"/>
                          </a:solidFill>
                          <a:latin typeface="Calibri"/>
                          <a:ea typeface="Calibri"/>
                          <a:cs typeface="Calibri"/>
                        </a:rPr>
                        <a:t>What Sprint 2 will test</a:t>
                      </a:r>
                    </a:p>
                  </a:txBody>
                  <a:tcPr marL="91440" marR="91440" marT="45720" marB="45720" anchor="ctr">
                    <a:lnR w="28575">
                      <a:solidFill>
                        <a:srgbClr val="FFFFFF"/>
                      </a:solidFill>
                      <a:prstDash val="solid"/>
                    </a:lnR>
                    <a:lnT w="28575">
                      <a:solidFill>
                        <a:srgbClr val="FFFFFF"/>
                      </a:solidFill>
                      <a:prstDash val="solid"/>
                    </a:lnT>
                    <a:lnB w="28575">
                      <a:solidFill>
                        <a:srgbClr val="FFFFFF"/>
                      </a:solidFill>
                      <a:prstDash val="solid"/>
                    </a:lnB>
                    <a:solidFill>
                      <a:srgbClr val="EAF6F6"/>
                    </a:solidFill>
                  </a:tcPr>
                </a:tc>
              </a:tr>
              <a:tr h="771525">
                <a:tc>
                  <a:txBody>
                    <a:bodyPr lIns="142875" tIns="142875" rIns="142875" bIns="142875"/>
                    <a:lstStyle/>
                    <a:p>
                      <a:pPr algn="l"/>
                      <a:r>
                        <a:rPr sz="1875" b="0">
                          <a:solidFill>
                            <a:srgbClr val="16262A"/>
                          </a:solidFill>
                          <a:latin typeface="Calibri"/>
                          <a:ea typeface="Calibri"/>
                          <a:cs typeface="Calibri"/>
                        </a:rPr>
                        <a:t>Dry waterpoints are usually not working</a:t>
                      </a:r>
                    </a:p>
                  </a:txBody>
                  <a:tcPr marL="91440" marR="91440" marT="45720" marB="45720" anchor="ctr">
                    <a:lnL w="28575">
                      <a:solidFill>
                        <a:srgbClr val="FFFFFF"/>
                      </a:solidFill>
                      <a:prstDash val="solid"/>
                    </a:lnL>
                    <a:lnR w="28575">
                      <a:solidFill>
                        <a:srgbClr val="FFFFFF"/>
                      </a:solidFill>
                      <a:prstDash val="solid"/>
                    </a:lnR>
                    <a:lnB w="28575">
                      <a:solidFill>
                        <a:srgbClr val="FFFFFF"/>
                      </a:solidFill>
                      <a:prstDash val="solid"/>
                    </a:lnB>
                    <a:solidFill>
                      <a:srgbClr val="FFFFFF"/>
                    </a:solidFill>
                  </a:tcPr>
                </a:tc>
                <a:tc>
                  <a:txBody>
                    <a:bodyPr lIns="142875" tIns="142875" rIns="142875" bIns="142875"/>
                    <a:lstStyle/>
                    <a:p>
                      <a:pPr algn="l"/>
                      <a:r>
                        <a:rPr sz="1875" b="0">
                          <a:solidFill>
                            <a:srgbClr val="4C686E"/>
                          </a:solidFill>
                          <a:latin typeface="Calibri"/>
                          <a:ea typeface="Calibri"/>
                          <a:cs typeface="Calibri"/>
                        </a:rPr>
                        <a:t>Compare models with and without water quantity</a:t>
                      </a:r>
                    </a:p>
                  </a:txBody>
                  <a:tcPr marL="91440" marR="91440" marT="45720" marB="45720" anchor="ctr">
                    <a:lnR w="28575">
                      <a:solidFill>
                        <a:srgbClr val="FFFFFF"/>
                      </a:solidFill>
                      <a:prstDash val="solid"/>
                    </a:lnR>
                    <a:lnB w="28575">
                      <a:solidFill>
                        <a:srgbClr val="FFFFFF"/>
                      </a:solidFill>
                      <a:prstDash val="solid"/>
                    </a:lnB>
                    <a:solidFill>
                      <a:srgbClr val="FFFFFF"/>
                    </a:solidFill>
                  </a:tcPr>
                </a:tc>
              </a:tr>
              <a:tr h="771525">
                <a:tc>
                  <a:txBody>
                    <a:bodyPr lIns="142875" tIns="142875" rIns="142875" bIns="142875"/>
                    <a:lstStyle/>
                    <a:p>
                      <a:pPr algn="l"/>
                      <a:r>
                        <a:rPr sz="1875" b="0">
                          <a:solidFill>
                            <a:srgbClr val="16262A"/>
                          </a:solidFill>
                          <a:latin typeface="Calibri"/>
                          <a:ea typeface="Calibri"/>
                          <a:cs typeface="Calibri"/>
                        </a:rPr>
                        <a:t>Some columns repeat information</a:t>
                      </a:r>
                    </a:p>
                  </a:txBody>
                  <a:tcPr marL="91440" marR="91440" marT="45720" marB="45720" anchor="ctr">
                    <a:lnL w="28575">
                      <a:solidFill>
                        <a:srgbClr val="FFFFFF"/>
                      </a:solidFill>
                      <a:prstDash val="solid"/>
                    </a:lnL>
                    <a:lnR w="28575">
                      <a:solidFill>
                        <a:srgbClr val="FFFFFF"/>
                      </a:solidFill>
                      <a:prstDash val="solid"/>
                    </a:lnR>
                    <a:lnB w="28575">
                      <a:solidFill>
                        <a:srgbClr val="FFFFFF"/>
                      </a:solidFill>
                      <a:prstDash val="solid"/>
                    </a:lnB>
                    <a:solidFill>
                      <a:srgbClr val="F4F8F8"/>
                    </a:solidFill>
                  </a:tcPr>
                </a:tc>
                <a:tc>
                  <a:txBody>
                    <a:bodyPr lIns="142875" tIns="142875" rIns="142875" bIns="142875"/>
                    <a:lstStyle/>
                    <a:p>
                      <a:pPr algn="l"/>
                      <a:r>
                        <a:rPr sz="1875" b="0">
                          <a:solidFill>
                            <a:srgbClr val="4C686E"/>
                          </a:solidFill>
                          <a:latin typeface="Calibri"/>
                          <a:ea typeface="Calibri"/>
                          <a:cs typeface="Calibri"/>
                        </a:rPr>
                        <a:t>Check exact matches before dropping a column</a:t>
                      </a:r>
                    </a:p>
                  </a:txBody>
                  <a:tcPr marL="91440" marR="91440" marT="45720" marB="45720" anchor="ctr">
                    <a:lnR w="28575">
                      <a:solidFill>
                        <a:srgbClr val="FFFFFF"/>
                      </a:solidFill>
                      <a:prstDash val="solid"/>
                    </a:lnR>
                    <a:lnB w="28575">
                      <a:solidFill>
                        <a:srgbClr val="FFFFFF"/>
                      </a:solidFill>
                      <a:prstDash val="solid"/>
                    </a:lnB>
                    <a:solidFill>
                      <a:srgbClr val="F4F8F8"/>
                    </a:solidFill>
                  </a:tcPr>
                </a:tc>
              </a:tr>
              <a:tr h="771525">
                <a:tc>
                  <a:txBody>
                    <a:bodyPr lIns="142875" tIns="142875" rIns="142875" bIns="142875"/>
                    <a:lstStyle/>
                    <a:p>
                      <a:pPr algn="l"/>
                      <a:r>
                        <a:rPr sz="1875" b="0">
                          <a:solidFill>
                            <a:srgbClr val="16262A"/>
                          </a:solidFill>
                          <a:latin typeface="Calibri"/>
                          <a:ea typeface="Calibri"/>
                          <a:cs typeface="Calibri"/>
                        </a:rPr>
                        <a:t>Installer names have many spellings</a:t>
                      </a:r>
                    </a:p>
                  </a:txBody>
                  <a:tcPr marL="91440" marR="91440" marT="45720" marB="45720" anchor="ctr">
                    <a:lnL w="28575">
                      <a:solidFill>
                        <a:srgbClr val="FFFFFF"/>
                      </a:solidFill>
                      <a:prstDash val="solid"/>
                    </a:lnL>
                    <a:lnR w="28575">
                      <a:solidFill>
                        <a:srgbClr val="FFFFFF"/>
                      </a:solidFill>
                      <a:prstDash val="solid"/>
                    </a:lnR>
                    <a:lnB w="28575">
                      <a:solidFill>
                        <a:srgbClr val="FFFFFF"/>
                      </a:solidFill>
                      <a:prstDash val="solid"/>
                    </a:lnB>
                    <a:solidFill>
                      <a:srgbClr val="FFFFFF"/>
                    </a:solidFill>
                  </a:tcPr>
                </a:tc>
                <a:tc>
                  <a:txBody>
                    <a:bodyPr lIns="142875" tIns="142875" rIns="142875" bIns="142875"/>
                    <a:lstStyle/>
                    <a:p>
                      <a:pPr algn="l"/>
                      <a:r>
                        <a:rPr sz="1875" b="0">
                          <a:solidFill>
                            <a:srgbClr val="4C686E"/>
                          </a:solidFill>
                          <a:latin typeface="Calibri"/>
                          <a:ea typeface="Calibri"/>
                          <a:cs typeface="Calibri"/>
                        </a:rPr>
                        <a:t>Review variants and group rare names</a:t>
                      </a:r>
                    </a:p>
                  </a:txBody>
                  <a:tcPr marL="91440" marR="91440" marT="45720" marB="45720" anchor="ctr">
                    <a:lnR w="28575">
                      <a:solidFill>
                        <a:srgbClr val="FFFFFF"/>
                      </a:solidFill>
                      <a:prstDash val="solid"/>
                    </a:lnR>
                    <a:lnB w="28575">
                      <a:solidFill>
                        <a:srgbClr val="FFFFFF"/>
                      </a:solidFill>
                      <a:prstDash val="solid"/>
                    </a:lnB>
                    <a:solidFill>
                      <a:srgbClr val="FFFFFF"/>
                    </a:solidFill>
                  </a:tcPr>
                </a:tc>
              </a:tr>
              <a:tr h="771525">
                <a:tc>
                  <a:txBody>
                    <a:bodyPr lIns="142875" tIns="142875" rIns="142875" bIns="142875"/>
                    <a:lstStyle/>
                    <a:p>
                      <a:pPr algn="l"/>
                      <a:r>
                        <a:rPr sz="1875" b="1">
                          <a:solidFill>
                            <a:srgbClr val="B77900"/>
                          </a:solidFill>
                          <a:latin typeface="Calibri"/>
                          <a:ea typeface="Calibri"/>
                          <a:cs typeface="Calibri"/>
                        </a:rPr>
                        <a:t>Only 7.3% work but need repair</a:t>
                      </a:r>
                    </a:p>
                  </a:txBody>
                  <a:tcPr marL="91440" marR="91440" marT="45720" marB="45720" anchor="ctr">
                    <a:lnL w="28575">
                      <a:solidFill>
                        <a:srgbClr val="FFFFFF"/>
                      </a:solidFill>
                      <a:prstDash val="solid"/>
                    </a:lnL>
                    <a:lnR w="28575">
                      <a:solidFill>
                        <a:srgbClr val="FFFFFF"/>
                      </a:solidFill>
                      <a:prstDash val="solid"/>
                    </a:lnR>
                    <a:lnB w="28575">
                      <a:solidFill>
                        <a:srgbClr val="FFFFFF"/>
                      </a:solidFill>
                      <a:prstDash val="solid"/>
                    </a:lnB>
                    <a:solidFill>
                      <a:srgbClr val="F4F8F8"/>
                    </a:solidFill>
                  </a:tcPr>
                </a:tc>
                <a:tc>
                  <a:txBody>
                    <a:bodyPr lIns="142875" tIns="142875" rIns="142875" bIns="142875"/>
                    <a:lstStyle/>
                    <a:p>
                      <a:pPr algn="l"/>
                      <a:r>
                        <a:rPr sz="1875" b="1">
                          <a:solidFill>
                            <a:srgbClr val="B77900"/>
                          </a:solidFill>
                          <a:latin typeface="Calibri"/>
                          <a:ea typeface="Calibri"/>
                          <a:cs typeface="Calibri"/>
                        </a:rPr>
                        <a:t>Report precision, recall and F1 for each state</a:t>
                      </a:r>
                    </a:p>
                  </a:txBody>
                  <a:tcPr marL="91440" marR="91440" marT="45720" marB="45720" anchor="ctr">
                    <a:lnR w="28575">
                      <a:solidFill>
                        <a:srgbClr val="FFFFFF"/>
                      </a:solidFill>
                      <a:prstDash val="solid"/>
                    </a:lnR>
                    <a:lnB w="28575">
                      <a:solidFill>
                        <a:srgbClr val="FFFFFF"/>
                      </a:solidFill>
                      <a:prstDash val="solid"/>
                    </a:lnB>
                    <a:solidFill>
                      <a:srgbClr val="F4F8F8"/>
                    </a:solidFill>
                  </a:tcPr>
                </a:tc>
              </a:tr>
            </a:tbl>
          </a:graphicData>
        </a:graphic>
      </p:graphicFrame>
      <p:sp>
        <p:nvSpPr>
          <p:cNvPr id="6" name="baseline">
            <a:extLst xmlns:a="http://schemas.openxmlformats.org/drawingml/2006/main">
              <a:ext uri="{FF2B5EF4-FFF2-40B4-BE49-F238E27FC236}">
                <a16:creationId xmlns:a16="http://schemas.microsoft.com/office/drawing/2014/main" id="{501566CD-17A2-4E83-9AB1-056362010B5C}"/>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6262A"/>
                </a:solidFill>
                <a:latin typeface="Cambria"/>
                <a:ea typeface="Cambria"/>
                <a:cs typeface="Cambria"/>
              </a:defRPr>
            </a:defPPr>
          </a:lstStyle>
          <a:p xmlns:a="http://schemas.openxmlformats.org/drawingml/2006/main">
            <a:pPr>
              <a:defRPr sz="2325" b="1">
                <a:solidFill>
                  <a:srgbClr val="16262A"/>
                </a:solidFill>
                <a:latin typeface="Cambria"/>
                <a:ea typeface="Cambria"/>
                <a:cs typeface="Cambria"/>
              </a:defRPr>
            </a:pPr>
            <a:r>
              <a:rPr sz="2325" b="1">
                <a:solidFill>
                  <a:srgbClr val="16262A"/>
                </a:solidFill>
                <a:latin typeface="Cambria"/>
                <a:ea typeface="Cambria"/>
                <a:cs typeface="Cambria"/>
              </a:rPr>
              <a:t>Always predicting "working" scores 54.3% overall</a:t>
            </a:r>
          </a:p>
        </p:txBody>
      </p:sp>
      <p:sp>
        <p:nvSpPr>
          <p:cNvPr id="7" name="repair-close">
            <a:extLst xmlns:a="http://schemas.openxmlformats.org/drawingml/2006/main">
              <a:ext uri="{FF2B5EF4-FFF2-40B4-BE49-F238E27FC236}">
                <a16:creationId xmlns:a16="http://schemas.microsoft.com/office/drawing/2014/main" id="{1CB91B98-BAB8-404A-8C3C-CB3E5914FCBD}"/>
              </a:ext>
            </a:extLst>
          </p:cNvPr>
          <p:cNvSpPr>
            <a:spLocks xmlns:a="http://schemas.openxmlformats.org/drawingml/2006/main" noGrp="1"/>
          </p:cNvSpPr>
          <p:nvPr/>
        </p:nvSpPr>
        <p:spPr>
          <a:xfrm xmlns:a="http://schemas.openxmlformats.org/drawingml/2006/main">
            <a:off x="609600" y="63055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77900"/>
                </a:solidFill>
                <a:latin typeface="Calibri"/>
                <a:ea typeface="Calibri"/>
                <a:cs typeface="Calibri"/>
              </a:defRPr>
            </a:defPPr>
          </a:lstStyle>
          <a:p xmlns:a="http://schemas.openxmlformats.org/drawingml/2006/main">
            <a:pPr>
              <a:defRPr sz="1800" b="1">
                <a:solidFill>
                  <a:srgbClr val="B77900"/>
                </a:solidFill>
                <a:latin typeface="Calibri"/>
                <a:ea typeface="Calibri"/>
                <a:cs typeface="Calibri"/>
              </a:defRPr>
            </a:pPr>
            <a:r>
              <a:rPr sz="1800" b="1">
                <a:solidFill>
                  <a:srgbClr val="B77900"/>
                </a:solidFill>
                <a:latin typeface="Calibri"/>
                <a:ea typeface="Calibri"/>
                <a:cs typeface="Calibri"/>
              </a:rPr>
              <a:t>It misses all 4,317 repair cases. We will check missed repairs and false alarms.</a:t>
            </a:r>
          </a:p>
        </p:txBody>
      </p:sp>
    </p:spTree>
    <p:extLst>
      <p:ext uri="{BB962C8B-B14F-4D97-AF65-F5344CB8AC3E}">
        <p14:creationId xmlns:p14="http://schemas.microsoft.com/office/powerpoint/2010/main" val="1113158961"/>
      </p:ext>
    </p:extLst>
  </p:cSld>
</p:sld>
</file>

<file path=ppt/theme/theme1.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2026-10-15T16:14:41.1630000Z</dcterms:created>
  <dcterms:modified xsi:type="dcterms:W3CDTF">2026-10-15T16:14:41.1630000Z</dcterms:modified>
</coreProperties>
</file>