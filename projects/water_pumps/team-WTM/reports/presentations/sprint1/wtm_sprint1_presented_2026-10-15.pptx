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68f8a8976d2471c" /><Relationship Type="http://schemas.openxmlformats.org/officeDocument/2006/relationships/extended-properties" Target="/docProps/app.xml" Id="Rc533c3d6769f4fc6" /><Relationship Type="http://schemas.openxmlformats.org/officeDocument/2006/relationships/officeDocument" Target="/ppt/presentation.xml" Id="R3879d82bf842410e" /></Relationships>
</file>

<file path=ppt/presentation.xml><?xml version="1.0" encoding="utf-8"?>
<p:presentation xmlns:p="http://schemas.openxmlformats.org/presentationml/2006/main">
  <p:sldMasterIdLst>
    <p:sldMasterId xmlns:r="http://schemas.openxmlformats.org/officeDocument/2006/relationships" id="2147483648" r:id="Rdc902a8dbe8e4261"/>
    <p:sldMasterId xmlns:r="http://schemas.openxmlformats.org/officeDocument/2006/relationships" id="2147483652" r:id="Rb9802564c27a4c57"/>
  </p:sldMasterIdLst>
  <p:notesMasterIdLst>
    <p:notesMasterId xmlns:r="http://schemas.openxmlformats.org/officeDocument/2006/relationships" r:id="R31150ebc29654d6b"/>
  </p:notesMasterIdLst>
  <p:sldIdLst>
    <p:sldId xmlns:r="http://schemas.openxmlformats.org/officeDocument/2006/relationships" id="256" r:id="Rcbd44abf658a4d6f"/>
    <p:sldId xmlns:r="http://schemas.openxmlformats.org/officeDocument/2006/relationships" id="257" r:id="Rd9a68532146d4f69"/>
    <p:sldId xmlns:r="http://schemas.openxmlformats.org/officeDocument/2006/relationships" id="258" r:id="Rafbc6e208b124e27"/>
    <p:sldId xmlns:r="http://schemas.openxmlformats.org/officeDocument/2006/relationships" id="259" r:id="R778d2d81f78d46f9"/>
    <p:sldId xmlns:r="http://schemas.openxmlformats.org/officeDocument/2006/relationships" id="260" r:id="R001e7b2030e5407a"/>
    <p:sldId xmlns:r="http://schemas.openxmlformats.org/officeDocument/2006/relationships" id="261" r:id="Ra243db8280dd4bb1"/>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23a97823dd34b1c" /><Relationship Type="http://schemas.openxmlformats.org/officeDocument/2006/relationships/slideMaster" Target="/ppt/slideMasters/slideMaster1.xml" Id="Rdc902a8dbe8e4261" /><Relationship Type="http://schemas.openxmlformats.org/officeDocument/2006/relationships/slideMaster" Target="/ppt/slideMasters/slideMaster2.xml" Id="Rb9802564c27a4c57" /><Relationship Type="http://schemas.openxmlformats.org/officeDocument/2006/relationships/notesMaster" Target="/ppt/notesMasters/notesMaster1.xml" Id="R31150ebc29654d6b" /><Relationship Type="http://schemas.openxmlformats.org/officeDocument/2006/relationships/presProps" Target="/ppt/presProps.xml" Id="R8ed863890507494c" /><Relationship Type="http://schemas.openxmlformats.org/officeDocument/2006/relationships/viewProps" Target="/ppt/viewProps.xml" Id="R075c563f2f7b4cf8" /><Relationship Type="http://schemas.openxmlformats.org/officeDocument/2006/relationships/tableStyles" Target="/ppt/tableStyles.xml" Id="Rebdd7986b3a04af5" /><Relationship Type="http://schemas.openxmlformats.org/officeDocument/2006/relationships/slide" Target="/ppt/slides/slide1.xml" Id="Rcbd44abf658a4d6f" /><Relationship Type="http://schemas.openxmlformats.org/officeDocument/2006/relationships/slide" Target="/ppt/slides/slide2.xml" Id="Rd9a68532146d4f69" /><Relationship Type="http://schemas.openxmlformats.org/officeDocument/2006/relationships/slide" Target="/ppt/slides/slide3.xml" Id="Rafbc6e208b124e27" /><Relationship Type="http://schemas.openxmlformats.org/officeDocument/2006/relationships/slide" Target="/ppt/slides/slide4.xml" Id="R778d2d81f78d46f9" /><Relationship Type="http://schemas.openxmlformats.org/officeDocument/2006/relationships/slide" Target="/ppt/slides/slide5.xml" Id="R001e7b2030e5407a" /><Relationship Type="http://schemas.openxmlformats.org/officeDocument/2006/relationships/slide" Target="/ppt/slides/slide6.xml" Id="Ra243db8280dd4b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f756562195ef4b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WTM Water Table">
  <a:themeElements>
    <a:clrScheme name="WTM Water Table">
      <a:dk1>
        <a:srgbClr val="16262A"/>
      </a:dk1>
      <a:lt1>
        <a:srgbClr val="FFFFFF"/>
      </a:lt1>
      <a:dk2>
        <a:srgbClr val="028090"/>
      </a:dk2>
      <a:lt2>
        <a:srgbClr val="EAF6F6"/>
      </a:lt2>
      <a:accent1>
        <a:srgbClr val="02C39A"/>
      </a:accent1>
      <a:accent2>
        <a:srgbClr val="00A896"/>
      </a:accent2>
      <a:accent3>
        <a:srgbClr val="F2B134"/>
      </a:accent3>
      <a:accent4>
        <a:srgbClr val="D7263D"/>
      </a:accent4>
      <a:accent5>
        <a:srgbClr val="7FD8C8"/>
      </a:accent5>
      <a:accent6>
        <a:srgbClr val="0B4F56"/>
      </a:accent6>
      <a:hlink>
        <a:srgbClr val="02C39A"/>
      </a:hlink>
      <a:folHlink>
        <a:srgbClr val="00A896"/>
      </a:folHlink>
    </a:clrScheme>
    <a:fontScheme name="WTM Water Tabl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TM Water Tabl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685b3273fe434d" /><Relationship Type="http://schemas.openxmlformats.org/officeDocument/2006/relationships/notesMaster" Target="/ppt/notesMasters/notesMaster1.xml" Id="R31e4ce09c7ac49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bcc087f7014f93" /><Relationship Type="http://schemas.openxmlformats.org/officeDocument/2006/relationships/notesMaster" Target="/ppt/notesMasters/notesMaster1.xml" Id="Rd77aafedc42d45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ecbf019e364274" /><Relationship Type="http://schemas.openxmlformats.org/officeDocument/2006/relationships/notesMaster" Target="/ppt/notesMasters/notesMaster1.xml" Id="Re419ba0dc56a46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fc1ecd78d34414" /><Relationship Type="http://schemas.openxmlformats.org/officeDocument/2006/relationships/notesMaster" Target="/ppt/notesMasters/notesMaster1.xml" Id="R525439be407243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3e9836826c46d8" /><Relationship Type="http://schemas.openxmlformats.org/officeDocument/2006/relationships/notesMaster" Target="/ppt/notesMasters/notesMaster1.xml" Id="Rabf1b7565a5c4d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eee6db750f4c2e" /><Relationship Type="http://schemas.openxmlformats.org/officeDocument/2006/relationships/notesMaster" Target="/ppt/notesMasters/notesMaster1.xml" Id="Rf1b2474b77d24f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Goodfriend (0:00-0:25)</a:t>
            </a:r>
          </a:p>
          <a:p xmlns:a="http://schemas.openxmlformats.org/drawingml/2006/main">
            <a:r>
              <a:t/>
            </a:r>
          </a:p>
          <a:p xmlns:a="http://schemas.openxmlformats.org/drawingml/2006/main">
            <a:r>
              <a:t>Hello, we are Team WTM: Goodfriend, Morisade, Tari and Tayaphon. Our project looks at water pumps in Tanzania. In Sprint 1, we checked the data and studied which features are linked to pumps working or needing repair. Tayaphon will begin with what the dataset contains.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Tayaphon (0:25-1:10)</a:t>
            </a:r>
          </a:p>
          <a:p xmlns:a="http://schemas.openxmlformats.org/drawingml/2006/main">
            <a:r>
              <a:t/>
            </a:r>
          </a:p>
          <a:p xmlns:a="http://schemas.openxmlformats.org/drawingml/2006/main">
            <a:r>
              <a:t>We have 59,400 waterpoint records and 40 original input columns. The bars group these columns by topic. They cover location and population, construction and pump type, water conditions, management and payment, and record details. One field still has an unclear meaning. The records were entered between 2002 and 2013. Each waterpoint has one of three labels: working, needing repair while still working, or not working. We compare these topics with the three pump states. Before making those comparisons, Morisade will explain where the data is missing.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Morisade (1:10-2:00)</a:t>
            </a:r>
          </a:p>
          <a:p xmlns:a="http://schemas.openxmlformats.org/drawingml/2006/main">
            <a:r>
              <a:t/>
            </a:r>
          </a:p>
          <a:p xmlns:a="http://schemas.openxmlformats.org/drawingml/2006/main">
            <a:r>
              <a:t>About 35 percent of construction years are unknown. The missing share is higher among waterpoints needing repair. Four regions have no recorded construction years at all: Dodoma, Kagera, Mbeya and Tabora. They account for about one fifth of all records, so age findings leave out a large part of the dataset. We have saved a shared cleaned copy. It keeps every record and marks missing values and impossible ages. Repeated records remain for review. The same code lets everyone repeat these steps. With those limits clear, Tari will show the main patterns.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Tari (2:00-3:05)</a:t>
            </a:r>
          </a:p>
          <a:p xmlns:a="http://schemas.openxmlformats.org/drawingml/2006/main">
            <a:r>
              <a:t/>
            </a:r>
          </a:p>
          <a:p xmlns:a="http://schemas.openxmlformats.org/drawingml/2006/main">
            <a:r>
              <a:t>First, water supply. Almost 97 percent of waterpoints recorded as dry are not working. Where water is recorded as enough, about 65 percent are working. The age chart also shows a clear difference. Among records with usable ages, the working share falls from about 72 percent in the youngest group to 31 percent in the oldest. We checked the youngest and oldest groups within regions and pump technologies too. The younger group works more often in all 16 regions and five pump groups with enough records. The middle age bands do not always fall steadily. Other factors may explain these differences. The comparisons cannot tell us what caused a pump to stop working. Tayaphon will now show a check on the numeric fields.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Tayaphon (3:05-3:50)</a:t>
            </a:r>
          </a:p>
          <a:p xmlns:a="http://schemas.openxmlformats.org/drawingml/2006/main">
            <a:r>
              <a:t/>
            </a:r>
          </a:p>
          <a:p xmlns:a="http://schemas.openxmlformats.org/drawingml/2006/main">
            <a:r>
              <a:t>These tables compare four numeric fields. A positive value means higher values in one field tend to go with higher values in the other. The amount and height link is 0.34 when zero heights are kept. It falls to 0.02 when they are left out. Zero height may sometimes mean missing data, but we have not confirmed every case. We also need to confirm what the amount field measures. We keep the original values and record these questions. In Sprint 2, we will test how these choices change model results. Goodfriend will explain what we will 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Goodfriend (3:50-4:30)</a:t>
            </a:r>
          </a:p>
          <a:p xmlns:a="http://schemas.openxmlformats.org/drawingml/2006/main">
            <a:r>
              <a:t/>
            </a:r>
          </a:p>
          <a:p xmlns:a="http://schemas.openxmlformats.org/drawingml/2006/main">
            <a:r>
              <a:t>Sprint 2 will compare a simple starting model with more complex models. We will use the shared cleaning steps. We will choose missing-value fills using the training data only. We will check results for each pump state. Only 4,317 waterpoints need repair, about seven percent of the dataset. A single accuracy score could hide poor results for this group. We will count missed repairs and false alarms as well as correct predictions. That is how we will judge whether the models are useful.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918a30a72f43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6ba1ecfb9047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f46db672ba49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227961859a5f417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ARK_TITLE">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24FE521-D957-4493-B87B-6278440BF48A}"/>
              </a:ext>
            </a:extLst>
          </p:cNvPr>
          <p:cNvSpPr>
            <a:spLocks xmlns:a="http://schemas.openxmlformats.org/drawingml/2006/main" noGrp="1"/>
          </p:cNvSpPr>
          <p:nvPr>
            <p:ph type="title" idx="100" hasCustomPrompt="1"/>
          </p:nvPr>
        </p:nvSpPr>
        <p:spPr>
          <a:xfrm xmlns:a="http://schemas.openxmlformats.org/drawingml/2006/main">
            <a:off x="640080" y="1417320"/>
            <a:ext cx="10881360" cy="45720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1500" b="1" kern="0" spc="200">
                <a:solidFill>
                  <a:schemeClr val="accent1"/>
                </a:solidFill>
                <a:latin typeface="Calibri"/>
                <a:ea typeface="Calibri"/>
                <a:cs typeface="Calibri"/>
              </a:defRPr>
            </a:lvl1pPr>
          </a:lstStyle>
          <a:p xmlns:a="http://schemas.openxmlformats.org/drawingml/2006/main">
            <a:pPr marL="0" indent="0" algn="l">
              <a:buNone/>
            </a:pPr>
            <a:r>
              <a:rPr sz="1500" b="1" spc="200">
                <a:solidFill>
                  <a:schemeClr val="accent1"/>
                </a:solidFill>
                <a:latin typeface="Calibri"/>
                <a:ea typeface="Calibri"/>
                <a:cs typeface="Calibri"/>
              </a:rPr>
              <a:t>KICKER</a:t>
            </a:r>
            <a:endParaRPr sz="1500"/>
          </a:p>
        </p:txBody>
      </p:sp>
      <p:sp>
        <p:nvSpPr>
          <p:cNvPr id="3" name="Text 0">
            <a:extLst xmlns:a="http://schemas.openxmlformats.org/drawingml/2006/main">
              <a:ext uri="{FF2B5EF4-FFF2-40B4-BE49-F238E27FC236}">
                <a16:creationId xmlns:a16="http://schemas.microsoft.com/office/drawing/2014/main" id="{16283B42-DDBE-4E14-91AC-8F2276D80883}"/>
              </a:ext>
            </a:extLst>
          </p:cNvPr>
          <p:cNvSpPr>
            <a:spLocks xmlns:a="http://schemas.openxmlformats.org/drawingml/2006/main" noGrp="1"/>
          </p:cNvSpPr>
          <p:nvPr>
            <p:ph type="body" idx="101" hasCustomPrompt="1"/>
          </p:nvPr>
        </p:nvSpPr>
        <p:spPr>
          <a:xfrm xmlns:a="http://schemas.openxmlformats.org/drawingml/2006/main">
            <a:off x="640080" y="1920240"/>
            <a:ext cx="10881360" cy="17373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4000" b="1">
                <a:solidFill>
                  <a:schemeClr val="bg1"/>
                </a:solidFill>
                <a:latin typeface="Cambria"/>
                <a:ea typeface="Cambria"/>
                <a:cs typeface="Cambria"/>
              </a:defRPr>
            </a:lvl1pPr>
          </a:lstStyle>
          <a:p xmlns:a="http://schemas.openxmlformats.org/drawingml/2006/main">
            <a:pPr marL="0" indent="0" algn="l">
              <a:buNone/>
            </a:pPr>
            <a:r>
              <a:rPr sz="4000" b="1">
                <a:solidFill>
                  <a:schemeClr val="bg1"/>
                </a:solidFill>
                <a:latin typeface="Cambria"/>
                <a:ea typeface="Cambria"/>
                <a:cs typeface="Cambria"/>
              </a:rPr>
              <a:t>Title</a:t>
            </a:r>
            <a:endParaRPr sz="4000"/>
          </a:p>
        </p:txBody>
      </p:sp>
      <p:sp>
        <p:nvSpPr>
          <p:cNvPr id="4" name="Text 0">
            <a:extLst xmlns:a="http://schemas.openxmlformats.org/drawingml/2006/main">
              <a:ext uri="{FF2B5EF4-FFF2-40B4-BE49-F238E27FC236}">
                <a16:creationId xmlns:a16="http://schemas.microsoft.com/office/drawing/2014/main" id="{79C1CED7-A72C-47ED-AF3E-FF84E24E9437}"/>
              </a:ext>
            </a:extLst>
          </p:cNvPr>
          <p:cNvSpPr>
            <a:spLocks xmlns:a="http://schemas.openxmlformats.org/drawingml/2006/main" noGrp="1"/>
          </p:cNvSpPr>
          <p:nvPr>
            <p:ph type="body" idx="102" hasCustomPrompt="1"/>
          </p:nvPr>
        </p:nvSpPr>
        <p:spPr>
          <a:xfrm xmlns:a="http://schemas.openxmlformats.org/drawingml/2006/main">
            <a:off x="640080" y="3703320"/>
            <a:ext cx="10058400" cy="11887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1700">
                <a:solidFill>
                  <a:schemeClr val="bg2"/>
                </a:solidFill>
                <a:latin typeface="Calibri"/>
                <a:ea typeface="Calibri"/>
                <a:cs typeface="Calibri"/>
              </a:defRPr>
            </a:lvl1pPr>
          </a:lstStyle>
          <a:p xmlns:a="http://schemas.openxmlformats.org/drawingml/2006/main">
            <a:pPr marL="0" indent="0" algn="l">
              <a:buNone/>
            </a:pPr>
            <a:r>
              <a:rPr sz="1700">
                <a:solidFill>
                  <a:schemeClr val="bg2"/>
                </a:solidFill>
                <a:latin typeface="Calibri"/>
                <a:ea typeface="Calibri"/>
                <a:cs typeface="Calibri"/>
              </a:rPr>
              <a:t>Subtitle</a:t>
            </a:r>
            <a:endParaRPr sz="1700"/>
          </a:p>
        </p:txBody>
      </p:sp>
      <p:sp>
        <p:nvSpPr>
          <p:cNvPr id="5" name="Text 0">
            <a:extLst xmlns:a="http://schemas.openxmlformats.org/drawingml/2006/main">
              <a:ext uri="{FF2B5EF4-FFF2-40B4-BE49-F238E27FC236}">
                <a16:creationId xmlns:a16="http://schemas.microsoft.com/office/drawing/2014/main" id="{29DE0FB4-F0BA-486E-9D93-3B538A7D5CC3}"/>
              </a:ext>
            </a:extLst>
          </p:cNvPr>
          <p:cNvSpPr>
            <a:spLocks xmlns:a="http://schemas.openxmlformats.org/drawingml/2006/main" noGrp="1"/>
          </p:cNvSpPr>
          <p:nvPr/>
        </p:nvSpPr>
        <p:spPr>
          <a:xfrm xmlns:a="http://schemas.openxmlformats.org/drawingml/2006/main">
            <a:off x="640080" y="6355080"/>
            <a:ext cx="1088136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000">
                <a:solidFill>
                  <a:schemeClr val="accent5"/>
                </a:solidFill>
                <a:latin typeface="Calibri"/>
                <a:ea typeface="Calibri"/>
                <a:cs typeface="Calibri"/>
              </a:rPr>
              <a:t>Team WTM  ·  Pump it Up: Data Mining the Water Table  ·  Sprint 1</a:t>
            </a:r>
            <a:endParaRPr sz="1000"/>
          </a:p>
        </p:txBody>
      </p:sp>
      <p:sp>
        <p:nvSpPr>
          <p:cNvPr id="25" name="Slide Number Placeholder 0">
            <a:extLst xmlns:a="http://schemas.openxmlformats.org/drawingml/2006/main">
              <a:ext uri="{FF2B5EF4-FFF2-40B4-BE49-F238E27FC236}">
                <a16:creationId xmlns:a16="http://schemas.microsoft.com/office/drawing/2014/main" id="{ECE79BCE-83C5-480F-984F-8BCFCD468C4F}"/>
              </a:ext>
            </a:extLst>
          </p:cNvPr>
          <p:cNvSpPr>
            <a:spLocks xmlns:a="http://schemas.openxmlformats.org/drawingml/2006/main" noGrp="1"/>
          </p:cNvSpPr>
          <p:nvPr>
            <p:ph type="sldNum" idx="4294967295"/>
          </p:nvPr>
        </p:nvSpPr>
        <p:spPr>
          <a:xfrm xmlns:a="http://schemas.openxmlformats.org/drawingml/2006/main">
            <a:off x="11658600" y="635508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7FD8C8"/>
                </a:solidFill>
                <a:latin typeface="Calibri"/>
                <a:ea typeface="Calibri"/>
                <a:cs typeface="Calibri"/>
              </a:defRPr>
            </a:lvl1pPr>
          </a:lstStyle>
          <a:p xmlns:a="http://schemas.openxmlformats.org/drawingml/2006/main">
            <a:pPr algn="l">
              <a:buNone/>
            </a:pPr>
            <a:fld id="{F7021451-1387-4CA6-816F-3879F97B5CBC}" type="slidenum">
              <a:rPr b="0"/>
              <a:t>‹#›</a:t>
            </a:fld>
            <a:endParaRPr/>
          </a:p>
        </p:txBody>
      </p:sp>
    </p:spTree>
  </p:cSld>
</p:sldLayout>
</file>

<file path=ppt/slideLayouts/slideLayout3.xml><?xml version="1.0" encoding="utf-8"?>
<p:sldLayout xmlns:p="http://schemas.openxmlformats.org/presentationml/2006/main" preserve="1">
  <p:cSld name="CONTENT_LIGHT">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6DF42CB-E617-47A1-92C7-77BA19F9F98D}"/>
              </a:ext>
            </a:extLst>
          </p:cNvPr>
          <p:cNvSpPr>
            <a:spLocks xmlns:a="http://schemas.openxmlformats.org/drawingml/2006/main" noGrp="1"/>
          </p:cNvSpPr>
          <p:nvPr/>
        </p:nvSpPr>
        <p:spPr>
          <a:xfrm xmlns:a="http://schemas.openxmlformats.org/drawingml/2006/main">
            <a:off x="0" y="0"/>
            <a:ext cx="12191695" cy="1170432"/>
          </a:xfrm>
          <a:prstGeom xmlns:a="http://schemas.openxmlformats.org/drawingml/2006/main" prst="rect">
            <a:avLst/>
          </a:prstGeom>
          <a:solidFill xmlns:a="http://schemas.openxmlformats.org/drawingml/2006/main">
            <a:schemeClr val="bg2"/>
          </a:solidFill>
        </p:spPr>
      </p:sp>
      <p:sp>
        <p:nvSpPr>
          <p:cNvPr id="3" name="Text 1">
            <a:extLst xmlns:a="http://schemas.openxmlformats.org/drawingml/2006/main">
              <a:ext uri="{FF2B5EF4-FFF2-40B4-BE49-F238E27FC236}">
                <a16:creationId xmlns:a16="http://schemas.microsoft.com/office/drawing/2014/main" id="{BF6C146B-8B74-4404-84A2-FD80E104F8A8}"/>
              </a:ext>
            </a:extLst>
          </p:cNvPr>
          <p:cNvSpPr>
            <a:spLocks xmlns:a="http://schemas.openxmlformats.org/drawingml/2006/main" noGrp="1"/>
          </p:cNvSpPr>
          <p:nvPr>
            <p:ph type="title" idx="101" hasCustomPrompt="1"/>
          </p:nvPr>
        </p:nvSpPr>
        <p:spPr>
          <a:xfrm xmlns:a="http://schemas.openxmlformats.org/drawingml/2006/main">
            <a:off x="548640" y="201168"/>
            <a:ext cx="960120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1300" b="1" kern="0" spc="150">
                <a:solidFill>
                  <a:schemeClr val="tx2"/>
                </a:solidFill>
                <a:latin typeface="Calibri"/>
                <a:ea typeface="Calibri"/>
                <a:cs typeface="Calibri"/>
              </a:defRPr>
            </a:lvl1pPr>
          </a:lstStyle>
          <a:p xmlns:a="http://schemas.openxmlformats.org/drawingml/2006/main">
            <a:pPr marL="0" indent="0" algn="l">
              <a:buNone/>
            </a:pPr>
            <a:r>
              <a:rPr sz="1300" b="1" spc="150">
                <a:solidFill>
                  <a:schemeClr val="tx2"/>
                </a:solidFill>
                <a:latin typeface="Calibri"/>
                <a:ea typeface="Calibri"/>
                <a:cs typeface="Calibri"/>
              </a:rPr>
              <a:t>KICKER</a:t>
            </a:r>
            <a:endParaRPr sz="1300"/>
          </a:p>
        </p:txBody>
      </p:sp>
      <p:sp>
        <p:nvSpPr>
          <p:cNvPr id="4" name="Text 1">
            <a:extLst xmlns:a="http://schemas.openxmlformats.org/drawingml/2006/main">
              <a:ext uri="{FF2B5EF4-FFF2-40B4-BE49-F238E27FC236}">
                <a16:creationId xmlns:a16="http://schemas.microsoft.com/office/drawing/2014/main" id="{3D024392-C08F-477A-A7FA-E976EFBA8458}"/>
              </a:ext>
            </a:extLst>
          </p:cNvPr>
          <p:cNvSpPr>
            <a:spLocks xmlns:a="http://schemas.openxmlformats.org/drawingml/2006/main" noGrp="1"/>
          </p:cNvSpPr>
          <p:nvPr>
            <p:ph type="body" idx="102" hasCustomPrompt="1"/>
          </p:nvPr>
        </p:nvSpPr>
        <p:spPr>
          <a:xfrm xmlns:a="http://schemas.openxmlformats.org/drawingml/2006/main">
            <a:off x="548640" y="512064"/>
            <a:ext cx="10515600" cy="5943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2600" b="1">
                <a:solidFill>
                  <a:schemeClr val="tx1"/>
                </a:solidFill>
                <a:latin typeface="Cambria"/>
                <a:ea typeface="Cambria"/>
                <a:cs typeface="Cambria"/>
              </a:defRPr>
            </a:lvl1pPr>
          </a:lstStyle>
          <a:p xmlns:a="http://schemas.openxmlformats.org/drawingml/2006/main">
            <a:pPr marL="0" indent="0" algn="l">
              <a:buNone/>
            </a:pPr>
            <a:r>
              <a:rPr sz="2600" b="1">
                <a:solidFill>
                  <a:schemeClr val="tx1"/>
                </a:solidFill>
                <a:latin typeface="Cambria"/>
                <a:ea typeface="Cambria"/>
                <a:cs typeface="Cambria"/>
              </a:rPr>
              <a:t>Title</a:t>
            </a:r>
            <a:endParaRPr sz="2600"/>
          </a:p>
        </p:txBody>
      </p:sp>
      <p:sp>
        <p:nvSpPr>
          <p:cNvPr id="5" name="Shape 1">
            <a:extLst xmlns:a="http://schemas.openxmlformats.org/drawingml/2006/main">
              <a:ext uri="{FF2B5EF4-FFF2-40B4-BE49-F238E27FC236}">
                <a16:creationId xmlns:a16="http://schemas.microsoft.com/office/drawing/2014/main" id="{80B08BF4-34A4-407B-AE77-33A313FA78FE}"/>
              </a:ext>
            </a:extLst>
          </p:cNvPr>
          <p:cNvSpPr>
            <a:spLocks xmlns:a="http://schemas.openxmlformats.org/drawingml/2006/main" noGrp="1"/>
          </p:cNvSpPr>
          <p:nvPr/>
        </p:nvSpPr>
        <p:spPr>
          <a:xfrm xmlns:a="http://schemas.openxmlformats.org/drawingml/2006/main">
            <a:off x="548640" y="6565392"/>
            <a:ext cx="11064240" cy="0"/>
          </a:xfrm>
          <a:prstGeom xmlns:a="http://schemas.openxmlformats.org/drawingml/2006/main" prst="line">
            <a:avLst/>
          </a:prstGeom>
          <a:noFill xmlns:a="http://schemas.openxmlformats.org/drawingml/2006/main"/>
          <a:ln xmlns:a="http://schemas.openxmlformats.org/drawingml/2006/main" w="9525">
            <a:solidFill>
              <a:schemeClr val="bg2"/>
            </a:solidFill>
            <a:prstDash val="solid"/>
          </a:ln>
        </p:spPr>
      </p:sp>
      <p:sp>
        <p:nvSpPr>
          <p:cNvPr id="6" name="Text 2">
            <a:extLst xmlns:a="http://schemas.openxmlformats.org/drawingml/2006/main">
              <a:ext uri="{FF2B5EF4-FFF2-40B4-BE49-F238E27FC236}">
                <a16:creationId xmlns:a16="http://schemas.microsoft.com/office/drawing/2014/main" id="{69827B13-C31D-4FAB-918E-AEFD8875C061}"/>
              </a:ext>
            </a:extLst>
          </p:cNvPr>
          <p:cNvSpPr>
            <a:spLocks xmlns:a="http://schemas.openxmlformats.org/drawingml/2006/main" noGrp="1"/>
          </p:cNvSpPr>
          <p:nvPr/>
        </p:nvSpPr>
        <p:spPr>
          <a:xfrm xmlns:a="http://schemas.openxmlformats.org/drawingml/2006/main">
            <a:off x="548640" y="6601968"/>
            <a:ext cx="7772400" cy="23774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A5A8"/>
                </a:solidFill>
                <a:latin typeface="Calibri"/>
                <a:ea typeface="Calibri"/>
                <a:cs typeface="Calibri"/>
              </a:rPr>
              <a:t>Team WTM  ·  Sprint 1 EDA findings</a:t>
            </a:r>
            <a:endParaRPr sz="900"/>
          </a:p>
        </p:txBody>
      </p:sp>
      <p:sp>
        <p:nvSpPr>
          <p:cNvPr id="25" name="Slide Number Placeholder 0">
            <a:extLst xmlns:a="http://schemas.openxmlformats.org/drawingml/2006/main">
              <a:ext uri="{FF2B5EF4-FFF2-40B4-BE49-F238E27FC236}">
                <a16:creationId xmlns:a16="http://schemas.microsoft.com/office/drawing/2014/main" id="{454EEB0A-2FB8-441F-956B-C8B82C5063D9}"/>
              </a:ext>
            </a:extLst>
          </p:cNvPr>
          <p:cNvSpPr>
            <a:spLocks xmlns:a="http://schemas.openxmlformats.org/drawingml/2006/main" noGrp="1"/>
          </p:cNvSpPr>
          <p:nvPr>
            <p:ph type="sldNum" idx="4294967295"/>
          </p:nvPr>
        </p:nvSpPr>
        <p:spPr>
          <a:xfrm xmlns:a="http://schemas.openxmlformats.org/drawingml/2006/main">
            <a:off x="11658600" y="658368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900">
                <a:solidFill>
                  <a:srgbClr val="8AA5A8"/>
                </a:solidFill>
                <a:latin typeface="Calibri"/>
                <a:ea typeface="Calibri"/>
                <a:cs typeface="Calibri"/>
              </a:defRPr>
            </a:lvl1pPr>
          </a:lstStyle>
          <a:p xmlns:a="http://schemas.openxmlformats.org/drawingml/2006/main">
            <a:pPr algn="l">
              <a:buNone/>
            </a:pPr>
            <a:fld id="{F7021451-1387-4CA6-816F-3879F97B5CBC}" type="slidenum">
              <a:rPr b="0"/>
              <a:t>‹#›</a:t>
            </a:fld>
            <a:endParaRPr/>
          </a:p>
        </p:txBody>
      </p:sp>
    </p:spTree>
  </p:cSld>
</p:sldLayout>
</file>

<file path=ppt/slideLayouts/slideLayout4.xml><?xml version="1.0" encoding="utf-8"?>
<p:sldLayout xmlns:p="http://schemas.openxmlformats.org/presentationml/2006/main">
  <p:cSld name="WTM clear canvas">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e430953e324774" /><Relationship Type="http://schemas.openxmlformats.org/officeDocument/2006/relationships/slideLayout" Target="/ppt/slideLayouts/slideLayout1.xml" Id="R8efad92c4adf4582" /><Relationship Type="http://schemas.openxmlformats.org/officeDocument/2006/relationships/slideLayout" Target="/ppt/slideLayouts/slideLayout2.xml" Id="R944205a646964af1" /><Relationship Type="http://schemas.openxmlformats.org/officeDocument/2006/relationships/slideLayout" Target="/ppt/slideLayouts/slideLayout3.xml" Id="Rff8692d2afdb41ab"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bf69496f559a48fd" /><Relationship Type="http://schemas.openxmlformats.org/officeDocument/2006/relationships/slideLayout" Target="/ppt/slideLayouts/slideLayout4.xml" Id="Rdec0a5b5238d418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8113A7A5-5C02-41E7-AA85-A1242EB244E6}"/>
              </a:ext>
            </a:extLst>
          </p:cNvPr>
          <p:cNvSpPr>
            <a:spLocks xmlns:a="http://schemas.openxmlformats.org/drawingml/2006/main" noGrp="1"/>
          </p:cNvSpPr>
          <p:nvPr>
            <p:ph type="sldNum" idx="4294967295"/>
          </p:nvPr>
        </p:nvSpPr>
        <p:spPr>
          <a:xfrm xmlns:a="http://schemas.openxmlformats.org/drawingml/2006/main">
            <a:off x="11658600" y="6355080"/>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7FD8C8"/>
                </a:solidFill>
                <a:latin typeface="Calibri"/>
                <a:ea typeface="Calibri"/>
                <a:cs typeface="Calibri"/>
              </a:defRPr>
            </a:lvl1pPr>
          </a:lstStyle>
          <a:p xmlns:a="http://schemas.openxmlformats.org/drawingml/2006/main">
            <a:pPr algn="l">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fad92c4adf4582"/>
    <p:sldLayoutId xmlns:r="http://schemas.openxmlformats.org/officeDocument/2006/relationships" id="2147483650" r:id="R944205a646964af1"/>
    <p:sldLayoutId xmlns:r="http://schemas.openxmlformats.org/officeDocument/2006/relationships" id="2147483651" r:id="Rff8692d2afdb41a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WTM clear master">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3" r:id="Rdec0a5b5238d4184"/>
  </p:sldLayoutIdLst>
</p:sldMaster>
</file>

<file path=ppt/slideMasters/theme/theme2.xml><?xml version="1.0" encoding="utf-8"?>
<a:theme xmlns:a="http://schemas.openxmlformats.org/drawingml/2006/main" name="WTM Water Table">
  <a:themeElements>
    <a:clrScheme name="WTM Water Table">
      <a:dk1>
        <a:srgbClr val="16262A"/>
      </a:dk1>
      <a:lt1>
        <a:srgbClr val="FFFFFF"/>
      </a:lt1>
      <a:dk2>
        <a:srgbClr val="028090"/>
      </a:dk2>
      <a:lt2>
        <a:srgbClr val="EAF6F6"/>
      </a:lt2>
      <a:accent1>
        <a:srgbClr val="02C39A"/>
      </a:accent1>
      <a:accent2>
        <a:srgbClr val="00A896"/>
      </a:accent2>
      <a:accent3>
        <a:srgbClr val="F2B134"/>
      </a:accent3>
      <a:accent4>
        <a:srgbClr val="D7263D"/>
      </a:accent4>
      <a:accent5>
        <a:srgbClr val="7FD8C8"/>
      </a:accent5>
      <a:accent6>
        <a:srgbClr val="0B4F56"/>
      </a:accent6>
      <a:hlink>
        <a:srgbClr val="02C39A"/>
      </a:hlink>
      <a:folHlink>
        <a:srgbClr val="00A896"/>
      </a:folHlink>
    </a:clrScheme>
    <a:fontScheme name="WTM Water Tabl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TM Water Tabl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WTM Water Table">
  <a:themeElements>
    <a:clrScheme name="WTM Water Table">
      <a:dk1>
        <a:srgbClr val="16262A"/>
      </a:dk1>
      <a:lt1>
        <a:srgbClr val="FFFFFF"/>
      </a:lt1>
      <a:dk2>
        <a:srgbClr val="028090"/>
      </a:dk2>
      <a:lt2>
        <a:srgbClr val="EAF6F6"/>
      </a:lt2>
      <a:accent1>
        <a:srgbClr val="02C39A"/>
      </a:accent1>
      <a:accent2>
        <a:srgbClr val="00A896"/>
      </a:accent2>
      <a:accent3>
        <a:srgbClr val="F2B134"/>
      </a:accent3>
      <a:accent4>
        <a:srgbClr val="D7263D"/>
      </a:accent4>
      <a:accent5>
        <a:srgbClr val="7FD8C8"/>
      </a:accent5>
      <a:accent6>
        <a:srgbClr val="0B4F56"/>
      </a:accent6>
      <a:hlink>
        <a:srgbClr val="02C39A"/>
      </a:hlink>
      <a:folHlink>
        <a:srgbClr val="00A896"/>
      </a:folHlink>
    </a:clrScheme>
    <a:fontScheme name="WTM Water Tabl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TM Water Tabl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4.xml" Id="R13d1078ded8b42a4" /><Relationship Type="http://schemas.openxmlformats.org/officeDocument/2006/relationships/image" Target="/ppt/media/image.png" Id="R4c92696e4cde4dde" /><Relationship Type="http://schemas.openxmlformats.org/officeDocument/2006/relationships/notesSlide" Target="/ppt/notesSlides/notesSlide1.xml" Id="R5053db94a25043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a85e83d571164441" /><Relationship Type="http://schemas.openxmlformats.org/officeDocument/2006/relationships/chart" Target="/ppt/slides/charts/chart1.xml" Id="Rb1ae7b0970e5418b" /><Relationship Type="http://schemas.openxmlformats.org/officeDocument/2006/relationships/notesSlide" Target="/ppt/notesSlides/notesSlide2.xml" Id="R3fd023d3233f4f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3e99476a1d6d4981" /><Relationship Type="http://schemas.openxmlformats.org/officeDocument/2006/relationships/chart" Target="/ppt/slides/charts/chart2.xml" Id="Re3bea30e80014dde" /><Relationship Type="http://schemas.openxmlformats.org/officeDocument/2006/relationships/notesSlide" Target="/ppt/notesSlides/notesSlide3.xml" Id="Rf09042f53c3848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c33ca1ed1cd541df" /><Relationship Type="http://schemas.openxmlformats.org/officeDocument/2006/relationships/chart" Target="/ppt/slides/charts/chart3.xml" Id="R8e02effe66a24043" /><Relationship Type="http://schemas.openxmlformats.org/officeDocument/2006/relationships/chart" Target="/ppt/slides/charts/chart4.xml" Id="R88f0335cf49a4e1a" /><Relationship Type="http://schemas.openxmlformats.org/officeDocument/2006/relationships/notesSlide" Target="/ppt/notesSlides/notesSlide4.xml" Id="Rf9cd0a0b4a5e41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d6a34d57a6354839" /><Relationship Type="http://schemas.openxmlformats.org/officeDocument/2006/relationships/notesSlide" Target="/ppt/notesSlides/notesSlide5.xml" Id="Ra1eae3653e3843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28a8d00b43764bf6" /><Relationship Type="http://schemas.openxmlformats.org/officeDocument/2006/relationships/chart" Target="/ppt/slides/charts/chart5.xml" Id="R4150ec0fdfc44f46" /><Relationship Type="http://schemas.openxmlformats.org/officeDocument/2006/relationships/notesSlide" Target="/ppt/notesSlides/notesSlide6.xml" Id="R95780fe0b0564d6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columns</c:v>
          </c:tx>
          <c:spPr>
            <a:solidFill xmlns:a="http://schemas.openxmlformats.org/drawingml/2006/main">
              <a:srgbClr val="55777E"/>
            </a:solidFill>
          </c:spPr>
          <c:invertIfNegative val="0"/>
          <c:cat>
            <c:strRef>
              <c:f>'Chart Data'!$A$2:$A$7</c:f>
              <c:strCache>
                <c:ptCount val="6"/>
                <c:pt idx="0">
                  <c:v>Meaning unclear (num_private)</c:v>
                </c:pt>
                <c:pt idx="1">
                  <c:v>Record details</c:v>
                </c:pt>
                <c:pt idx="2">
                  <c:v>Management and payment</c:v>
                </c:pt>
                <c:pt idx="3">
                  <c:v>Water source, amount and quality</c:v>
                </c:pt>
                <c:pt idx="4">
                  <c:v>Construction and pump type</c:v>
                </c:pt>
                <c:pt idx="5">
                  <c:v>Location and population</c:v>
                </c:pt>
              </c:strCache>
            </c:strRef>
          </c:cat>
          <c:val>
            <c:numRef>
              <c:f>'Chart Data'!$B$2:$B$7</c:f>
              <c:numCache>
                <c:formatCode>0</c:formatCode>
                <c:ptCount val="6"/>
                <c:pt idx="0">
                  <c:v>1</c:v>
                </c:pt>
                <c:pt idx="1">
                  <c:v>4</c:v>
                </c:pt>
                <c:pt idx="2">
                  <c:v>8</c:v>
                </c:pt>
                <c:pt idx="3">
                  <c:v>8</c:v>
                </c:pt>
                <c:pt idx="4">
                  <c:v>8</c:v>
                </c:pt>
                <c:pt idx="5">
                  <c:v>11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75" b="1">
                  <a:solidFill>
                    <a:srgbClr val="55777E"/>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6262A"/>
                </a:solidFill>
                <a:latin typeface="Calibri"/>
                <a:ea typeface="Calibri"/>
                <a:cs typeface="Calibri"/>
              </a:defRPr>
            </a:pPr>
          </a:p>
        </c:txPr>
        <c:crossAx val="48672768"/>
      </c:catAx>
      <c:valAx>
        <c:axId val="48672768"/>
        <c:scaling>
          <c:orientation val="minMax"/>
          <c:max val="12"/>
          <c:min val="0"/>
        </c:scaling>
        <c:delete val="0"/>
        <c:axPos val="b"/>
        <c:majorGridlines>
          <c:spPr>
            <a:ln xmlns:a="http://schemas.openxmlformats.org/drawingml/2006/main" w="6668">
              <a:solidFill>
                <a:srgbClr val="D7E8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4C686E"/>
                </a:solidFill>
                <a:latin typeface="Calibri"/>
                <a:ea typeface="Calibri"/>
                <a:cs typeface="Calibri"/>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Unknown construction year</c:v>
          </c:tx>
          <c:spPr>
            <a:solidFill xmlns:a="http://schemas.openxmlformats.org/drawingml/2006/main">
              <a:srgbClr val="008F78"/>
            </a:solidFill>
          </c:spPr>
          <c:invertIfNegative val="0"/>
          <c:dPt>
            <c:idx val="0"/>
            <c:invertIfNegative val="0"/>
            <c:spPr>
              <a:solidFill xmlns:a="http://schemas.openxmlformats.org/drawingml/2006/main">
                <a:srgbClr val="C6283E"/>
              </a:solidFill>
            </c:spPr>
          </c:dPt>
          <c:dPt>
            <c:idx val="1"/>
            <c:invertIfNegative val="0"/>
            <c:spPr>
              <a:solidFill xmlns:a="http://schemas.openxmlformats.org/drawingml/2006/main">
                <a:srgbClr val="B77900"/>
              </a:solidFill>
            </c:spPr>
          </c:dPt>
          <c:dPt>
            <c:idx val="2"/>
            <c:invertIfNegative val="0"/>
            <c:spPr>
              <a:solidFill xmlns:a="http://schemas.openxmlformats.org/drawingml/2006/main">
                <a:srgbClr val="008F78"/>
              </a:solidFill>
            </c:spPr>
          </c:dPt>
          <c:cat>
            <c:strRef>
              <c:f>'Chart Data'!$A$2:$A$4</c:f>
              <c:strCache>
                <c:ptCount val="3"/>
                <c:pt idx="0">
                  <c:v>Not working</c:v>
                </c:pt>
                <c:pt idx="1">
                  <c:v>Needs repair</c:v>
                </c:pt>
                <c:pt idx="2">
                  <c:v>Working</c:v>
                </c:pt>
              </c:strCache>
            </c:strRef>
          </c:cat>
          <c:val>
            <c:numRef>
              <c:f>'Chart Data'!$B$2:$B$4</c:f>
              <c:numCache>
                <c:formatCode>0%</c:formatCode>
                <c:ptCount val="3"/>
                <c:pt idx="0">
                  <c:v>0.366500175</c:v>
                </c:pt>
                <c:pt idx="1">
                  <c:v>0.414408154</c:v>
                </c:pt>
                <c:pt idx="2">
                  <c:v>0.327195511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16262A"/>
                  </a:solidFill>
                  <a:latin typeface="Calibri"/>
                  <a:ea typeface="Calibri"/>
                  <a:cs typeface="Calibri"/>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75">
                <a:solidFill>
                  <a:srgbClr val="16262A"/>
                </a:solidFill>
                <a:latin typeface="Calibri"/>
                <a:ea typeface="Calibri"/>
                <a:cs typeface="Calibri"/>
              </a:defRPr>
            </a:pPr>
          </a:p>
        </c:txPr>
        <c:crossAx val="48672768"/>
      </c:catAx>
      <c:valAx>
        <c:axId val="48672768"/>
        <c:scaling>
          <c:orientation val="minMax"/>
          <c:max val="0.6"/>
          <c:min val="0"/>
        </c:scaling>
        <c:delete val="0"/>
        <c:axPos val="b"/>
        <c:majorGridlines>
          <c:spPr>
            <a:ln xmlns:a="http://schemas.openxmlformats.org/drawingml/2006/main" w="6668">
              <a:solidFill>
                <a:srgbClr val="D7E8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4C686E"/>
                </a:solidFill>
                <a:latin typeface="Calibri"/>
                <a:ea typeface="Calibri"/>
                <a:cs typeface="Calibri"/>
              </a:defRPr>
            </a:pPr>
          </a:p>
        </c:txPr>
        <c:crossAx val="48650112"/>
        <c:crossBetween val="between"/>
        <c:majorUnit val="0.1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Working</c:v>
          </c:tx>
          <c:spPr>
            <a:solidFill xmlns:a="http://schemas.openxmlformats.org/drawingml/2006/main">
              <a:srgbClr val="008F78"/>
            </a:solidFill>
          </c:spPr>
          <c:invertIfNegative val="0"/>
          <c:dLbls>
            <c:dLbl>
              <c:idx val="0"/>
              <c:tx>
                <c:rich>
                  <a:bodyPr xmlns:a="http://schemas.openxmlformats.org/drawingml/2006/main"/>
                  <a:lstStyle xmlns:a="http://schemas.openxmlformats.org/drawingml/2006/main"/>
                  <a:p xmlns:a="http://schemas.openxmlformats.org/drawingml/2006/main">
                    <a:r>
                      <a:rPr sz="1875" b="1">
                        <a:solidFill>
                          <a:srgbClr val="FFFFFF"/>
                        </a:solidFill>
                      </a:rPr>
                      <a:t>65.2%</a:t>
                    </a:r>
                  </a:p>
                </c:rich>
              </c:tx>
              <c:txPr>
                <a:bodyPr xmlns:a="http://schemas.openxmlformats.org/drawingml/2006/main" anchorCtr="1"/>
                <a:lstStyle xmlns:a="http://schemas.openxmlformats.org/drawingml/2006/main"/>
                <a:p xmlns:a="http://schemas.openxmlformats.org/drawingml/2006/main">
                  <a:pPr>
                    <a:defRPr sz="1875" b="1">
                      <a:solidFill>
                        <a:srgbClr val="FFFFFF"/>
                      </a:solidFill>
                    </a:defRPr>
                  </a:pPr>
                </a:p>
              </c:txPr>
              <c:dLblPos val="ctr"/>
              <c:showVal val="1"/>
            </c:dLbl>
            <c:showLegendKey val="0"/>
            <c:showVal val="0"/>
            <c:showCatName val="0"/>
            <c:showSerName val="0"/>
            <c:showPercent val="0"/>
            <c:showBubbleSize val="0"/>
            <c:showLeaderLines val="0"/>
          </c:dLbls>
          <c:cat>
            <c:strRef>
              <c:f>'Chart Data'!$A$2:$A$3</c:f>
              <c:strCache>
                <c:ptCount val="2"/>
                <c:pt idx="0">
                  <c:v>Enough water
n=33,186</c:v>
                </c:pt>
                <c:pt idx="1">
                  <c:v>Dry
n=6,246</c:v>
                </c:pt>
              </c:strCache>
            </c:strRef>
          </c:cat>
          <c:val>
            <c:numRef>
              <c:f>'Chart Data'!$B$2:$B$3</c:f>
              <c:numCache>
                <c:formatCode>0%</c:formatCode>
                <c:ptCount val="2"/>
                <c:pt idx="0">
                  <c:v>0.652323269</c:v>
                </c:pt>
                <c:pt idx="1">
                  <c:v>0.025136087</c:v>
                </c:pt>
              </c:numCache>
            </c:numRef>
          </c:val>
        </c:ser>
        <c:ser>
          <c:idx val="1"/>
          <c:order val="1"/>
          <c:tx>
            <c:v>Needs repair</c:v>
          </c:tx>
          <c:spPr>
            <a:solidFill xmlns:a="http://schemas.openxmlformats.org/drawingml/2006/main">
              <a:srgbClr val="B77900"/>
            </a:solidFill>
          </c:spPr>
          <c:invertIfNegative val="0"/>
          <c:dLbls>
            <c:showLegendKey val="0"/>
            <c:showVal val="0"/>
            <c:showCatName val="0"/>
            <c:showSerName val="0"/>
            <c:showPercent val="0"/>
            <c:showBubbleSize val="0"/>
            <c:showLeaderLines val="0"/>
          </c:dLbls>
          <c:cat>
            <c:strRef>
              <c:f>'Chart Data'!$C$2:$C$3</c:f>
              <c:strCache>
                <c:ptCount val="2"/>
                <c:pt idx="0">
                  <c:v>Enough water
n=33,186</c:v>
                </c:pt>
                <c:pt idx="1">
                  <c:v>Dry
n=6,246</c:v>
                </c:pt>
              </c:strCache>
            </c:strRef>
          </c:cat>
          <c:val>
            <c:numRef>
              <c:f>'Chart Data'!$D$2:$D$3</c:f>
              <c:numCache>
                <c:formatCode>0%</c:formatCode>
                <c:ptCount val="2"/>
                <c:pt idx="0">
                  <c:v>0.072319653</c:v>
                </c:pt>
                <c:pt idx="1">
                  <c:v>0.005923791</c:v>
                </c:pt>
              </c:numCache>
            </c:numRef>
          </c:val>
        </c:ser>
        <c:ser>
          <c:idx val="2"/>
          <c:order val="2"/>
          <c:tx>
            <c:v>Not working</c:v>
          </c:tx>
          <c:spPr>
            <a:solidFill xmlns:a="http://schemas.openxmlformats.org/drawingml/2006/main">
              <a:srgbClr val="C6283E"/>
            </a:solidFill>
          </c:spPr>
          <c:invertIfNegative val="0"/>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FFFFFF"/>
                    </a:solidFill>
                  </a:defRPr>
                </a:pPr>
              </a:p>
            </c:txPr>
            <c:dLblPos val="ctr"/>
            <c:showLegendKey val="0"/>
            <c:showVal val="1"/>
            <c:showCatName val="0"/>
            <c:showSerName val="0"/>
            <c:showPercent val="0"/>
            <c:showBubbleSize val="0"/>
            <c:showLeaderLines val="0"/>
          </c:dLbls>
          <c:cat>
            <c:strRef>
              <c:f>'Chart Data'!$E$2:$E$3</c:f>
              <c:strCache>
                <c:ptCount val="2"/>
                <c:pt idx="0">
                  <c:v>Enough water
n=33,186</c:v>
                </c:pt>
                <c:pt idx="1">
                  <c:v>Dry
n=6,246</c:v>
                </c:pt>
              </c:strCache>
            </c:strRef>
          </c:cat>
          <c:val>
            <c:numRef>
              <c:f>'Chart Data'!$F$2:$F$3</c:f>
              <c:numCache>
                <c:formatCode>0%</c:formatCode>
                <c:ptCount val="2"/>
                <c:pt idx="0">
                  <c:v>0.275357078</c:v>
                </c:pt>
                <c:pt idx="1">
                  <c:v>0.968940122</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6262A"/>
                </a:solidFill>
                <a:latin typeface="Calibri"/>
                <a:ea typeface="Calibri"/>
                <a:cs typeface="Calibri"/>
              </a:defRPr>
            </a:pPr>
          </a:p>
        </c:txPr>
        <c:crossAx val="48672768"/>
      </c:catAx>
      <c:valAx>
        <c:axId val="48672768"/>
        <c:scaling>
          <c:orientation val="minMax"/>
          <c:max val="1"/>
          <c:min val="0"/>
        </c:scaling>
        <c:delete val="0"/>
        <c:axPos val="b"/>
        <c:majorGridlines>
          <c:spPr>
            <a:ln xmlns:a="http://schemas.openxmlformats.org/drawingml/2006/main" w="6668">
              <a:solidFill>
                <a:srgbClr val="D7E8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4C686E"/>
                </a:solidFill>
                <a:latin typeface="Calibri"/>
                <a:ea typeface="Calibri"/>
                <a:cs typeface="Calibri"/>
              </a:defRPr>
            </a:pPr>
          </a:p>
        </c:txPr>
        <c:crossAx val="48650112"/>
        <c:crossBetween val="between"/>
        <c:majorUnit val="0.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Working share</c:v>
          </c:tx>
          <c:spPr>
            <a:solidFill xmlns:a="http://schemas.openxmlformats.org/drawingml/2006/main">
              <a:srgbClr val="008F78"/>
            </a:solidFill>
          </c:spPr>
          <c:invertIfNegative val="0"/>
          <c:cat>
            <c:strRef>
              <c:f>'Chart Data'!$A$2:$A$6</c:f>
              <c:strCache>
                <c:ptCount val="5"/>
                <c:pt idx="0">
                  <c:v>0-5</c:v>
                </c:pt>
                <c:pt idx="1">
                  <c:v>6-10</c:v>
                </c:pt>
                <c:pt idx="2">
                  <c:v>11-20</c:v>
                </c:pt>
                <c:pt idx="3">
                  <c:v>21-30</c:v>
                </c:pt>
                <c:pt idx="4">
                  <c:v>31+</c:v>
                </c:pt>
              </c:strCache>
            </c:strRef>
          </c:cat>
          <c:val>
            <c:numRef>
              <c:f>'Chart Data'!$B$2:$B$6</c:f>
              <c:numCache>
                <c:formatCode>0%</c:formatCode>
                <c:ptCount val="5"/>
                <c:pt idx="0">
                  <c:v>0.715305245</c:v>
                </c:pt>
                <c:pt idx="1">
                  <c:v>0.612759908</c:v>
                </c:pt>
                <c:pt idx="2">
                  <c:v>0.576142132</c:v>
                </c:pt>
                <c:pt idx="3">
                  <c:v>0.442748092</c:v>
                </c:pt>
                <c:pt idx="4">
                  <c:v>0.314236111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008F78"/>
                  </a:solidFill>
                  <a:latin typeface="Calibri"/>
                  <a:ea typeface="Calibri"/>
                  <a:cs typeface="Calibri"/>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4C686E"/>
                    </a:solidFill>
                    <a:latin typeface="Calibri"/>
                    <a:ea typeface="Calibri"/>
                    <a:cs typeface="Calibri"/>
                  </a:rPr>
                  <a:t>Age at recording (years)</a:t>
                </a:r>
              </a:p>
            </c:rich>
          </c:tx>
          <c:overlay val="0"/>
          <c:txPr>
            <a:bodyPr xmlns:a="http://schemas.openxmlformats.org/drawingml/2006/main" anchorCtr="1"/>
            <a:lstStyle xmlns:a="http://schemas.openxmlformats.org/drawingml/2006/main"/>
            <a:p xmlns:a="http://schemas.openxmlformats.org/drawingml/2006/main">
              <a:pPr>
                <a:defRPr sz="1500">
                  <a:solidFill>
                    <a:srgbClr val="4C686E"/>
                  </a:solidFill>
                  <a:latin typeface="Calibri"/>
                  <a:ea typeface="Calibri"/>
                  <a:cs typeface="Calibri"/>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6262A"/>
                </a:solidFill>
                <a:latin typeface="Calibri"/>
                <a:ea typeface="Calibri"/>
                <a:cs typeface="Calibri"/>
              </a:defRPr>
            </a:pPr>
          </a:p>
        </c:txPr>
        <c:crossAx val="48672768"/>
      </c:catAx>
      <c:valAx>
        <c:axId val="48672768"/>
        <c:scaling>
          <c:orientation val="minMax"/>
          <c:max val="0.8"/>
          <c:min val="0"/>
        </c:scaling>
        <c:delete val="0"/>
        <c:axPos val="l"/>
        <c:majorGridlines>
          <c:spPr>
            <a:ln xmlns:a="http://schemas.openxmlformats.org/drawingml/2006/main" w="6668">
              <a:solidFill>
                <a:srgbClr val="D7E8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4C686E"/>
                </a:solidFill>
                <a:latin typeface="Calibri"/>
                <a:ea typeface="Calibri"/>
                <a:cs typeface="Calibri"/>
              </a:defRPr>
            </a:pPr>
          </a:p>
        </c:txPr>
        <c:crossAx val="48650112"/>
        <c:crossBetween val="between"/>
        <c:majorUnit val="0.2"/>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Share of records</c:v>
          </c:tx>
          <c:spPr>
            <a:solidFill xmlns:a="http://schemas.openxmlformats.org/drawingml/2006/main">
              <a:srgbClr val="008F78"/>
            </a:solidFill>
          </c:spPr>
          <c:invertIfNegative val="0"/>
          <c:dPt>
            <c:idx val="0"/>
            <c:invertIfNegative val="0"/>
            <c:spPr>
              <a:solidFill xmlns:a="http://schemas.openxmlformats.org/drawingml/2006/main">
                <a:srgbClr val="C6283E"/>
              </a:solidFill>
            </c:spPr>
          </c:dPt>
          <c:dPt>
            <c:idx val="1"/>
            <c:invertIfNegative val="0"/>
            <c:spPr>
              <a:solidFill xmlns:a="http://schemas.openxmlformats.org/drawingml/2006/main">
                <a:srgbClr val="B77900"/>
              </a:solidFill>
            </c:spPr>
          </c:dPt>
          <c:dPt>
            <c:idx val="2"/>
            <c:invertIfNegative val="0"/>
            <c:spPr>
              <a:solidFill xmlns:a="http://schemas.openxmlformats.org/drawingml/2006/main">
                <a:srgbClr val="008F78"/>
              </a:solidFill>
            </c:spPr>
          </c:dPt>
          <c:cat>
            <c:strRef>
              <c:f>'Chart Data'!$A$2:$A$4</c:f>
              <c:strCache>
                <c:ptCount val="3"/>
                <c:pt idx="0">
                  <c:v>Not working</c:v>
                </c:pt>
                <c:pt idx="1">
                  <c:v>Needs repair</c:v>
                </c:pt>
                <c:pt idx="2">
                  <c:v>Working</c:v>
                </c:pt>
              </c:strCache>
            </c:strRef>
          </c:cat>
          <c:val>
            <c:numRef>
              <c:f>'Chart Data'!$B$2:$B$4</c:f>
              <c:numCache>
                <c:formatCode>0%</c:formatCode>
                <c:ptCount val="3"/>
                <c:pt idx="0">
                  <c:v>0.384242424</c:v>
                </c:pt>
                <c:pt idx="1">
                  <c:v>0.072676768</c:v>
                </c:pt>
                <c:pt idx="2">
                  <c:v>0.543080808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16262A"/>
                  </a:solidFill>
                  <a:latin typeface="Calibri"/>
                  <a:ea typeface="Calibri"/>
                  <a:cs typeface="Calibri"/>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950">
                <a:solidFill>
                  <a:srgbClr val="16262A"/>
                </a:solidFill>
                <a:latin typeface="Calibri"/>
                <a:ea typeface="Calibri"/>
                <a:cs typeface="Calibri"/>
              </a:defRPr>
            </a:pPr>
          </a:p>
        </c:txPr>
        <c:crossAx val="48672768"/>
      </c:catAx>
      <c:valAx>
        <c:axId val="48672768"/>
        <c:scaling>
          <c:orientation val="minMax"/>
          <c:max val="0.7"/>
          <c:min val="0"/>
        </c:scaling>
        <c:delete val="1"/>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4C686E"/>
                </a:solidFill>
                <a:latin typeface="Calibri"/>
                <a:ea typeface="Calibri"/>
                <a:cs typeface="Calibri"/>
              </a:defRPr>
            </a:pPr>
          </a:p>
        </c:txPr>
        <c:crossAx val="48650112"/>
        <c:crossBetween val="between"/>
        <c:majorUnit val="0.17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EAF6F6"/>
        </a:solidFill>
      </p:bgPr>
    </p:bg>
    <p:spTree>
      <p:nvGrpSpPr>
        <p:cNvPr id="1" name=""/>
        <p:cNvGrpSpPr/>
        <p:nvPr/>
      </p:nvGrpSpPr>
      <p:grpSpPr>
        <a:xfrm xmlns:a="http://schemas.openxmlformats.org/drawingml/2006/main"/>
      </p:grpSpPr>
      <p:sp>
        <p:nvSpPr>
          <p:cNvPr id="9" name="school">
            <a:extLst xmlns:a="http://schemas.openxmlformats.org/drawingml/2006/main">
              <a:ext uri="{FF2B5EF4-FFF2-40B4-BE49-F238E27FC236}">
                <a16:creationId xmlns:a16="http://schemas.microsoft.com/office/drawing/2014/main" id="{D733F26B-151E-4C51-AEA2-14C085DFF245}"/>
              </a:ext>
            </a:extLst>
          </p:cNvPr>
          <p:cNvSpPr>
            <a:spLocks xmlns:a="http://schemas.openxmlformats.org/drawingml/2006/main" noGrp="1"/>
          </p:cNvSpPr>
          <p:nvPr/>
        </p:nvSpPr>
        <p:spPr>
          <a:xfrm xmlns:a="http://schemas.openxmlformats.org/drawingml/2006/main">
            <a:off x="609600" y="5238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28090"/>
                </a:solidFill>
                <a:latin typeface="Calibri"/>
                <a:ea typeface="Calibri"/>
                <a:cs typeface="Calibri"/>
              </a:defRPr>
            </a:defPPr>
          </a:lstStyle>
          <a:p xmlns:a="http://schemas.openxmlformats.org/drawingml/2006/main">
            <a:pPr>
              <a:defRPr sz="2175" b="1">
                <a:solidFill>
                  <a:srgbClr val="028090"/>
                </a:solidFill>
                <a:latin typeface="Calibri"/>
                <a:ea typeface="Calibri"/>
                <a:cs typeface="Calibri"/>
              </a:defRPr>
            </a:pPr>
            <a:r>
              <a:rPr sz="2175" b="1">
                <a:solidFill>
                  <a:srgbClr val="028090"/>
                </a:solidFill>
                <a:latin typeface="Calibri"/>
                <a:ea typeface="Calibri"/>
                <a:cs typeface="Calibri"/>
              </a:rPr>
              <a:t>ReDI School</a:t>
            </a:r>
          </a:p>
        </p:txBody>
      </p:sp>
      <p:sp>
        <p:nvSpPr>
          <p:cNvPr id="2" name="course">
            <a:extLst xmlns:a="http://schemas.openxmlformats.org/drawingml/2006/main">
              <a:ext uri="{FF2B5EF4-FFF2-40B4-BE49-F238E27FC236}">
                <a16:creationId xmlns:a16="http://schemas.microsoft.com/office/drawing/2014/main" id="{EF2C92C2-FCD6-4674-BCD6-8468FD475D51}"/>
              </a:ext>
            </a:extLst>
          </p:cNvPr>
          <p:cNvSpPr>
            <a:spLocks xmlns:a="http://schemas.openxmlformats.org/drawingml/2006/main" noGrp="1"/>
          </p:cNvSpPr>
          <p:nvPr/>
        </p:nvSpPr>
        <p:spPr>
          <a:xfrm xmlns:a="http://schemas.openxmlformats.org/drawingml/2006/main">
            <a:off x="609600" y="952500"/>
            <a:ext cx="5238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4C686E"/>
                </a:solidFill>
                <a:latin typeface="Calibri"/>
                <a:ea typeface="Calibri"/>
                <a:cs typeface="Calibri"/>
              </a:defRPr>
            </a:defPPr>
          </a:lstStyle>
          <a:p xmlns:a="http://schemas.openxmlformats.org/drawingml/2006/main">
            <a:pPr>
              <a:defRPr sz="1725" b="0">
                <a:solidFill>
                  <a:srgbClr val="4C686E"/>
                </a:solidFill>
                <a:latin typeface="Calibri"/>
                <a:ea typeface="Calibri"/>
                <a:cs typeface="Calibri"/>
              </a:defRPr>
            </a:pPr>
            <a:r>
              <a:rPr sz="1725" b="0">
                <a:solidFill>
                  <a:srgbClr val="4C686E"/>
                </a:solidFill>
                <a:latin typeface="Calibri"/>
                <a:ea typeface="Calibri"/>
                <a:cs typeface="Calibri"/>
              </a:rPr>
              <a:t>Data Circle 2026</a:t>
            </a:r>
          </a:p>
        </p:txBody>
      </p:sp>
      <p:sp>
        <p:nvSpPr>
          <p:cNvPr id="3" name="title">
            <a:extLst xmlns:a="http://schemas.openxmlformats.org/drawingml/2006/main">
              <a:ext uri="{FF2B5EF4-FFF2-40B4-BE49-F238E27FC236}">
                <a16:creationId xmlns:a16="http://schemas.microsoft.com/office/drawing/2014/main" id="{1C7155EE-2CB3-40AE-BB15-B236489BB94F}"/>
              </a:ext>
            </a:extLst>
          </p:cNvPr>
          <p:cNvSpPr>
            <a:spLocks xmlns:a="http://schemas.openxmlformats.org/drawingml/2006/main" noGrp="1"/>
          </p:cNvSpPr>
          <p:nvPr/>
        </p:nvSpPr>
        <p:spPr>
          <a:xfrm xmlns:a="http://schemas.openxmlformats.org/drawingml/2006/main">
            <a:off x="609600" y="1847850"/>
            <a:ext cx="571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6262A"/>
                </a:solidFill>
                <a:latin typeface="Cambria"/>
                <a:ea typeface="Cambria"/>
                <a:cs typeface="Cambria"/>
              </a:defRPr>
            </a:defPPr>
          </a:lstStyle>
          <a:p xmlns:a="http://schemas.openxmlformats.org/drawingml/2006/main">
            <a:pPr>
              <a:defRPr sz="4800" b="1">
                <a:solidFill>
                  <a:srgbClr val="16262A"/>
                </a:solidFill>
                <a:latin typeface="Cambria"/>
                <a:ea typeface="Cambria"/>
                <a:cs typeface="Cambria"/>
              </a:defRPr>
            </a:pPr>
            <a:r>
              <a:rPr sz="4800" b="1">
                <a:solidFill>
                  <a:srgbClr val="16262A"/>
                </a:solidFill>
                <a:latin typeface="Cambria"/>
                <a:ea typeface="Cambria"/>
                <a:cs typeface="Cambria"/>
              </a:rPr>
              <a:t>Water pumps</a:t>
            </a:r>
          </a:p>
          <a:p xmlns:a="http://schemas.openxmlformats.org/drawingml/2006/main">
            <a:pPr>
              <a:defRPr sz="4800" b="1">
                <a:solidFill>
                  <a:srgbClr val="16262A"/>
                </a:solidFill>
                <a:latin typeface="Cambria"/>
                <a:ea typeface="Cambria"/>
                <a:cs typeface="Cambria"/>
              </a:defRPr>
            </a:pPr>
            <a:r>
              <a:rPr sz="4800" b="1">
                <a:solidFill>
                  <a:srgbClr val="16262A"/>
                </a:solidFill>
                <a:latin typeface="Cambria"/>
                <a:ea typeface="Cambria"/>
                <a:cs typeface="Cambria"/>
              </a:rPr>
              <a:t>in Tanzania</a:t>
            </a:r>
          </a:p>
        </p:txBody>
      </p:sp>
      <p:sp>
        <p:nvSpPr>
          <p:cNvPr id="4" name="title-subline">
            <a:extLst xmlns:a="http://schemas.openxmlformats.org/drawingml/2006/main">
              <a:ext uri="{FF2B5EF4-FFF2-40B4-BE49-F238E27FC236}">
                <a16:creationId xmlns:a16="http://schemas.microsoft.com/office/drawing/2014/main" id="{F30F1618-AF1F-48F2-8DB2-E6AA76C3A4CD}"/>
              </a:ext>
            </a:extLst>
          </p:cNvPr>
          <p:cNvSpPr>
            <a:spLocks xmlns:a="http://schemas.openxmlformats.org/drawingml/2006/main" noGrp="1"/>
          </p:cNvSpPr>
          <p:nvPr/>
        </p:nvSpPr>
        <p:spPr>
          <a:xfrm xmlns:a="http://schemas.openxmlformats.org/drawingml/2006/main">
            <a:off x="609600" y="3562350"/>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28090"/>
                </a:solidFill>
                <a:latin typeface="Calibri"/>
                <a:ea typeface="Calibri"/>
                <a:cs typeface="Calibri"/>
              </a:defRPr>
            </a:defPPr>
          </a:lstStyle>
          <a:p xmlns:a="http://schemas.openxmlformats.org/drawingml/2006/main">
            <a:pPr>
              <a:defRPr sz="2325" b="1">
                <a:solidFill>
                  <a:srgbClr val="028090"/>
                </a:solidFill>
                <a:latin typeface="Calibri"/>
                <a:ea typeface="Calibri"/>
                <a:cs typeface="Calibri"/>
              </a:defRPr>
            </a:pPr>
            <a:r>
              <a:rPr sz="2325" b="1">
                <a:solidFill>
                  <a:srgbClr val="028090"/>
                </a:solidFill>
                <a:latin typeface="Calibri"/>
                <a:ea typeface="Calibri"/>
                <a:cs typeface="Calibri"/>
              </a:rPr>
              <a:t>Sprint 1 findings</a:t>
            </a:r>
          </a:p>
        </p:txBody>
      </p:sp>
      <p:sp>
        <p:nvSpPr>
          <p:cNvPr id="5" name="team">
            <a:extLst xmlns:a="http://schemas.openxmlformats.org/drawingml/2006/main">
              <a:ext uri="{FF2B5EF4-FFF2-40B4-BE49-F238E27FC236}">
                <a16:creationId xmlns:a16="http://schemas.microsoft.com/office/drawing/2014/main" id="{479DFEAB-7F08-48EB-AA65-ECBA366C2494}"/>
              </a:ext>
            </a:extLst>
          </p:cNvPr>
          <p:cNvSpPr>
            <a:spLocks xmlns:a="http://schemas.openxmlformats.org/drawingml/2006/main" noGrp="1"/>
          </p:cNvSpPr>
          <p:nvPr/>
        </p:nvSpPr>
        <p:spPr>
          <a:xfrm xmlns:a="http://schemas.openxmlformats.org/drawingml/2006/main">
            <a:off x="609600" y="447675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262A"/>
                </a:solidFill>
                <a:latin typeface="Calibri"/>
                <a:ea typeface="Calibri"/>
                <a:cs typeface="Calibri"/>
              </a:defRPr>
            </a:defPPr>
          </a:lstStyle>
          <a:p xmlns:a="http://schemas.openxmlformats.org/drawingml/2006/main">
            <a:pPr>
              <a:defRPr sz="2025" b="1">
                <a:solidFill>
                  <a:srgbClr val="16262A"/>
                </a:solidFill>
                <a:latin typeface="Calibri"/>
                <a:ea typeface="Calibri"/>
                <a:cs typeface="Calibri"/>
              </a:defRPr>
            </a:pPr>
            <a:r>
              <a:rPr sz="2025" b="1">
                <a:solidFill>
                  <a:srgbClr val="16262A"/>
                </a:solidFill>
                <a:latin typeface="Calibri"/>
                <a:ea typeface="Calibri"/>
                <a:cs typeface="Calibri"/>
              </a:rPr>
              <a:t>Team WTM</a:t>
            </a:r>
          </a:p>
        </p:txBody>
      </p:sp>
      <p:sp>
        <p:nvSpPr>
          <p:cNvPr id="6" name="members">
            <a:extLst xmlns:a="http://schemas.openxmlformats.org/drawingml/2006/main">
              <a:ext uri="{FF2B5EF4-FFF2-40B4-BE49-F238E27FC236}">
                <a16:creationId xmlns:a16="http://schemas.microsoft.com/office/drawing/2014/main" id="{71F8C588-9DBA-43FB-A861-47423EF3E1C4}"/>
              </a:ext>
            </a:extLst>
          </p:cNvPr>
          <p:cNvSpPr>
            <a:spLocks xmlns:a="http://schemas.openxmlformats.org/drawingml/2006/main" noGrp="1"/>
          </p:cNvSpPr>
          <p:nvPr/>
        </p:nvSpPr>
        <p:spPr>
          <a:xfrm xmlns:a="http://schemas.openxmlformats.org/drawingml/2006/main">
            <a:off x="609600" y="4914900"/>
            <a:ext cx="5429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262A"/>
                </a:solidFill>
                <a:latin typeface="Calibri"/>
                <a:ea typeface="Calibri"/>
                <a:cs typeface="Calibri"/>
              </a:defRPr>
            </a:defPPr>
          </a:lstStyle>
          <a:p xmlns:a="http://schemas.openxmlformats.org/drawingml/2006/main">
            <a:pPr>
              <a:defRPr sz="2025" b="0">
                <a:solidFill>
                  <a:srgbClr val="16262A"/>
                </a:solidFill>
                <a:latin typeface="Calibri"/>
                <a:ea typeface="Calibri"/>
                <a:cs typeface="Calibri"/>
              </a:defRPr>
            </a:pPr>
            <a:r>
              <a:rPr sz="2025" b="0">
                <a:solidFill>
                  <a:srgbClr val="16262A"/>
                </a:solidFill>
                <a:latin typeface="Calibri"/>
                <a:ea typeface="Calibri"/>
                <a:cs typeface="Calibri"/>
              </a:rPr>
              <a:t>Goodfriend, Morisade,</a:t>
            </a:r>
          </a:p>
          <a:p xmlns:a="http://schemas.openxmlformats.org/drawingml/2006/main">
            <a:pPr>
              <a:defRPr sz="2025" b="0">
                <a:solidFill>
                  <a:srgbClr val="16262A"/>
                </a:solidFill>
                <a:latin typeface="Calibri"/>
                <a:ea typeface="Calibri"/>
                <a:cs typeface="Calibri"/>
              </a:defRPr>
            </a:pPr>
            <a:r>
              <a:rPr sz="2025" b="0">
                <a:solidFill>
                  <a:srgbClr val="16262A"/>
                </a:solidFill>
                <a:latin typeface="Calibri"/>
                <a:ea typeface="Calibri"/>
                <a:cs typeface="Calibri"/>
              </a:rPr>
              <a:t>Tari and Tayaphon</a:t>
            </a:r>
          </a:p>
        </p:txBody>
      </p:sp>
      <p:sp>
        <p:nvSpPr>
          <p:cNvPr id="7" name="date">
            <a:extLst xmlns:a="http://schemas.openxmlformats.org/drawingml/2006/main">
              <a:ext uri="{FF2B5EF4-FFF2-40B4-BE49-F238E27FC236}">
                <a16:creationId xmlns:a16="http://schemas.microsoft.com/office/drawing/2014/main" id="{E27C0D81-7251-4070-A6CA-31B51626EE3B}"/>
              </a:ext>
            </a:extLst>
          </p:cNvPr>
          <p:cNvSpPr>
            <a:spLocks xmlns:a="http://schemas.openxmlformats.org/drawingml/2006/main" noGrp="1"/>
          </p:cNvSpPr>
          <p:nvPr/>
        </p:nvSpPr>
        <p:spPr>
          <a:xfrm xmlns:a="http://schemas.openxmlformats.org/drawingml/2006/main">
            <a:off x="609600" y="6038850"/>
            <a:ext cx="542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C686E"/>
                </a:solidFill>
                <a:latin typeface="Calibri"/>
                <a:ea typeface="Calibri"/>
                <a:cs typeface="Calibri"/>
              </a:defRPr>
            </a:defPPr>
          </a:lstStyle>
          <a:p xmlns:a="http://schemas.openxmlformats.org/drawingml/2006/main">
            <a:pPr>
              <a:defRPr sz="1800" b="0">
                <a:solidFill>
                  <a:srgbClr val="4C686E"/>
                </a:solidFill>
                <a:latin typeface="Calibri"/>
                <a:ea typeface="Calibri"/>
                <a:cs typeface="Calibri"/>
              </a:defRPr>
            </a:pPr>
            <a:r>
              <a:rPr sz="1800" b="0">
                <a:solidFill>
                  <a:srgbClr val="4C686E"/>
                </a:solidFill>
                <a:latin typeface="Calibri"/>
                <a:ea typeface="Calibri"/>
                <a:cs typeface="Calibri"/>
              </a:rPr>
              <a:t>15 October 2026</a:t>
            </a:r>
          </a:p>
        </p:txBody>
      </p:sp>
      <p:pic>
        <p:nvPicPr>
          <p:cNvPr id="8" name="">
            <a:extLst xmlns:a="http://schemas.openxmlformats.org/drawingml/2006/main">
              <a:ext uri="{FF2B5EF4-FFF2-40B4-BE49-F238E27FC236}">
                <a16:creationId xmlns:a16="http://schemas.microsoft.com/office/drawing/2014/main" id="{C28C15B5-1441-41C2-8484-508E2A3F494A}"/>
              </a:ext>
            </a:extLst>
          </p:cNvPr>
          <p:cNvPicPr>
            <a:picLocks xmlns:a="http://schemas.openxmlformats.org/drawingml/2006/main" noChangeAspect="1"/>
          </p:cNvPicPr>
          <p:nvPr/>
        </p:nvPicPr>
        <p:blipFill>
          <a:blip xmlns:r="http://schemas.openxmlformats.org/officeDocument/2006/relationships" xmlns:a="http://schemas.openxmlformats.org/drawingml/2006/main" r:embed="R4c92696e4cde4dde"/>
          <a:stretch xmlns:a="http://schemas.openxmlformats.org/drawingml/2006/main"/>
        </p:blipFill>
        <p:spPr>
          <a:xfrm xmlns:a="http://schemas.openxmlformats.org/drawingml/2006/main">
            <a:off x="6448425" y="1699419"/>
            <a:ext cx="5191125" cy="4325938"/>
          </a:xfrm>
          <a:prstGeom xmlns:a="http://schemas.openxmlformats.org/drawingml/2006/main" prst="rect">
            <a:avLst/>
          </a:prstGeom>
        </p:spPr>
      </p:pic>
    </p:spTree>
    <p:extLst>
      <p:ext uri="{BB962C8B-B14F-4D97-AF65-F5344CB8AC3E}">
        <p14:creationId xmlns:p14="http://schemas.microsoft.com/office/powerpoint/2010/main" val="3046717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header-band">
            <a:extLst xmlns:a="http://schemas.openxmlformats.org/drawingml/2006/main">
              <a:ext uri="{FF2B5EF4-FFF2-40B4-BE49-F238E27FC236}">
                <a16:creationId xmlns:a16="http://schemas.microsoft.com/office/drawing/2014/main" id="{DA20E1CA-35EA-4709-8BCB-AF53576FD8B0}"/>
              </a:ext>
            </a:extLst>
          </p:cNvPr>
          <p:cNvSpPr>
            <a:spLocks xmlns:a="http://schemas.openxmlformats.org/drawingml/2006/main" noGrp="1"/>
          </p:cNvSpPr>
          <p:nvPr/>
        </p:nvSpPr>
        <p:spPr>
          <a:xfrm xmlns:a="http://schemas.openxmlformats.org/drawingml/2006/main">
            <a:off x="0" y="0"/>
            <a:ext cx="12192000" cy="1181100"/>
          </a:xfrm>
          <a:prstGeom xmlns:a="http://schemas.openxmlformats.org/drawingml/2006/main" prst="rect">
            <a:avLst/>
          </a:prstGeom>
          <a:solidFill xmlns:a="http://schemas.openxmlformats.org/drawingml/2006/main">
            <a:srgbClr val="EAF6F6"/>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8E0B32E7-1BCD-450D-A7D5-FCC4202988F2}"/>
              </a:ext>
            </a:extLst>
          </p:cNvPr>
          <p:cNvSpPr>
            <a:spLocks xmlns:a="http://schemas.openxmlformats.org/drawingml/2006/main" noGrp="1"/>
          </p:cNvSpPr>
          <p:nvPr/>
        </p:nvSpPr>
        <p:spPr>
          <a:xfrm xmlns:a="http://schemas.openxmlformats.org/drawingml/2006/main">
            <a:off x="609600" y="2286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28090"/>
                </a:solidFill>
                <a:latin typeface="Calibri"/>
                <a:ea typeface="Calibri"/>
                <a:cs typeface="Calibri"/>
              </a:defRPr>
            </a:defPPr>
          </a:lstStyle>
          <a:p xmlns:a="http://schemas.openxmlformats.org/drawingml/2006/main">
            <a:pPr>
              <a:defRPr sz="1350" b="1">
                <a:solidFill>
                  <a:srgbClr val="028090"/>
                </a:solidFill>
                <a:latin typeface="Calibri"/>
                <a:ea typeface="Calibri"/>
                <a:cs typeface="Calibri"/>
              </a:defRPr>
            </a:pPr>
            <a:r>
              <a:rPr sz="1350" b="1">
                <a:solidFill>
                  <a:srgbClr val="028090"/>
                </a:solidFill>
                <a:latin typeface="Calibri"/>
                <a:ea typeface="Calibri"/>
                <a:cs typeface="Calibri"/>
              </a:rPr>
              <a:t>THE DATA</a:t>
            </a:r>
          </a:p>
        </p:txBody>
      </p:sp>
      <p:sp>
        <p:nvSpPr>
          <p:cNvPr id="3" name="title">
            <a:extLst xmlns:a="http://schemas.openxmlformats.org/drawingml/2006/main">
              <a:ext uri="{FF2B5EF4-FFF2-40B4-BE49-F238E27FC236}">
                <a16:creationId xmlns:a16="http://schemas.microsoft.com/office/drawing/2014/main" id="{F597DB58-8BD1-4C99-8E96-11DAFD8A303E}"/>
              </a:ext>
            </a:extLst>
          </p:cNvPr>
          <p:cNvSpPr>
            <a:spLocks xmlns:a="http://schemas.openxmlformats.org/drawingml/2006/main" noGrp="1"/>
          </p:cNvSpPr>
          <p:nvPr/>
        </p:nvSpPr>
        <p:spPr>
          <a:xfrm xmlns:a="http://schemas.openxmlformats.org/drawingml/2006/main">
            <a:off x="609600" y="5810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6262A"/>
                </a:solidFill>
                <a:latin typeface="Cambria"/>
                <a:ea typeface="Cambria"/>
                <a:cs typeface="Cambria"/>
              </a:defRPr>
            </a:defPPr>
          </a:lstStyle>
          <a:p xmlns:a="http://schemas.openxmlformats.org/drawingml/2006/main">
            <a:pPr>
              <a:defRPr sz="3000" b="1">
                <a:solidFill>
                  <a:srgbClr val="16262A"/>
                </a:solidFill>
                <a:latin typeface="Cambria"/>
                <a:ea typeface="Cambria"/>
                <a:cs typeface="Cambria"/>
              </a:defRPr>
            </a:pPr>
            <a:r>
              <a:rPr sz="3000" b="1">
                <a:solidFill>
                  <a:srgbClr val="16262A"/>
                </a:solidFill>
                <a:latin typeface="Cambria"/>
                <a:ea typeface="Cambria"/>
                <a:cs typeface="Cambria"/>
              </a:rPr>
              <a:t>We grouped the columns to guide our questions</a:t>
            </a:r>
          </a:p>
        </p:txBody>
      </p:sp>
      <p:sp>
        <p:nvSpPr>
          <p:cNvPr id="4" name="page">
            <a:extLst xmlns:a="http://schemas.openxmlformats.org/drawingml/2006/main">
              <a:ext uri="{FF2B5EF4-FFF2-40B4-BE49-F238E27FC236}">
                <a16:creationId xmlns:a16="http://schemas.microsoft.com/office/drawing/2014/main" id="{D49D10CB-A761-4EEE-AD54-983C8C03C104}"/>
              </a:ext>
            </a:extLst>
          </p:cNvPr>
          <p:cNvSpPr>
            <a:spLocks xmlns:a="http://schemas.openxmlformats.org/drawingml/2006/main" noGrp="1"/>
          </p:cNvSpPr>
          <p:nvPr/>
        </p:nvSpPr>
        <p:spPr>
          <a:xfrm xmlns:a="http://schemas.openxmlformats.org/drawingml/2006/main">
            <a:off x="11658600" y="6496050"/>
            <a:ext cx="238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C686E"/>
                </a:solidFill>
                <a:latin typeface="Calibri"/>
                <a:ea typeface="Calibri"/>
                <a:cs typeface="Calibri"/>
              </a:defRPr>
            </a:defPPr>
          </a:lstStyle>
          <a:p xmlns:a="http://schemas.openxmlformats.org/drawingml/2006/main">
            <a:pPr>
              <a:defRPr sz="1125" b="0">
                <a:solidFill>
                  <a:srgbClr val="4C686E"/>
                </a:solidFill>
                <a:latin typeface="Calibri"/>
                <a:ea typeface="Calibri"/>
                <a:cs typeface="Calibri"/>
              </a:defRPr>
            </a:pPr>
            <a:r>
              <a:rPr sz="1125" b="0">
                <a:solidFill>
                  <a:srgbClr val="4C686E"/>
                </a:solidFill>
                <a:latin typeface="Calibri"/>
                <a:ea typeface="Calibri"/>
                <a:cs typeface="Calibri"/>
              </a:rPr>
              <a:t>2</a:t>
            </a:r>
          </a:p>
        </p:txBody>
      </p:sp>
      <p:sp>
        <p:nvSpPr>
          <p:cNvPr id="5" name="figure-title">
            <a:extLst xmlns:a="http://schemas.openxmlformats.org/drawingml/2006/main">
              <a:ext uri="{FF2B5EF4-FFF2-40B4-BE49-F238E27FC236}">
                <a16:creationId xmlns:a16="http://schemas.microsoft.com/office/drawing/2014/main" id="{DF3D914B-9514-4C2B-A973-BB6D6D4A1C86}"/>
              </a:ext>
            </a:extLst>
          </p:cNvPr>
          <p:cNvSpPr>
            <a:spLocks xmlns:a="http://schemas.openxmlformats.org/drawingml/2006/main" noGrp="1"/>
          </p:cNvSpPr>
          <p:nvPr/>
        </p:nvSpPr>
        <p:spPr>
          <a:xfrm xmlns:a="http://schemas.openxmlformats.org/drawingml/2006/main">
            <a:off x="609600" y="15811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6262A"/>
                </a:solidFill>
                <a:latin typeface="Calibri"/>
                <a:ea typeface="Calibri"/>
                <a:cs typeface="Calibri"/>
              </a:defRPr>
            </a:defPPr>
          </a:lstStyle>
          <a:p xmlns:a="http://schemas.openxmlformats.org/drawingml/2006/main">
            <a:pPr>
              <a:defRPr sz="1950" b="1">
                <a:solidFill>
                  <a:srgbClr val="16262A"/>
                </a:solidFill>
                <a:latin typeface="Calibri"/>
                <a:ea typeface="Calibri"/>
                <a:cs typeface="Calibri"/>
              </a:defRPr>
            </a:pPr>
            <a:r>
              <a:rPr sz="1950" b="1">
                <a:solidFill>
                  <a:srgbClr val="16262A"/>
                </a:solidFill>
                <a:latin typeface="Calibri"/>
                <a:ea typeface="Calibri"/>
                <a:cs typeface="Calibri"/>
              </a:rPr>
              <a:t>40 original input columns</a:t>
            </a:r>
          </a:p>
        </p:txBody>
      </p:sp>
      <p:graphicFrame>
        <p:nvGraphicFramePr>
          <p:cNvPr id="6" name="Chart">
            <a:extLst xmlns:a="http://schemas.openxmlformats.org/drawingml/2006/main">
              <a:ext uri="{FF2B5EF4-FFF2-40B4-BE49-F238E27FC236}">
                <a16:creationId xmlns:a16="http://schemas.microsoft.com/office/drawing/2014/main" id="{9873D568-AF74-4211-8253-B368940FA4E7}"/>
              </a:ext>
            </a:extLst>
          </p:cNvPr>
          <p:cNvGraphicFramePr/>
          <p:nvPr/>
        </p:nvGraphicFramePr>
        <p:xfrm>
          <a:off xmlns:a="http://schemas.openxmlformats.org/drawingml/2006/main" x="419100" y="2095500"/>
          <a:ext xmlns:a="http://schemas.openxmlformats.org/drawingml/2006/main" cx="7620000" cy="3476625"/>
        </p:xfrm>
        <a:graphic xmlns:a="http://schemas.openxmlformats.org/drawingml/2006/main">
          <a:graphicData uri="http://schemas.openxmlformats.org/drawingml/2006/chart">
            <c:chart xmlns:r="http://schemas.openxmlformats.org/officeDocument/2006/relationships" xmlns:c="http://schemas.openxmlformats.org/drawingml/2006/chart" r:id="Rb1ae7b0970e5418b"/>
          </a:graphicData>
        </a:graphic>
      </p:graphicFrame>
      <p:sp>
        <p:nvSpPr>
          <p:cNvPr id="7" name="record-count">
            <a:extLst xmlns:a="http://schemas.openxmlformats.org/drawingml/2006/main">
              <a:ext uri="{FF2B5EF4-FFF2-40B4-BE49-F238E27FC236}">
                <a16:creationId xmlns:a16="http://schemas.microsoft.com/office/drawing/2014/main" id="{7AF82C59-2F03-4029-847A-6997191FA0F8}"/>
              </a:ext>
            </a:extLst>
          </p:cNvPr>
          <p:cNvSpPr>
            <a:spLocks xmlns:a="http://schemas.openxmlformats.org/drawingml/2006/main" noGrp="1"/>
          </p:cNvSpPr>
          <p:nvPr/>
        </p:nvSpPr>
        <p:spPr>
          <a:xfrm xmlns:a="http://schemas.openxmlformats.org/drawingml/2006/main">
            <a:off x="8667750" y="156210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028090"/>
                </a:solidFill>
                <a:latin typeface="Cambria"/>
                <a:ea typeface="Cambria"/>
                <a:cs typeface="Cambria"/>
              </a:defRPr>
            </a:defPPr>
          </a:lstStyle>
          <a:p xmlns:a="http://schemas.openxmlformats.org/drawingml/2006/main">
            <a:pPr>
              <a:defRPr sz="3825" b="1">
                <a:solidFill>
                  <a:srgbClr val="028090"/>
                </a:solidFill>
                <a:latin typeface="Cambria"/>
                <a:ea typeface="Cambria"/>
                <a:cs typeface="Cambria"/>
              </a:defRPr>
            </a:pPr>
            <a:r>
              <a:rPr sz="3825" b="1">
                <a:solidFill>
                  <a:srgbClr val="028090"/>
                </a:solidFill>
                <a:latin typeface="Cambria"/>
                <a:ea typeface="Cambria"/>
                <a:cs typeface="Cambria"/>
              </a:rPr>
              <a:t>59,400</a:t>
            </a:r>
          </a:p>
        </p:txBody>
      </p:sp>
      <p:sp>
        <p:nvSpPr>
          <p:cNvPr id="8" name="record-unit">
            <a:extLst xmlns:a="http://schemas.openxmlformats.org/drawingml/2006/main">
              <a:ext uri="{FF2B5EF4-FFF2-40B4-BE49-F238E27FC236}">
                <a16:creationId xmlns:a16="http://schemas.microsoft.com/office/drawing/2014/main" id="{9582DB3D-F670-40D2-B109-9504E00F42C7}"/>
              </a:ext>
            </a:extLst>
          </p:cNvPr>
          <p:cNvSpPr>
            <a:spLocks xmlns:a="http://schemas.openxmlformats.org/drawingml/2006/main" noGrp="1"/>
          </p:cNvSpPr>
          <p:nvPr/>
        </p:nvSpPr>
        <p:spPr>
          <a:xfrm xmlns:a="http://schemas.openxmlformats.org/drawingml/2006/main">
            <a:off x="8667750" y="23241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4C686E"/>
                </a:solidFill>
                <a:latin typeface="Calibri"/>
                <a:ea typeface="Calibri"/>
                <a:cs typeface="Calibri"/>
              </a:defRPr>
            </a:defPPr>
          </a:lstStyle>
          <a:p xmlns:a="http://schemas.openxmlformats.org/drawingml/2006/main">
            <a:pPr>
              <a:defRPr sz="1950" b="0">
                <a:solidFill>
                  <a:srgbClr val="4C686E"/>
                </a:solidFill>
                <a:latin typeface="Calibri"/>
                <a:ea typeface="Calibri"/>
                <a:cs typeface="Calibri"/>
              </a:defRPr>
            </a:pPr>
            <a:r>
              <a:rPr sz="1950" b="0">
                <a:solidFill>
                  <a:srgbClr val="4C686E"/>
                </a:solidFill>
                <a:latin typeface="Calibri"/>
                <a:ea typeface="Calibri"/>
                <a:cs typeface="Calibri"/>
              </a:rPr>
              <a:t>waterpoint records</a:t>
            </a:r>
          </a:p>
        </p:txBody>
      </p:sp>
      <p:sp>
        <p:nvSpPr>
          <p:cNvPr id="9" name="figure-title">
            <a:extLst xmlns:a="http://schemas.openxmlformats.org/drawingml/2006/main">
              <a:ext uri="{FF2B5EF4-FFF2-40B4-BE49-F238E27FC236}">
                <a16:creationId xmlns:a16="http://schemas.microsoft.com/office/drawing/2014/main" id="{A89C591A-D390-4CF0-8E1D-BAAF97969B71}"/>
              </a:ext>
            </a:extLst>
          </p:cNvPr>
          <p:cNvSpPr>
            <a:spLocks xmlns:a="http://schemas.openxmlformats.org/drawingml/2006/main" noGrp="1"/>
          </p:cNvSpPr>
          <p:nvPr/>
        </p:nvSpPr>
        <p:spPr>
          <a:xfrm xmlns:a="http://schemas.openxmlformats.org/drawingml/2006/main">
            <a:off x="8667750" y="300990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6262A"/>
                </a:solidFill>
                <a:latin typeface="Calibri"/>
                <a:ea typeface="Calibri"/>
                <a:cs typeface="Calibri"/>
              </a:defRPr>
            </a:defPPr>
          </a:lstStyle>
          <a:p xmlns:a="http://schemas.openxmlformats.org/drawingml/2006/main">
            <a:pPr>
              <a:defRPr sz="1875" b="1">
                <a:solidFill>
                  <a:srgbClr val="16262A"/>
                </a:solidFill>
                <a:latin typeface="Calibri"/>
                <a:ea typeface="Calibri"/>
                <a:cs typeface="Calibri"/>
              </a:defRPr>
            </a:pPr>
            <a:r>
              <a:rPr sz="1875" b="1">
                <a:solidFill>
                  <a:srgbClr val="16262A"/>
                </a:solidFill>
                <a:latin typeface="Calibri"/>
                <a:ea typeface="Calibri"/>
                <a:cs typeface="Calibri"/>
              </a:rPr>
              <a:t>Three recorded states</a:t>
            </a:r>
          </a:p>
        </p:txBody>
      </p:sp>
      <p:sp>
        <p:nvSpPr>
          <p:cNvPr id="10" name="state-working">
            <a:extLst xmlns:a="http://schemas.openxmlformats.org/drawingml/2006/main">
              <a:ext uri="{FF2B5EF4-FFF2-40B4-BE49-F238E27FC236}">
                <a16:creationId xmlns:a16="http://schemas.microsoft.com/office/drawing/2014/main" id="{A822F0FD-B86E-4985-90A9-86854BDE9E01}"/>
              </a:ext>
            </a:extLst>
          </p:cNvPr>
          <p:cNvSpPr>
            <a:spLocks xmlns:a="http://schemas.openxmlformats.org/drawingml/2006/main" noGrp="1"/>
          </p:cNvSpPr>
          <p:nvPr/>
        </p:nvSpPr>
        <p:spPr>
          <a:xfrm xmlns:a="http://schemas.openxmlformats.org/drawingml/2006/main">
            <a:off x="8667750" y="3552825"/>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08F78"/>
                </a:solidFill>
                <a:latin typeface="Calibri"/>
                <a:ea typeface="Calibri"/>
                <a:cs typeface="Calibri"/>
              </a:defRPr>
            </a:defPPr>
          </a:lstStyle>
          <a:p xmlns:a="http://schemas.openxmlformats.org/drawingml/2006/main">
            <a:pPr>
              <a:defRPr sz="2175" b="1">
                <a:solidFill>
                  <a:srgbClr val="008F78"/>
                </a:solidFill>
                <a:latin typeface="Calibri"/>
                <a:ea typeface="Calibri"/>
                <a:cs typeface="Calibri"/>
              </a:defRPr>
            </a:pPr>
            <a:r>
              <a:rPr sz="2175" b="1">
                <a:solidFill>
                  <a:srgbClr val="008F78"/>
                </a:solidFill>
                <a:latin typeface="Calibri"/>
                <a:ea typeface="Calibri"/>
                <a:cs typeface="Calibri"/>
              </a:rPr>
              <a:t>Working</a:t>
            </a:r>
          </a:p>
        </p:txBody>
      </p:sp>
      <p:sp>
        <p:nvSpPr>
          <p:cNvPr id="11" name="state-repair">
            <a:extLst xmlns:a="http://schemas.openxmlformats.org/drawingml/2006/main">
              <a:ext uri="{FF2B5EF4-FFF2-40B4-BE49-F238E27FC236}">
                <a16:creationId xmlns:a16="http://schemas.microsoft.com/office/drawing/2014/main" id="{7CF61DC0-AB1C-44DB-9472-3BDDC2B78DC5}"/>
              </a:ext>
            </a:extLst>
          </p:cNvPr>
          <p:cNvSpPr>
            <a:spLocks xmlns:a="http://schemas.openxmlformats.org/drawingml/2006/main" noGrp="1"/>
          </p:cNvSpPr>
          <p:nvPr/>
        </p:nvSpPr>
        <p:spPr>
          <a:xfrm xmlns:a="http://schemas.openxmlformats.org/drawingml/2006/main">
            <a:off x="8667750" y="40767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77900"/>
                </a:solidFill>
                <a:latin typeface="Calibri"/>
                <a:ea typeface="Calibri"/>
                <a:cs typeface="Calibri"/>
              </a:defRPr>
            </a:defPPr>
          </a:lstStyle>
          <a:p xmlns:a="http://schemas.openxmlformats.org/drawingml/2006/main">
            <a:pPr>
              <a:defRPr sz="2175" b="1">
                <a:solidFill>
                  <a:srgbClr val="B77900"/>
                </a:solidFill>
                <a:latin typeface="Calibri"/>
                <a:ea typeface="Calibri"/>
                <a:cs typeface="Calibri"/>
              </a:defRPr>
            </a:pPr>
            <a:r>
              <a:rPr sz="2175" b="1">
                <a:solidFill>
                  <a:srgbClr val="B77900"/>
                </a:solidFill>
                <a:latin typeface="Calibri"/>
                <a:ea typeface="Calibri"/>
                <a:cs typeface="Calibri"/>
              </a:rPr>
              <a:t>Needs repair</a:t>
            </a:r>
          </a:p>
        </p:txBody>
      </p:sp>
      <p:sp>
        <p:nvSpPr>
          <p:cNvPr id="12" name="repair-definition">
            <a:extLst xmlns:a="http://schemas.openxmlformats.org/drawingml/2006/main">
              <a:ext uri="{FF2B5EF4-FFF2-40B4-BE49-F238E27FC236}">
                <a16:creationId xmlns:a16="http://schemas.microsoft.com/office/drawing/2014/main" id="{66105271-E7EE-4B65-B838-7B2B6500C1EF}"/>
              </a:ext>
            </a:extLst>
          </p:cNvPr>
          <p:cNvSpPr>
            <a:spLocks xmlns:a="http://schemas.openxmlformats.org/drawingml/2006/main" noGrp="1"/>
          </p:cNvSpPr>
          <p:nvPr/>
        </p:nvSpPr>
        <p:spPr>
          <a:xfrm xmlns:a="http://schemas.openxmlformats.org/drawingml/2006/main">
            <a:off x="8667750" y="4467225"/>
            <a:ext cx="2914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77900"/>
                </a:solidFill>
                <a:latin typeface="Calibri"/>
                <a:ea typeface="Calibri"/>
                <a:cs typeface="Calibri"/>
              </a:defRPr>
            </a:defPPr>
          </a:lstStyle>
          <a:p xmlns:a="http://schemas.openxmlformats.org/drawingml/2006/main">
            <a:pPr>
              <a:defRPr sz="1650" b="0">
                <a:solidFill>
                  <a:srgbClr val="B77900"/>
                </a:solidFill>
                <a:latin typeface="Calibri"/>
                <a:ea typeface="Calibri"/>
                <a:cs typeface="Calibri"/>
              </a:defRPr>
            </a:pPr>
            <a:r>
              <a:rPr sz="1650" b="0">
                <a:solidFill>
                  <a:srgbClr val="B77900"/>
                </a:solidFill>
                <a:latin typeface="Calibri"/>
                <a:ea typeface="Calibri"/>
                <a:cs typeface="Calibri"/>
              </a:rPr>
              <a:t>Still working</a:t>
            </a:r>
          </a:p>
        </p:txBody>
      </p:sp>
      <p:sp>
        <p:nvSpPr>
          <p:cNvPr id="13" name="state-not-working">
            <a:extLst xmlns:a="http://schemas.openxmlformats.org/drawingml/2006/main">
              <a:ext uri="{FF2B5EF4-FFF2-40B4-BE49-F238E27FC236}">
                <a16:creationId xmlns:a16="http://schemas.microsoft.com/office/drawing/2014/main" id="{3209BA70-35B2-4F4D-A77D-34A71843AAE6}"/>
              </a:ext>
            </a:extLst>
          </p:cNvPr>
          <p:cNvSpPr>
            <a:spLocks xmlns:a="http://schemas.openxmlformats.org/drawingml/2006/main" noGrp="1"/>
          </p:cNvSpPr>
          <p:nvPr/>
        </p:nvSpPr>
        <p:spPr>
          <a:xfrm xmlns:a="http://schemas.openxmlformats.org/drawingml/2006/main">
            <a:off x="8667750" y="4981575"/>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6283E"/>
                </a:solidFill>
                <a:latin typeface="Calibri"/>
                <a:ea typeface="Calibri"/>
                <a:cs typeface="Calibri"/>
              </a:defRPr>
            </a:defPPr>
          </a:lstStyle>
          <a:p xmlns:a="http://schemas.openxmlformats.org/drawingml/2006/main">
            <a:pPr>
              <a:defRPr sz="2175" b="1">
                <a:solidFill>
                  <a:srgbClr val="C6283E"/>
                </a:solidFill>
                <a:latin typeface="Calibri"/>
                <a:ea typeface="Calibri"/>
                <a:cs typeface="Calibri"/>
              </a:defRPr>
            </a:pPr>
            <a:r>
              <a:rPr sz="2175" b="1">
                <a:solidFill>
                  <a:srgbClr val="C6283E"/>
                </a:solidFill>
                <a:latin typeface="Calibri"/>
                <a:ea typeface="Calibri"/>
                <a:cs typeface="Calibri"/>
              </a:rPr>
              <a:t>Not working</a:t>
            </a:r>
          </a:p>
        </p:txBody>
      </p:sp>
      <p:sp>
        <p:nvSpPr>
          <p:cNvPr id="14" name="group-note">
            <a:extLst xmlns:a="http://schemas.openxmlformats.org/drawingml/2006/main">
              <a:ext uri="{FF2B5EF4-FFF2-40B4-BE49-F238E27FC236}">
                <a16:creationId xmlns:a16="http://schemas.microsoft.com/office/drawing/2014/main" id="{B820AD48-2F73-4B84-A70C-2CA4419DC80E}"/>
              </a:ext>
            </a:extLst>
          </p:cNvPr>
          <p:cNvSpPr>
            <a:spLocks xmlns:a="http://schemas.openxmlformats.org/drawingml/2006/main" noGrp="1"/>
          </p:cNvSpPr>
          <p:nvPr/>
        </p:nvSpPr>
        <p:spPr>
          <a:xfrm xmlns:a="http://schemas.openxmlformats.org/drawingml/2006/main">
            <a:off x="609600" y="5838825"/>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4C686E"/>
                </a:solidFill>
                <a:latin typeface="Calibri"/>
                <a:ea typeface="Calibri"/>
                <a:cs typeface="Calibri"/>
              </a:defRPr>
            </a:defPPr>
          </a:lstStyle>
          <a:p xmlns:a="http://schemas.openxmlformats.org/drawingml/2006/main">
            <a:pPr>
              <a:defRPr sz="1650" b="0">
                <a:solidFill>
                  <a:srgbClr val="4C686E"/>
                </a:solidFill>
                <a:latin typeface="Calibri"/>
                <a:ea typeface="Calibri"/>
                <a:cs typeface="Calibri"/>
              </a:defRPr>
            </a:pPr>
            <a:r>
              <a:rPr sz="1650" b="0">
                <a:solidFill>
                  <a:srgbClr val="4C686E"/>
                </a:solidFill>
                <a:latin typeface="Calibri"/>
                <a:ea typeface="Calibri"/>
                <a:cs typeface="Calibri"/>
              </a:rPr>
              <a:t>The bars count columns. The record ID is included. Pump labels are stored separately.</a:t>
            </a:r>
          </a:p>
        </p:txBody>
      </p:sp>
      <p:sp>
        <p:nvSpPr>
          <p:cNvPr id="15" name="record-dates">
            <a:extLst xmlns:a="http://schemas.openxmlformats.org/drawingml/2006/main">
              <a:ext uri="{FF2B5EF4-FFF2-40B4-BE49-F238E27FC236}">
                <a16:creationId xmlns:a16="http://schemas.microsoft.com/office/drawing/2014/main" id="{FEB14C5F-7878-4811-BE47-384AFB700DC2}"/>
              </a:ext>
            </a:extLst>
          </p:cNvPr>
          <p:cNvSpPr>
            <a:spLocks xmlns:a="http://schemas.openxmlformats.org/drawingml/2006/main" noGrp="1"/>
          </p:cNvSpPr>
          <p:nvPr/>
        </p:nvSpPr>
        <p:spPr>
          <a:xfrm xmlns:a="http://schemas.openxmlformats.org/drawingml/2006/main">
            <a:off x="609600" y="638175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C686E"/>
                </a:solidFill>
                <a:latin typeface="Calibri"/>
                <a:ea typeface="Calibri"/>
                <a:cs typeface="Calibri"/>
              </a:defRPr>
            </a:defPPr>
          </a:lstStyle>
          <a:p xmlns:a="http://schemas.openxmlformats.org/drawingml/2006/main">
            <a:pPr>
              <a:defRPr sz="1350" b="0">
                <a:solidFill>
                  <a:srgbClr val="4C686E"/>
                </a:solidFill>
                <a:latin typeface="Calibri"/>
                <a:ea typeface="Calibri"/>
                <a:cs typeface="Calibri"/>
              </a:defRPr>
            </a:pPr>
            <a:r>
              <a:rPr sz="1350" b="0">
                <a:solidFill>
                  <a:srgbClr val="4C686E"/>
                </a:solidFill>
                <a:latin typeface="Calibri"/>
                <a:ea typeface="Calibri"/>
                <a:cs typeface="Calibri"/>
              </a:rPr>
              <a:t>Recording dates: 2002-2013</a:t>
            </a:r>
          </a:p>
        </p:txBody>
      </p:sp>
    </p:spTree>
    <p:extLst>
      <p:ext uri="{BB962C8B-B14F-4D97-AF65-F5344CB8AC3E}">
        <p14:creationId xmlns:p14="http://schemas.microsoft.com/office/powerpoint/2010/main" val="2788213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header-band">
            <a:extLst xmlns:a="http://schemas.openxmlformats.org/drawingml/2006/main">
              <a:ext uri="{FF2B5EF4-FFF2-40B4-BE49-F238E27FC236}">
                <a16:creationId xmlns:a16="http://schemas.microsoft.com/office/drawing/2014/main" id="{ED93FADE-6657-4104-82FF-6CB0BED8D992}"/>
              </a:ext>
            </a:extLst>
          </p:cNvPr>
          <p:cNvSpPr>
            <a:spLocks xmlns:a="http://schemas.openxmlformats.org/drawingml/2006/main" noGrp="1"/>
          </p:cNvSpPr>
          <p:nvPr/>
        </p:nvSpPr>
        <p:spPr>
          <a:xfrm xmlns:a="http://schemas.openxmlformats.org/drawingml/2006/main">
            <a:off x="0" y="0"/>
            <a:ext cx="12192000" cy="1181100"/>
          </a:xfrm>
          <a:prstGeom xmlns:a="http://schemas.openxmlformats.org/drawingml/2006/main" prst="rect">
            <a:avLst/>
          </a:prstGeom>
          <a:solidFill xmlns:a="http://schemas.openxmlformats.org/drawingml/2006/main">
            <a:srgbClr val="EAF6F6"/>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3EF51841-7BCA-47F8-8894-907DEAFF770D}"/>
              </a:ext>
            </a:extLst>
          </p:cNvPr>
          <p:cNvSpPr>
            <a:spLocks xmlns:a="http://schemas.openxmlformats.org/drawingml/2006/main" noGrp="1"/>
          </p:cNvSpPr>
          <p:nvPr/>
        </p:nvSpPr>
        <p:spPr>
          <a:xfrm xmlns:a="http://schemas.openxmlformats.org/drawingml/2006/main">
            <a:off x="609600" y="2286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28090"/>
                </a:solidFill>
                <a:latin typeface="Calibri"/>
                <a:ea typeface="Calibri"/>
                <a:cs typeface="Calibri"/>
              </a:defRPr>
            </a:defPPr>
          </a:lstStyle>
          <a:p xmlns:a="http://schemas.openxmlformats.org/drawingml/2006/main">
            <a:pPr>
              <a:defRPr sz="1350" b="1">
                <a:solidFill>
                  <a:srgbClr val="028090"/>
                </a:solidFill>
                <a:latin typeface="Calibri"/>
                <a:ea typeface="Calibri"/>
                <a:cs typeface="Calibri"/>
              </a:defRPr>
            </a:pPr>
            <a:r>
              <a:rPr sz="1350" b="1">
                <a:solidFill>
                  <a:srgbClr val="028090"/>
                </a:solidFill>
                <a:latin typeface="Calibri"/>
                <a:ea typeface="Calibri"/>
                <a:cs typeface="Calibri"/>
              </a:rPr>
              <a:t>DATA QUALITY</a:t>
            </a:r>
          </a:p>
        </p:txBody>
      </p:sp>
      <p:sp>
        <p:nvSpPr>
          <p:cNvPr id="3" name="title">
            <a:extLst xmlns:a="http://schemas.openxmlformats.org/drawingml/2006/main">
              <a:ext uri="{FF2B5EF4-FFF2-40B4-BE49-F238E27FC236}">
                <a16:creationId xmlns:a16="http://schemas.microsoft.com/office/drawing/2014/main" id="{B37E0A26-B413-4D1C-82F4-E77CA5A2E662}"/>
              </a:ext>
            </a:extLst>
          </p:cNvPr>
          <p:cNvSpPr>
            <a:spLocks xmlns:a="http://schemas.openxmlformats.org/drawingml/2006/main" noGrp="1"/>
          </p:cNvSpPr>
          <p:nvPr/>
        </p:nvSpPr>
        <p:spPr>
          <a:xfrm xmlns:a="http://schemas.openxmlformats.org/drawingml/2006/main">
            <a:off x="609600" y="5810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6262A"/>
                </a:solidFill>
                <a:latin typeface="Cambria"/>
                <a:ea typeface="Cambria"/>
                <a:cs typeface="Cambria"/>
              </a:defRPr>
            </a:defPPr>
          </a:lstStyle>
          <a:p xmlns:a="http://schemas.openxmlformats.org/drawingml/2006/main">
            <a:pPr>
              <a:defRPr sz="3000" b="1">
                <a:solidFill>
                  <a:srgbClr val="16262A"/>
                </a:solidFill>
                <a:latin typeface="Cambria"/>
                <a:ea typeface="Cambria"/>
                <a:cs typeface="Cambria"/>
              </a:defRPr>
            </a:pPr>
            <a:r>
              <a:rPr sz="3000" b="1">
                <a:solidFill>
                  <a:srgbClr val="16262A"/>
                </a:solidFill>
                <a:latin typeface="Cambria"/>
                <a:ea typeface="Cambria"/>
                <a:cs typeface="Cambria"/>
              </a:rPr>
              <a:t>Missing years limit the age comparisons</a:t>
            </a:r>
          </a:p>
        </p:txBody>
      </p:sp>
      <p:sp>
        <p:nvSpPr>
          <p:cNvPr id="4" name="page">
            <a:extLst xmlns:a="http://schemas.openxmlformats.org/drawingml/2006/main">
              <a:ext uri="{FF2B5EF4-FFF2-40B4-BE49-F238E27FC236}">
                <a16:creationId xmlns:a16="http://schemas.microsoft.com/office/drawing/2014/main" id="{80E1EB95-A3A7-4811-BEAA-073E08A1E35B}"/>
              </a:ext>
            </a:extLst>
          </p:cNvPr>
          <p:cNvSpPr>
            <a:spLocks xmlns:a="http://schemas.openxmlformats.org/drawingml/2006/main" noGrp="1"/>
          </p:cNvSpPr>
          <p:nvPr/>
        </p:nvSpPr>
        <p:spPr>
          <a:xfrm xmlns:a="http://schemas.openxmlformats.org/drawingml/2006/main">
            <a:off x="11658600" y="6496050"/>
            <a:ext cx="238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C686E"/>
                </a:solidFill>
                <a:latin typeface="Calibri"/>
                <a:ea typeface="Calibri"/>
                <a:cs typeface="Calibri"/>
              </a:defRPr>
            </a:defPPr>
          </a:lstStyle>
          <a:p xmlns:a="http://schemas.openxmlformats.org/drawingml/2006/main">
            <a:pPr>
              <a:defRPr sz="1125" b="0">
                <a:solidFill>
                  <a:srgbClr val="4C686E"/>
                </a:solidFill>
                <a:latin typeface="Calibri"/>
                <a:ea typeface="Calibri"/>
                <a:cs typeface="Calibri"/>
              </a:defRPr>
            </a:pPr>
            <a:r>
              <a:rPr sz="1125" b="0">
                <a:solidFill>
                  <a:srgbClr val="4C686E"/>
                </a:solidFill>
                <a:latin typeface="Calibri"/>
                <a:ea typeface="Calibri"/>
                <a:cs typeface="Calibri"/>
              </a:rPr>
              <a:t>3</a:t>
            </a:r>
          </a:p>
        </p:txBody>
      </p:sp>
      <p:sp>
        <p:nvSpPr>
          <p:cNvPr id="5" name="figure-title">
            <a:extLst xmlns:a="http://schemas.openxmlformats.org/drawingml/2006/main">
              <a:ext uri="{FF2B5EF4-FFF2-40B4-BE49-F238E27FC236}">
                <a16:creationId xmlns:a16="http://schemas.microsoft.com/office/drawing/2014/main" id="{450A5527-005F-48C4-A7FA-69A920786C42}"/>
              </a:ext>
            </a:extLst>
          </p:cNvPr>
          <p:cNvSpPr>
            <a:spLocks xmlns:a="http://schemas.openxmlformats.org/drawingml/2006/main" noGrp="1"/>
          </p:cNvSpPr>
          <p:nvPr/>
        </p:nvSpPr>
        <p:spPr>
          <a:xfrm xmlns:a="http://schemas.openxmlformats.org/drawingml/2006/main">
            <a:off x="609600" y="15811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6262A"/>
                </a:solidFill>
                <a:latin typeface="Calibri"/>
                <a:ea typeface="Calibri"/>
                <a:cs typeface="Calibri"/>
              </a:defRPr>
            </a:defPPr>
          </a:lstStyle>
          <a:p xmlns:a="http://schemas.openxmlformats.org/drawingml/2006/main">
            <a:pPr>
              <a:defRPr sz="1950" b="1">
                <a:solidFill>
                  <a:srgbClr val="16262A"/>
                </a:solidFill>
                <a:latin typeface="Calibri"/>
                <a:ea typeface="Calibri"/>
                <a:cs typeface="Calibri"/>
              </a:defRPr>
            </a:pPr>
            <a:r>
              <a:rPr sz="1950" b="1">
                <a:solidFill>
                  <a:srgbClr val="16262A"/>
                </a:solidFill>
                <a:latin typeface="Calibri"/>
                <a:ea typeface="Calibri"/>
                <a:cs typeface="Calibri"/>
              </a:rPr>
              <a:t>Unknown construction year, by pump state</a:t>
            </a:r>
          </a:p>
        </p:txBody>
      </p:sp>
      <p:graphicFrame>
        <p:nvGraphicFramePr>
          <p:cNvPr id="6" name="Chart">
            <a:extLst xmlns:a="http://schemas.openxmlformats.org/drawingml/2006/main">
              <a:ext uri="{FF2B5EF4-FFF2-40B4-BE49-F238E27FC236}">
                <a16:creationId xmlns:a16="http://schemas.microsoft.com/office/drawing/2014/main" id="{21B18E8B-4CFB-4857-8B26-8FFCFD9D8CC1}"/>
              </a:ext>
            </a:extLst>
          </p:cNvPr>
          <p:cNvGraphicFramePr/>
          <p:nvPr/>
        </p:nvGraphicFramePr>
        <p:xfrm>
          <a:off xmlns:a="http://schemas.openxmlformats.org/drawingml/2006/main" x="419100" y="2152650"/>
          <a:ext xmlns:a="http://schemas.openxmlformats.org/drawingml/2006/main" cx="6572250" cy="2809875"/>
        </p:xfrm>
        <a:graphic xmlns:a="http://schemas.openxmlformats.org/drawingml/2006/main">
          <a:graphicData uri="http://schemas.openxmlformats.org/drawingml/2006/chart">
            <c:chart xmlns:r="http://schemas.openxmlformats.org/officeDocument/2006/relationships" xmlns:c="http://schemas.openxmlformats.org/drawingml/2006/chart" r:id="Re3bea30e80014dde"/>
          </a:graphicData>
        </a:graphic>
      </p:graphicFrame>
      <p:sp>
        <p:nvSpPr>
          <p:cNvPr id="7" name="missing-denominator">
            <a:extLst xmlns:a="http://schemas.openxmlformats.org/drawingml/2006/main">
              <a:ext uri="{FF2B5EF4-FFF2-40B4-BE49-F238E27FC236}">
                <a16:creationId xmlns:a16="http://schemas.microsoft.com/office/drawing/2014/main" id="{1893E693-18C9-4B52-B204-7FFE43DECB18}"/>
              </a:ext>
            </a:extLst>
          </p:cNvPr>
          <p:cNvSpPr>
            <a:spLocks xmlns:a="http://schemas.openxmlformats.org/drawingml/2006/main" noGrp="1"/>
          </p:cNvSpPr>
          <p:nvPr/>
        </p:nvSpPr>
        <p:spPr>
          <a:xfrm xmlns:a="http://schemas.openxmlformats.org/drawingml/2006/main">
            <a:off x="609600" y="502920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4C686E"/>
                </a:solidFill>
                <a:latin typeface="Calibri"/>
                <a:ea typeface="Calibri"/>
                <a:cs typeface="Calibri"/>
              </a:defRPr>
            </a:defPPr>
          </a:lstStyle>
          <a:p xmlns:a="http://schemas.openxmlformats.org/drawingml/2006/main">
            <a:pPr>
              <a:defRPr sz="1575" b="0">
                <a:solidFill>
                  <a:srgbClr val="4C686E"/>
                </a:solidFill>
                <a:latin typeface="Calibri"/>
                <a:ea typeface="Calibri"/>
                <a:cs typeface="Calibri"/>
              </a:defRPr>
            </a:pPr>
            <a:r>
              <a:rPr sz="1575" b="0">
                <a:solidFill>
                  <a:srgbClr val="4C686E"/>
                </a:solidFill>
                <a:latin typeface="Calibri"/>
                <a:ea typeface="Calibri"/>
                <a:cs typeface="Calibri"/>
              </a:rPr>
              <a:t>Each share uses all records in that pump state.</a:t>
            </a:r>
          </a:p>
        </p:txBody>
      </p:sp>
      <p:sp>
        <p:nvSpPr>
          <p:cNvPr id="8" name="regions-title">
            <a:extLst xmlns:a="http://schemas.openxmlformats.org/drawingml/2006/main">
              <a:ext uri="{FF2B5EF4-FFF2-40B4-BE49-F238E27FC236}">
                <a16:creationId xmlns:a16="http://schemas.microsoft.com/office/drawing/2014/main" id="{21C611D1-558F-44F6-AD26-BBC7CA8FEE62}"/>
              </a:ext>
            </a:extLst>
          </p:cNvPr>
          <p:cNvSpPr>
            <a:spLocks xmlns:a="http://schemas.openxmlformats.org/drawingml/2006/main" noGrp="1"/>
          </p:cNvSpPr>
          <p:nvPr/>
        </p:nvSpPr>
        <p:spPr>
          <a:xfrm xmlns:a="http://schemas.openxmlformats.org/drawingml/2006/main">
            <a:off x="7610475" y="1590675"/>
            <a:ext cx="3952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6262A"/>
                </a:solidFill>
                <a:latin typeface="Cambria"/>
                <a:ea typeface="Cambria"/>
                <a:cs typeface="Cambria"/>
              </a:defRPr>
            </a:defPPr>
          </a:lstStyle>
          <a:p xmlns:a="http://schemas.openxmlformats.org/drawingml/2006/main">
            <a:pPr>
              <a:defRPr sz="2475" b="1">
                <a:solidFill>
                  <a:srgbClr val="16262A"/>
                </a:solidFill>
                <a:latin typeface="Cambria"/>
                <a:ea typeface="Cambria"/>
                <a:cs typeface="Cambria"/>
              </a:defRPr>
            </a:pPr>
            <a:r>
              <a:rPr sz="2475" b="1">
                <a:solidFill>
                  <a:srgbClr val="16262A"/>
                </a:solidFill>
                <a:latin typeface="Cambria"/>
                <a:ea typeface="Cambria"/>
                <a:cs typeface="Cambria"/>
              </a:rPr>
              <a:t>No year recorded</a:t>
            </a:r>
          </a:p>
          <a:p xmlns:a="http://schemas.openxmlformats.org/drawingml/2006/main">
            <a:pPr>
              <a:defRPr sz="2475" b="1">
                <a:solidFill>
                  <a:srgbClr val="16262A"/>
                </a:solidFill>
                <a:latin typeface="Cambria"/>
                <a:ea typeface="Cambria"/>
                <a:cs typeface="Cambria"/>
              </a:defRPr>
            </a:pPr>
            <a:r>
              <a:rPr sz="2475" b="1">
                <a:solidFill>
                  <a:srgbClr val="16262A"/>
                </a:solidFill>
                <a:latin typeface="Cambria"/>
                <a:ea typeface="Cambria"/>
                <a:cs typeface="Cambria"/>
              </a:rPr>
              <a:t>in 4 regions</a:t>
            </a:r>
          </a:p>
        </p:txBody>
      </p:sp>
      <p:sp>
        <p:nvSpPr>
          <p:cNvPr id="9" name="regions">
            <a:extLst xmlns:a="http://schemas.openxmlformats.org/drawingml/2006/main">
              <a:ext uri="{FF2B5EF4-FFF2-40B4-BE49-F238E27FC236}">
                <a16:creationId xmlns:a16="http://schemas.microsoft.com/office/drawing/2014/main" id="{85A0D147-42E7-44B3-9D62-39EA28C79BD1}"/>
              </a:ext>
            </a:extLst>
          </p:cNvPr>
          <p:cNvSpPr>
            <a:spLocks xmlns:a="http://schemas.openxmlformats.org/drawingml/2006/main" noGrp="1"/>
          </p:cNvSpPr>
          <p:nvPr/>
        </p:nvSpPr>
        <p:spPr>
          <a:xfrm xmlns:a="http://schemas.openxmlformats.org/drawingml/2006/main">
            <a:off x="7610475" y="2647950"/>
            <a:ext cx="395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262A"/>
                </a:solidFill>
                <a:latin typeface="Calibri"/>
                <a:ea typeface="Calibri"/>
                <a:cs typeface="Calibri"/>
              </a:defRPr>
            </a:defPPr>
          </a:lstStyle>
          <a:p xmlns:a="http://schemas.openxmlformats.org/drawingml/2006/main">
            <a:pPr>
              <a:defRPr sz="2175" b="0">
                <a:solidFill>
                  <a:srgbClr val="16262A"/>
                </a:solidFill>
                <a:latin typeface="Calibri"/>
                <a:ea typeface="Calibri"/>
                <a:cs typeface="Calibri"/>
              </a:defRPr>
            </a:pPr>
            <a:r>
              <a:rPr sz="2175" b="0">
                <a:solidFill>
                  <a:srgbClr val="16262A"/>
                </a:solidFill>
                <a:latin typeface="Calibri"/>
                <a:ea typeface="Calibri"/>
                <a:cs typeface="Calibri"/>
              </a:rPr>
              <a:t>Dodoma, Kagera,</a:t>
            </a:r>
          </a:p>
          <a:p xmlns:a="http://schemas.openxmlformats.org/drawingml/2006/main">
            <a:pPr>
              <a:defRPr sz="2175" b="0">
                <a:solidFill>
                  <a:srgbClr val="16262A"/>
                </a:solidFill>
                <a:latin typeface="Calibri"/>
                <a:ea typeface="Calibri"/>
                <a:cs typeface="Calibri"/>
              </a:defRPr>
            </a:pPr>
            <a:r>
              <a:rPr sz="2175" b="0">
                <a:solidFill>
                  <a:srgbClr val="16262A"/>
                </a:solidFill>
                <a:latin typeface="Calibri"/>
                <a:ea typeface="Calibri"/>
                <a:cs typeface="Calibri"/>
              </a:rPr>
              <a:t>Mbeya and Tabora</a:t>
            </a:r>
          </a:p>
        </p:txBody>
      </p:sp>
      <p:sp>
        <p:nvSpPr>
          <p:cNvPr id="10" name="coverage">
            <a:extLst xmlns:a="http://schemas.openxmlformats.org/drawingml/2006/main">
              <a:ext uri="{FF2B5EF4-FFF2-40B4-BE49-F238E27FC236}">
                <a16:creationId xmlns:a16="http://schemas.microsoft.com/office/drawing/2014/main" id="{B421B768-43B8-4A0F-A281-59EB2AE3FA7F}"/>
              </a:ext>
            </a:extLst>
          </p:cNvPr>
          <p:cNvSpPr>
            <a:spLocks xmlns:a="http://schemas.openxmlformats.org/drawingml/2006/main" noGrp="1"/>
          </p:cNvSpPr>
          <p:nvPr/>
        </p:nvSpPr>
        <p:spPr>
          <a:xfrm xmlns:a="http://schemas.openxmlformats.org/drawingml/2006/main">
            <a:off x="7610475" y="3667125"/>
            <a:ext cx="3952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028090"/>
                </a:solidFill>
                <a:latin typeface="Cambria"/>
                <a:ea typeface="Cambria"/>
                <a:cs typeface="Cambria"/>
              </a:defRPr>
            </a:defPPr>
          </a:lstStyle>
          <a:p xmlns:a="http://schemas.openxmlformats.org/drawingml/2006/main">
            <a:pPr>
              <a:defRPr sz="3675" b="1">
                <a:solidFill>
                  <a:srgbClr val="028090"/>
                </a:solidFill>
                <a:latin typeface="Cambria"/>
                <a:ea typeface="Cambria"/>
                <a:cs typeface="Cambria"/>
              </a:defRPr>
            </a:pPr>
            <a:r>
              <a:rPr sz="3675" b="1">
                <a:solidFill>
                  <a:srgbClr val="028090"/>
                </a:solidFill>
                <a:latin typeface="Cambria"/>
                <a:ea typeface="Cambria"/>
                <a:cs typeface="Cambria"/>
              </a:rPr>
              <a:t>20.4%</a:t>
            </a:r>
          </a:p>
        </p:txBody>
      </p:sp>
      <p:sp>
        <p:nvSpPr>
          <p:cNvPr id="11" name="coverage-description">
            <a:extLst xmlns:a="http://schemas.openxmlformats.org/drawingml/2006/main">
              <a:ext uri="{FF2B5EF4-FFF2-40B4-BE49-F238E27FC236}">
                <a16:creationId xmlns:a16="http://schemas.microsoft.com/office/drawing/2014/main" id="{1CA12969-BD21-43DA-988D-B741C70CEBC8}"/>
              </a:ext>
            </a:extLst>
          </p:cNvPr>
          <p:cNvSpPr>
            <a:spLocks xmlns:a="http://schemas.openxmlformats.org/drawingml/2006/main" noGrp="1"/>
          </p:cNvSpPr>
          <p:nvPr/>
        </p:nvSpPr>
        <p:spPr>
          <a:xfrm xmlns:a="http://schemas.openxmlformats.org/drawingml/2006/main">
            <a:off x="7610475" y="4362450"/>
            <a:ext cx="3952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4C686E"/>
                </a:solidFill>
                <a:latin typeface="Calibri"/>
                <a:ea typeface="Calibri"/>
                <a:cs typeface="Calibri"/>
              </a:defRPr>
            </a:defPPr>
          </a:lstStyle>
          <a:p xmlns:a="http://schemas.openxmlformats.org/drawingml/2006/main">
            <a:pPr>
              <a:defRPr sz="1950" b="0">
                <a:solidFill>
                  <a:srgbClr val="4C686E"/>
                </a:solidFill>
                <a:latin typeface="Calibri"/>
                <a:ea typeface="Calibri"/>
                <a:cs typeface="Calibri"/>
              </a:defRPr>
            </a:pPr>
            <a:r>
              <a:rPr sz="1950" b="0">
                <a:solidFill>
                  <a:srgbClr val="4C686E"/>
                </a:solidFill>
                <a:latin typeface="Calibri"/>
                <a:ea typeface="Calibri"/>
                <a:cs typeface="Calibri"/>
              </a:rPr>
              <a:t>of all records</a:t>
            </a:r>
          </a:p>
          <a:p xmlns:a="http://schemas.openxmlformats.org/drawingml/2006/main">
            <a:pPr>
              <a:defRPr sz="1950" b="0">
                <a:solidFill>
                  <a:srgbClr val="4C686E"/>
                </a:solidFill>
                <a:latin typeface="Calibri"/>
                <a:ea typeface="Calibri"/>
                <a:cs typeface="Calibri"/>
              </a:defRPr>
            </a:pPr>
            <a:r>
              <a:rPr sz="1950" b="0">
                <a:solidFill>
                  <a:srgbClr val="4C686E"/>
                </a:solidFill>
                <a:latin typeface="Calibri"/>
                <a:ea typeface="Calibri"/>
                <a:cs typeface="Calibri"/>
              </a:rPr>
              <a:t>(12,115 waterpoints)</a:t>
            </a:r>
          </a:p>
        </p:txBody>
      </p:sp>
      <p:sp>
        <p:nvSpPr>
          <p:cNvPr id="12" name="cleaned-title">
            <a:extLst xmlns:a="http://schemas.openxmlformats.org/drawingml/2006/main">
              <a:ext uri="{FF2B5EF4-FFF2-40B4-BE49-F238E27FC236}">
                <a16:creationId xmlns:a16="http://schemas.microsoft.com/office/drawing/2014/main" id="{08BEBB4B-AD95-49E3-9680-6B772001765D}"/>
              </a:ext>
            </a:extLst>
          </p:cNvPr>
          <p:cNvSpPr>
            <a:spLocks xmlns:a="http://schemas.openxmlformats.org/drawingml/2006/main" noGrp="1"/>
          </p:cNvSpPr>
          <p:nvPr/>
        </p:nvSpPr>
        <p:spPr>
          <a:xfrm xmlns:a="http://schemas.openxmlformats.org/drawingml/2006/main">
            <a:off x="609600" y="57150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28090"/>
                </a:solidFill>
                <a:latin typeface="Calibri"/>
                <a:ea typeface="Calibri"/>
                <a:cs typeface="Calibri"/>
              </a:defRPr>
            </a:defPPr>
          </a:lstStyle>
          <a:p xmlns:a="http://schemas.openxmlformats.org/drawingml/2006/main">
            <a:pPr>
              <a:defRPr sz="2175" b="1">
                <a:solidFill>
                  <a:srgbClr val="028090"/>
                </a:solidFill>
                <a:latin typeface="Calibri"/>
                <a:ea typeface="Calibri"/>
                <a:cs typeface="Calibri"/>
              </a:defRPr>
            </a:pPr>
            <a:r>
              <a:rPr sz="2175" b="1">
                <a:solidFill>
                  <a:srgbClr val="028090"/>
                </a:solidFill>
                <a:latin typeface="Calibri"/>
                <a:ea typeface="Calibri"/>
                <a:cs typeface="Calibri"/>
              </a:rPr>
              <a:t>A shared cleaned copy keeps all 59,400 records</a:t>
            </a:r>
          </a:p>
        </p:txBody>
      </p:sp>
      <p:sp>
        <p:nvSpPr>
          <p:cNvPr id="13" name="cleaned-note">
            <a:extLst xmlns:a="http://schemas.openxmlformats.org/drawingml/2006/main">
              <a:ext uri="{FF2B5EF4-FFF2-40B4-BE49-F238E27FC236}">
                <a16:creationId xmlns:a16="http://schemas.microsoft.com/office/drawing/2014/main" id="{8A2ACFB7-D984-4525-8FE3-4129E658A43A}"/>
              </a:ext>
            </a:extLst>
          </p:cNvPr>
          <p:cNvSpPr>
            <a:spLocks xmlns:a="http://schemas.openxmlformats.org/drawingml/2006/main" noGrp="1"/>
          </p:cNvSpPr>
          <p:nvPr/>
        </p:nvSpPr>
        <p:spPr>
          <a:xfrm xmlns:a="http://schemas.openxmlformats.org/drawingml/2006/main">
            <a:off x="609600" y="6191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4C686E"/>
                </a:solidFill>
                <a:latin typeface="Calibri"/>
                <a:ea typeface="Calibri"/>
                <a:cs typeface="Calibri"/>
              </a:defRPr>
            </a:defPPr>
          </a:lstStyle>
          <a:p xmlns:a="http://schemas.openxmlformats.org/drawingml/2006/main">
            <a:pPr>
              <a:defRPr sz="1575" b="0">
                <a:solidFill>
                  <a:srgbClr val="4C686E"/>
                </a:solidFill>
                <a:latin typeface="Calibri"/>
                <a:ea typeface="Calibri"/>
                <a:cs typeface="Calibri"/>
              </a:defRPr>
            </a:pPr>
            <a:r>
              <a:rPr sz="1575" b="0">
                <a:solidFill>
                  <a:srgbClr val="4C686E"/>
                </a:solidFill>
                <a:latin typeface="Calibri"/>
                <a:ea typeface="Calibri"/>
                <a:cs typeface="Calibri"/>
              </a:rPr>
              <a:t>Missing values and 9 invalid ages are marked. The 36 repeated records remain for review.</a:t>
            </a:r>
          </a:p>
        </p:txBody>
      </p:sp>
    </p:spTree>
    <p:extLst>
      <p:ext uri="{BB962C8B-B14F-4D97-AF65-F5344CB8AC3E}">
        <p14:creationId xmlns:p14="http://schemas.microsoft.com/office/powerpoint/2010/main" val="927058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header-band">
            <a:extLst xmlns:a="http://schemas.openxmlformats.org/drawingml/2006/main">
              <a:ext uri="{FF2B5EF4-FFF2-40B4-BE49-F238E27FC236}">
                <a16:creationId xmlns:a16="http://schemas.microsoft.com/office/drawing/2014/main" id="{C2A366B0-59B0-4B53-90C5-220E9CFE10B8}"/>
              </a:ext>
            </a:extLst>
          </p:cNvPr>
          <p:cNvSpPr>
            <a:spLocks xmlns:a="http://schemas.openxmlformats.org/drawingml/2006/main" noGrp="1"/>
          </p:cNvSpPr>
          <p:nvPr/>
        </p:nvSpPr>
        <p:spPr>
          <a:xfrm xmlns:a="http://schemas.openxmlformats.org/drawingml/2006/main">
            <a:off x="0" y="0"/>
            <a:ext cx="12192000" cy="1181100"/>
          </a:xfrm>
          <a:prstGeom xmlns:a="http://schemas.openxmlformats.org/drawingml/2006/main" prst="rect">
            <a:avLst/>
          </a:prstGeom>
          <a:solidFill xmlns:a="http://schemas.openxmlformats.org/drawingml/2006/main">
            <a:srgbClr val="EAF6F6"/>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865F2207-2F96-4CB6-BCDE-D6FF607DD520}"/>
              </a:ext>
            </a:extLst>
          </p:cNvPr>
          <p:cNvSpPr>
            <a:spLocks xmlns:a="http://schemas.openxmlformats.org/drawingml/2006/main" noGrp="1"/>
          </p:cNvSpPr>
          <p:nvPr/>
        </p:nvSpPr>
        <p:spPr>
          <a:xfrm xmlns:a="http://schemas.openxmlformats.org/drawingml/2006/main">
            <a:off x="609600" y="2286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28090"/>
                </a:solidFill>
                <a:latin typeface="Calibri"/>
                <a:ea typeface="Calibri"/>
                <a:cs typeface="Calibri"/>
              </a:defRPr>
            </a:defPPr>
          </a:lstStyle>
          <a:p xmlns:a="http://schemas.openxmlformats.org/drawingml/2006/main">
            <a:pPr>
              <a:defRPr sz="1350" b="1">
                <a:solidFill>
                  <a:srgbClr val="028090"/>
                </a:solidFill>
                <a:latin typeface="Calibri"/>
                <a:ea typeface="Calibri"/>
                <a:cs typeface="Calibri"/>
              </a:defRPr>
            </a:pPr>
            <a:r>
              <a:rPr sz="1350" b="1">
                <a:solidFill>
                  <a:srgbClr val="028090"/>
                </a:solidFill>
                <a:latin typeface="Calibri"/>
                <a:ea typeface="Calibri"/>
                <a:cs typeface="Calibri"/>
              </a:rPr>
              <a:t>MAIN FINDINGS</a:t>
            </a:r>
          </a:p>
        </p:txBody>
      </p:sp>
      <p:sp>
        <p:nvSpPr>
          <p:cNvPr id="3" name="title">
            <a:extLst xmlns:a="http://schemas.openxmlformats.org/drawingml/2006/main">
              <a:ext uri="{FF2B5EF4-FFF2-40B4-BE49-F238E27FC236}">
                <a16:creationId xmlns:a16="http://schemas.microsoft.com/office/drawing/2014/main" id="{14E2026F-C208-4F46-94C5-7A1CD8907D8E}"/>
              </a:ext>
            </a:extLst>
          </p:cNvPr>
          <p:cNvSpPr>
            <a:spLocks xmlns:a="http://schemas.openxmlformats.org/drawingml/2006/main" noGrp="1"/>
          </p:cNvSpPr>
          <p:nvPr/>
        </p:nvSpPr>
        <p:spPr>
          <a:xfrm xmlns:a="http://schemas.openxmlformats.org/drawingml/2006/main">
            <a:off x="609600" y="5810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6262A"/>
                </a:solidFill>
                <a:latin typeface="Cambria"/>
                <a:ea typeface="Cambria"/>
                <a:cs typeface="Cambria"/>
              </a:defRPr>
            </a:defPPr>
          </a:lstStyle>
          <a:p xmlns:a="http://schemas.openxmlformats.org/drawingml/2006/main">
            <a:pPr>
              <a:defRPr sz="3000" b="1">
                <a:solidFill>
                  <a:srgbClr val="16262A"/>
                </a:solidFill>
                <a:latin typeface="Cambria"/>
                <a:ea typeface="Cambria"/>
                <a:cs typeface="Cambria"/>
              </a:defRPr>
            </a:pPr>
            <a:r>
              <a:rPr sz="3000" b="1">
                <a:solidFill>
                  <a:srgbClr val="16262A"/>
                </a:solidFill>
                <a:latin typeface="Cambria"/>
                <a:ea typeface="Cambria"/>
                <a:cs typeface="Cambria"/>
              </a:rPr>
              <a:t>Water supply and age are linked to pump condition</a:t>
            </a:r>
          </a:p>
        </p:txBody>
      </p:sp>
      <p:sp>
        <p:nvSpPr>
          <p:cNvPr id="4" name="page">
            <a:extLst xmlns:a="http://schemas.openxmlformats.org/drawingml/2006/main">
              <a:ext uri="{FF2B5EF4-FFF2-40B4-BE49-F238E27FC236}">
                <a16:creationId xmlns:a16="http://schemas.microsoft.com/office/drawing/2014/main" id="{BFA4A3B7-9418-4C68-9112-1AEB009FC147}"/>
              </a:ext>
            </a:extLst>
          </p:cNvPr>
          <p:cNvSpPr>
            <a:spLocks xmlns:a="http://schemas.openxmlformats.org/drawingml/2006/main" noGrp="1"/>
          </p:cNvSpPr>
          <p:nvPr/>
        </p:nvSpPr>
        <p:spPr>
          <a:xfrm xmlns:a="http://schemas.openxmlformats.org/drawingml/2006/main">
            <a:off x="11658600" y="6496050"/>
            <a:ext cx="238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C686E"/>
                </a:solidFill>
                <a:latin typeface="Calibri"/>
                <a:ea typeface="Calibri"/>
                <a:cs typeface="Calibri"/>
              </a:defRPr>
            </a:defPPr>
          </a:lstStyle>
          <a:p xmlns:a="http://schemas.openxmlformats.org/drawingml/2006/main">
            <a:pPr>
              <a:defRPr sz="1125" b="0">
                <a:solidFill>
                  <a:srgbClr val="4C686E"/>
                </a:solidFill>
                <a:latin typeface="Calibri"/>
                <a:ea typeface="Calibri"/>
                <a:cs typeface="Calibri"/>
              </a:defRPr>
            </a:pPr>
            <a:r>
              <a:rPr sz="1125" b="0">
                <a:solidFill>
                  <a:srgbClr val="4C686E"/>
                </a:solidFill>
                <a:latin typeface="Calibri"/>
                <a:ea typeface="Calibri"/>
                <a:cs typeface="Calibri"/>
              </a:rPr>
              <a:t>4</a:t>
            </a:r>
          </a:p>
        </p:txBody>
      </p:sp>
      <p:sp>
        <p:nvSpPr>
          <p:cNvPr id="5" name="figure-title">
            <a:extLst xmlns:a="http://schemas.openxmlformats.org/drawingml/2006/main">
              <a:ext uri="{FF2B5EF4-FFF2-40B4-BE49-F238E27FC236}">
                <a16:creationId xmlns:a16="http://schemas.microsoft.com/office/drawing/2014/main" id="{C8CC6264-5603-4097-AB41-12D80409F01A}"/>
              </a:ext>
            </a:extLst>
          </p:cNvPr>
          <p:cNvSpPr>
            <a:spLocks xmlns:a="http://schemas.openxmlformats.org/drawingml/2006/main" noGrp="1"/>
          </p:cNvSpPr>
          <p:nvPr/>
        </p:nvSpPr>
        <p:spPr>
          <a:xfrm xmlns:a="http://schemas.openxmlformats.org/drawingml/2006/main">
            <a:off x="609600" y="1581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6262A"/>
                </a:solidFill>
                <a:latin typeface="Calibri"/>
                <a:ea typeface="Calibri"/>
                <a:cs typeface="Calibri"/>
              </a:defRPr>
            </a:defPPr>
          </a:lstStyle>
          <a:p xmlns:a="http://schemas.openxmlformats.org/drawingml/2006/main">
            <a:pPr>
              <a:defRPr sz="1950" b="1">
                <a:solidFill>
                  <a:srgbClr val="16262A"/>
                </a:solidFill>
                <a:latin typeface="Calibri"/>
                <a:ea typeface="Calibri"/>
                <a:cs typeface="Calibri"/>
              </a:defRPr>
            </a:pPr>
            <a:r>
              <a:rPr sz="1950" b="1">
                <a:solidFill>
                  <a:srgbClr val="16262A"/>
                </a:solidFill>
                <a:latin typeface="Calibri"/>
                <a:ea typeface="Calibri"/>
                <a:cs typeface="Calibri"/>
              </a:rPr>
              <a:t>Recorded water supply</a:t>
            </a:r>
          </a:p>
        </p:txBody>
      </p:sp>
      <p:sp>
        <p:nvSpPr>
          <p:cNvPr id="6" name="figure-title">
            <a:extLst xmlns:a="http://schemas.openxmlformats.org/drawingml/2006/main">
              <a:ext uri="{FF2B5EF4-FFF2-40B4-BE49-F238E27FC236}">
                <a16:creationId xmlns:a16="http://schemas.microsoft.com/office/drawing/2014/main" id="{2D6738F1-277F-4BE0-B948-CCE3AE831018}"/>
              </a:ext>
            </a:extLst>
          </p:cNvPr>
          <p:cNvSpPr>
            <a:spLocks xmlns:a="http://schemas.openxmlformats.org/drawingml/2006/main" noGrp="1"/>
          </p:cNvSpPr>
          <p:nvPr/>
        </p:nvSpPr>
        <p:spPr>
          <a:xfrm xmlns:a="http://schemas.openxmlformats.org/drawingml/2006/main">
            <a:off x="6477000" y="1581150"/>
            <a:ext cx="5105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8F78"/>
                </a:solidFill>
                <a:latin typeface="Calibri"/>
                <a:ea typeface="Calibri"/>
                <a:cs typeface="Calibri"/>
              </a:defRPr>
            </a:defPPr>
          </a:lstStyle>
          <a:p xmlns:a="http://schemas.openxmlformats.org/drawingml/2006/main">
            <a:pPr>
              <a:defRPr sz="1950" b="1">
                <a:solidFill>
                  <a:srgbClr val="008F78"/>
                </a:solidFill>
                <a:latin typeface="Calibri"/>
                <a:ea typeface="Calibri"/>
                <a:cs typeface="Calibri"/>
              </a:defRPr>
            </a:pPr>
            <a:r>
              <a:rPr sz="1950" b="1">
                <a:solidFill>
                  <a:srgbClr val="008F78"/>
                </a:solidFill>
                <a:latin typeface="Calibri"/>
                <a:ea typeface="Calibri"/>
                <a:cs typeface="Calibri"/>
              </a:rPr>
              <a:t>Working share by age</a:t>
            </a:r>
          </a:p>
        </p:txBody>
      </p:sp>
      <p:graphicFrame>
        <p:nvGraphicFramePr>
          <p:cNvPr id="7" name="Chart">
            <a:extLst xmlns:a="http://schemas.openxmlformats.org/drawingml/2006/main">
              <a:ext uri="{FF2B5EF4-FFF2-40B4-BE49-F238E27FC236}">
                <a16:creationId xmlns:a16="http://schemas.microsoft.com/office/drawing/2014/main" id="{BCE557C6-D548-4F9C-A590-1D33D68FD4FC}"/>
              </a:ext>
            </a:extLst>
          </p:cNvPr>
          <p:cNvGraphicFramePr/>
          <p:nvPr/>
        </p:nvGraphicFramePr>
        <p:xfrm>
          <a:off xmlns:a="http://schemas.openxmlformats.org/drawingml/2006/main" x="419100" y="2114550"/>
          <a:ext xmlns:a="http://schemas.openxmlformats.org/drawingml/2006/main" cx="5410200" cy="2619375"/>
        </p:xfrm>
        <a:graphic xmlns:a="http://schemas.openxmlformats.org/drawingml/2006/main">
          <a:graphicData uri="http://schemas.openxmlformats.org/drawingml/2006/chart">
            <c:chart xmlns:r="http://schemas.openxmlformats.org/officeDocument/2006/relationships" xmlns:c="http://schemas.openxmlformats.org/drawingml/2006/chart" r:id="R8e02effe66a24043"/>
          </a:graphicData>
        </a:graphic>
      </p:graphicFrame>
      <p:sp>
        <p:nvSpPr>
          <p:cNvPr id="8" name="status-legend">
            <a:extLst xmlns:a="http://schemas.openxmlformats.org/drawingml/2006/main">
              <a:ext uri="{FF2B5EF4-FFF2-40B4-BE49-F238E27FC236}">
                <a16:creationId xmlns:a16="http://schemas.microsoft.com/office/drawing/2014/main" id="{C6CC9A4C-58AE-4B7E-B28D-1C881BCA037C}"/>
              </a:ext>
            </a:extLst>
          </p:cNvPr>
          <p:cNvSpPr>
            <a:spLocks xmlns:a="http://schemas.openxmlformats.org/drawingml/2006/main" noGrp="1"/>
          </p:cNvSpPr>
          <p:nvPr/>
        </p:nvSpPr>
        <p:spPr>
          <a:xfrm xmlns:a="http://schemas.openxmlformats.org/drawingml/2006/main">
            <a:off x="609600" y="490537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008F78"/>
                </a:solidFill>
                <a:latin typeface="Calibri"/>
                <a:ea typeface="Calibri"/>
                <a:cs typeface="Calibri"/>
              </a:defRPr>
            </a:defPPr>
          </a:lstStyle>
          <a:p xmlns:a="http://schemas.openxmlformats.org/drawingml/2006/main">
            <a:pPr>
              <a:defRPr sz="1650" b="1">
                <a:solidFill>
                  <a:srgbClr val="008F78"/>
                </a:solidFill>
                <a:latin typeface="Calibri"/>
                <a:ea typeface="Calibri"/>
                <a:cs typeface="Calibri"/>
              </a:defRPr>
            </a:pPr>
            <a:r>
              <a:rPr sz="1650" b="1">
                <a:solidFill>
                  <a:srgbClr val="008F78"/>
                </a:solidFill>
                <a:latin typeface="Calibri"/>
                <a:ea typeface="Calibri"/>
                <a:cs typeface="Calibri"/>
              </a:rPr>
              <a:t>Working</a:t>
            </a:r>
          </a:p>
        </p:txBody>
      </p:sp>
      <p:sp>
        <p:nvSpPr>
          <p:cNvPr id="9" name="status-legend">
            <a:extLst xmlns:a="http://schemas.openxmlformats.org/drawingml/2006/main">
              <a:ext uri="{FF2B5EF4-FFF2-40B4-BE49-F238E27FC236}">
                <a16:creationId xmlns:a16="http://schemas.microsoft.com/office/drawing/2014/main" id="{482649A8-0AD7-4329-A3B9-FACB38FBB1DD}"/>
              </a:ext>
            </a:extLst>
          </p:cNvPr>
          <p:cNvSpPr>
            <a:spLocks xmlns:a="http://schemas.openxmlformats.org/drawingml/2006/main" noGrp="1"/>
          </p:cNvSpPr>
          <p:nvPr/>
        </p:nvSpPr>
        <p:spPr>
          <a:xfrm xmlns:a="http://schemas.openxmlformats.org/drawingml/2006/main">
            <a:off x="2352675" y="490537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B77900"/>
                </a:solidFill>
                <a:latin typeface="Calibri"/>
                <a:ea typeface="Calibri"/>
                <a:cs typeface="Calibri"/>
              </a:defRPr>
            </a:defPPr>
          </a:lstStyle>
          <a:p xmlns:a="http://schemas.openxmlformats.org/drawingml/2006/main">
            <a:pPr>
              <a:defRPr sz="1650" b="1">
                <a:solidFill>
                  <a:srgbClr val="B77900"/>
                </a:solidFill>
                <a:latin typeface="Calibri"/>
                <a:ea typeface="Calibri"/>
                <a:cs typeface="Calibri"/>
              </a:defRPr>
            </a:pPr>
            <a:r>
              <a:rPr sz="1650" b="1">
                <a:solidFill>
                  <a:srgbClr val="B77900"/>
                </a:solidFill>
                <a:latin typeface="Calibri"/>
                <a:ea typeface="Calibri"/>
                <a:cs typeface="Calibri"/>
              </a:rPr>
              <a:t>Needs repair</a:t>
            </a:r>
          </a:p>
        </p:txBody>
      </p:sp>
      <p:sp>
        <p:nvSpPr>
          <p:cNvPr id="10" name="status-legend">
            <a:extLst xmlns:a="http://schemas.openxmlformats.org/drawingml/2006/main">
              <a:ext uri="{FF2B5EF4-FFF2-40B4-BE49-F238E27FC236}">
                <a16:creationId xmlns:a16="http://schemas.microsoft.com/office/drawing/2014/main" id="{D59B16F9-4CB5-4A0F-87D5-79E6DE1C00F9}"/>
              </a:ext>
            </a:extLst>
          </p:cNvPr>
          <p:cNvSpPr>
            <a:spLocks xmlns:a="http://schemas.openxmlformats.org/drawingml/2006/main" noGrp="1"/>
          </p:cNvSpPr>
          <p:nvPr/>
        </p:nvSpPr>
        <p:spPr>
          <a:xfrm xmlns:a="http://schemas.openxmlformats.org/drawingml/2006/main">
            <a:off x="4095750" y="4905375"/>
            <a:ext cx="166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C6283E"/>
                </a:solidFill>
                <a:latin typeface="Calibri"/>
                <a:ea typeface="Calibri"/>
                <a:cs typeface="Calibri"/>
              </a:defRPr>
            </a:defPPr>
          </a:lstStyle>
          <a:p xmlns:a="http://schemas.openxmlformats.org/drawingml/2006/main">
            <a:pPr>
              <a:defRPr sz="1650" b="1">
                <a:solidFill>
                  <a:srgbClr val="C6283E"/>
                </a:solidFill>
                <a:latin typeface="Calibri"/>
                <a:ea typeface="Calibri"/>
                <a:cs typeface="Calibri"/>
              </a:defRPr>
            </a:pPr>
            <a:r>
              <a:rPr sz="1650" b="1">
                <a:solidFill>
                  <a:srgbClr val="C6283E"/>
                </a:solidFill>
                <a:latin typeface="Calibri"/>
                <a:ea typeface="Calibri"/>
                <a:cs typeface="Calibri"/>
              </a:rPr>
              <a:t>Not working</a:t>
            </a:r>
          </a:p>
        </p:txBody>
      </p:sp>
      <p:graphicFrame>
        <p:nvGraphicFramePr>
          <p:cNvPr id="11" name="Chart">
            <a:extLst xmlns:a="http://schemas.openxmlformats.org/drawingml/2006/main">
              <a:ext uri="{FF2B5EF4-FFF2-40B4-BE49-F238E27FC236}">
                <a16:creationId xmlns:a16="http://schemas.microsoft.com/office/drawing/2014/main" id="{FCB3D897-A5CD-4F3D-BA39-4B3CE846819B}"/>
              </a:ext>
            </a:extLst>
          </p:cNvPr>
          <p:cNvGraphicFramePr/>
          <p:nvPr/>
        </p:nvGraphicFramePr>
        <p:xfrm>
          <a:off xmlns:a="http://schemas.openxmlformats.org/drawingml/2006/main" x="6334125" y="2076450"/>
          <a:ext xmlns:a="http://schemas.openxmlformats.org/drawingml/2006/main" cx="5248275" cy="3114675"/>
        </p:xfrm>
        <a:graphic xmlns:a="http://schemas.openxmlformats.org/drawingml/2006/main">
          <a:graphicData uri="http://schemas.openxmlformats.org/drawingml/2006/chart">
            <c:chart xmlns:r="http://schemas.openxmlformats.org/officeDocument/2006/relationships" xmlns:c="http://schemas.openxmlformats.org/drawingml/2006/chart" r:id="R88f0335cf49a4e1a"/>
          </a:graphicData>
        </a:graphic>
      </p:graphicFrame>
      <p:sp>
        <p:nvSpPr>
          <p:cNvPr id="12" name="water-takeaway">
            <a:extLst xmlns:a="http://schemas.openxmlformats.org/drawingml/2006/main">
              <a:ext uri="{FF2B5EF4-FFF2-40B4-BE49-F238E27FC236}">
                <a16:creationId xmlns:a16="http://schemas.microsoft.com/office/drawing/2014/main" id="{17EDEF20-A9BC-4AAB-9842-A11BE5421150}"/>
              </a:ext>
            </a:extLst>
          </p:cNvPr>
          <p:cNvSpPr>
            <a:spLocks xmlns:a="http://schemas.openxmlformats.org/drawingml/2006/main" noGrp="1"/>
          </p:cNvSpPr>
          <p:nvPr/>
        </p:nvSpPr>
        <p:spPr>
          <a:xfrm xmlns:a="http://schemas.openxmlformats.org/drawingml/2006/main">
            <a:off x="609600" y="5429250"/>
            <a:ext cx="523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C6283E"/>
                </a:solidFill>
                <a:latin typeface="Calibri"/>
                <a:ea typeface="Calibri"/>
                <a:cs typeface="Calibri"/>
              </a:defRPr>
            </a:defPPr>
          </a:lstStyle>
          <a:p xmlns:a="http://schemas.openxmlformats.org/drawingml/2006/main">
            <a:pPr>
              <a:defRPr sz="2175" b="1">
                <a:solidFill>
                  <a:srgbClr val="C6283E"/>
                </a:solidFill>
                <a:latin typeface="Calibri"/>
                <a:ea typeface="Calibri"/>
                <a:cs typeface="Calibri"/>
              </a:defRPr>
            </a:pPr>
            <a:r>
              <a:rPr sz="2175" b="1">
                <a:solidFill>
                  <a:srgbClr val="C6283E"/>
                </a:solidFill>
                <a:latin typeface="Calibri"/>
                <a:ea typeface="Calibri"/>
                <a:cs typeface="Calibri"/>
              </a:rPr>
              <a:t>96.9% of dry waterpoints</a:t>
            </a:r>
          </a:p>
          <a:p xmlns:a="http://schemas.openxmlformats.org/drawingml/2006/main">
            <a:pPr>
              <a:defRPr sz="2175" b="1">
                <a:solidFill>
                  <a:srgbClr val="C6283E"/>
                </a:solidFill>
                <a:latin typeface="Calibri"/>
                <a:ea typeface="Calibri"/>
                <a:cs typeface="Calibri"/>
              </a:defRPr>
            </a:pPr>
            <a:r>
              <a:rPr sz="2175" b="1">
                <a:solidFill>
                  <a:srgbClr val="C6283E"/>
                </a:solidFill>
                <a:latin typeface="Calibri"/>
                <a:ea typeface="Calibri"/>
                <a:cs typeface="Calibri"/>
              </a:rPr>
              <a:t>are not working</a:t>
            </a:r>
          </a:p>
        </p:txBody>
      </p:sp>
      <p:sp>
        <p:nvSpPr>
          <p:cNvPr id="13" name="age-takeaway">
            <a:extLst xmlns:a="http://schemas.openxmlformats.org/drawingml/2006/main">
              <a:ext uri="{FF2B5EF4-FFF2-40B4-BE49-F238E27FC236}">
                <a16:creationId xmlns:a16="http://schemas.microsoft.com/office/drawing/2014/main" id="{AD41951E-9A70-4A26-9578-12A15D994233}"/>
              </a:ext>
            </a:extLst>
          </p:cNvPr>
          <p:cNvSpPr>
            <a:spLocks xmlns:a="http://schemas.openxmlformats.org/drawingml/2006/main" noGrp="1"/>
          </p:cNvSpPr>
          <p:nvPr/>
        </p:nvSpPr>
        <p:spPr>
          <a:xfrm xmlns:a="http://schemas.openxmlformats.org/drawingml/2006/main">
            <a:off x="6477000" y="5429250"/>
            <a:ext cx="5105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08F78"/>
                </a:solidFill>
                <a:latin typeface="Calibri"/>
                <a:ea typeface="Calibri"/>
                <a:cs typeface="Calibri"/>
              </a:defRPr>
            </a:defPPr>
          </a:lstStyle>
          <a:p xmlns:a="http://schemas.openxmlformats.org/drawingml/2006/main">
            <a:pPr>
              <a:defRPr sz="1950" b="1">
                <a:solidFill>
                  <a:srgbClr val="008F78"/>
                </a:solidFill>
                <a:latin typeface="Calibri"/>
                <a:ea typeface="Calibri"/>
                <a:cs typeface="Calibri"/>
              </a:defRPr>
            </a:pPr>
            <a:r>
              <a:rPr sz="1950" b="1">
                <a:solidFill>
                  <a:srgbClr val="008F78"/>
                </a:solidFill>
                <a:latin typeface="Calibri"/>
                <a:ea typeface="Calibri"/>
                <a:cs typeface="Calibri"/>
              </a:rPr>
              <a:t>The age gap also appears within</a:t>
            </a:r>
          </a:p>
          <a:p xmlns:a="http://schemas.openxmlformats.org/drawingml/2006/main">
            <a:pPr>
              <a:defRPr sz="1950" b="1">
                <a:solidFill>
                  <a:srgbClr val="008F78"/>
                </a:solidFill>
                <a:latin typeface="Calibri"/>
                <a:ea typeface="Calibri"/>
                <a:cs typeface="Calibri"/>
              </a:defRPr>
            </a:pPr>
            <a:r>
              <a:rPr sz="1950" b="1">
                <a:solidFill>
                  <a:srgbClr val="008F78"/>
                </a:solidFill>
                <a:latin typeface="Calibri"/>
                <a:ea typeface="Calibri"/>
                <a:cs typeface="Calibri"/>
              </a:rPr>
              <a:t>16 regions and 5 pump groups</a:t>
            </a:r>
          </a:p>
        </p:txBody>
      </p:sp>
      <p:sp>
        <p:nvSpPr>
          <p:cNvPr id="14" name="age-denominator">
            <a:extLst xmlns:a="http://schemas.openxmlformats.org/drawingml/2006/main">
              <a:ext uri="{FF2B5EF4-FFF2-40B4-BE49-F238E27FC236}">
                <a16:creationId xmlns:a16="http://schemas.microsoft.com/office/drawing/2014/main" id="{73DA4C13-B843-4612-9019-87D55392AE75}"/>
              </a:ext>
            </a:extLst>
          </p:cNvPr>
          <p:cNvSpPr>
            <a:spLocks xmlns:a="http://schemas.openxmlformats.org/drawingml/2006/main" noGrp="1"/>
          </p:cNvSpPr>
          <p:nvPr/>
        </p:nvSpPr>
        <p:spPr>
          <a:xfrm xmlns:a="http://schemas.openxmlformats.org/drawingml/2006/main">
            <a:off x="609600" y="63341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C686E"/>
                </a:solidFill>
                <a:latin typeface="Calibri"/>
                <a:ea typeface="Calibri"/>
                <a:cs typeface="Calibri"/>
              </a:defRPr>
            </a:defPPr>
          </a:lstStyle>
          <a:p xmlns:a="http://schemas.openxmlformats.org/drawingml/2006/main">
            <a:pPr>
              <a:defRPr sz="1350" b="0">
                <a:solidFill>
                  <a:srgbClr val="4C686E"/>
                </a:solidFill>
                <a:latin typeface="Calibri"/>
                <a:ea typeface="Calibri"/>
                <a:cs typeface="Calibri"/>
              </a:defRPr>
            </a:pPr>
            <a:r>
              <a:rPr sz="1350" b="0">
                <a:solidFill>
                  <a:srgbClr val="4C686E"/>
                </a:solidFill>
                <a:latin typeface="Calibri"/>
                <a:ea typeface="Calibri"/>
                <a:cs typeface="Calibri"/>
              </a:rPr>
              <a:t>Age plot: 38,682 usable ages. Within-group checks require at least 30 records in both the youngest and oldest groups.</a:t>
            </a:r>
          </a:p>
        </p:txBody>
      </p:sp>
    </p:spTree>
    <p:extLst>
      <p:ext uri="{BB962C8B-B14F-4D97-AF65-F5344CB8AC3E}">
        <p14:creationId xmlns:p14="http://schemas.microsoft.com/office/powerpoint/2010/main" val="14254406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eader-band">
            <a:extLst xmlns:a="http://schemas.openxmlformats.org/drawingml/2006/main">
              <a:ext uri="{FF2B5EF4-FFF2-40B4-BE49-F238E27FC236}">
                <a16:creationId xmlns:a16="http://schemas.microsoft.com/office/drawing/2014/main" id="{65E17EF0-55B6-43AE-861C-2820A6930196}"/>
              </a:ext>
            </a:extLst>
          </p:cNvPr>
          <p:cNvSpPr>
            <a:spLocks xmlns:a="http://schemas.openxmlformats.org/drawingml/2006/main" noGrp="1"/>
          </p:cNvSpPr>
          <p:nvPr/>
        </p:nvSpPr>
        <p:spPr>
          <a:xfrm xmlns:a="http://schemas.openxmlformats.org/drawingml/2006/main">
            <a:off x="0" y="0"/>
            <a:ext cx="12192000" cy="1181100"/>
          </a:xfrm>
          <a:prstGeom xmlns:a="http://schemas.openxmlformats.org/drawingml/2006/main" prst="rect">
            <a:avLst/>
          </a:prstGeom>
          <a:solidFill xmlns:a="http://schemas.openxmlformats.org/drawingml/2006/main">
            <a:srgbClr val="EAF6F6"/>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9861677B-FAFB-4669-8BB1-6E341281CEE0}"/>
              </a:ext>
            </a:extLst>
          </p:cNvPr>
          <p:cNvSpPr>
            <a:spLocks xmlns:a="http://schemas.openxmlformats.org/drawingml/2006/main" noGrp="1"/>
          </p:cNvSpPr>
          <p:nvPr/>
        </p:nvSpPr>
        <p:spPr>
          <a:xfrm xmlns:a="http://schemas.openxmlformats.org/drawingml/2006/main">
            <a:off x="609600" y="2286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28090"/>
                </a:solidFill>
                <a:latin typeface="Calibri"/>
                <a:ea typeface="Calibri"/>
                <a:cs typeface="Calibri"/>
              </a:defRPr>
            </a:defPPr>
          </a:lstStyle>
          <a:p xmlns:a="http://schemas.openxmlformats.org/drawingml/2006/main">
            <a:pPr>
              <a:defRPr sz="1350" b="1">
                <a:solidFill>
                  <a:srgbClr val="028090"/>
                </a:solidFill>
                <a:latin typeface="Calibri"/>
                <a:ea typeface="Calibri"/>
                <a:cs typeface="Calibri"/>
              </a:defRPr>
            </a:pPr>
            <a:r>
              <a:rPr sz="1350" b="1">
                <a:solidFill>
                  <a:srgbClr val="028090"/>
                </a:solidFill>
                <a:latin typeface="Calibri"/>
                <a:ea typeface="Calibri"/>
                <a:cs typeface="Calibri"/>
              </a:rPr>
              <a:t>A CHECK ON THE NUMERIC FIELDS</a:t>
            </a:r>
          </a:p>
        </p:txBody>
      </p:sp>
      <p:sp>
        <p:nvSpPr>
          <p:cNvPr id="3" name="title">
            <a:extLst xmlns:a="http://schemas.openxmlformats.org/drawingml/2006/main">
              <a:ext uri="{FF2B5EF4-FFF2-40B4-BE49-F238E27FC236}">
                <a16:creationId xmlns:a16="http://schemas.microsoft.com/office/drawing/2014/main" id="{E9AE3A6F-D3BB-471B-BA36-467A6F113C50}"/>
              </a:ext>
            </a:extLst>
          </p:cNvPr>
          <p:cNvSpPr>
            <a:spLocks xmlns:a="http://schemas.openxmlformats.org/drawingml/2006/main" noGrp="1"/>
          </p:cNvSpPr>
          <p:nvPr/>
        </p:nvSpPr>
        <p:spPr>
          <a:xfrm xmlns:a="http://schemas.openxmlformats.org/drawingml/2006/main">
            <a:off x="609600" y="5810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6262A"/>
                </a:solidFill>
                <a:latin typeface="Cambria"/>
                <a:ea typeface="Cambria"/>
                <a:cs typeface="Cambria"/>
              </a:defRPr>
            </a:defPPr>
          </a:lstStyle>
          <a:p xmlns:a="http://schemas.openxmlformats.org/drawingml/2006/main">
            <a:pPr>
              <a:defRPr sz="3000" b="1">
                <a:solidFill>
                  <a:srgbClr val="16262A"/>
                </a:solidFill>
                <a:latin typeface="Cambria"/>
                <a:ea typeface="Cambria"/>
                <a:cs typeface="Cambria"/>
              </a:defRPr>
            </a:pPr>
            <a:r>
              <a:rPr sz="3000" b="1">
                <a:solidFill>
                  <a:srgbClr val="16262A"/>
                </a:solidFill>
                <a:latin typeface="Cambria"/>
                <a:ea typeface="Cambria"/>
                <a:cs typeface="Cambria"/>
              </a:rPr>
              <a:t>Zero heights change one numeric result</a:t>
            </a:r>
          </a:p>
        </p:txBody>
      </p:sp>
      <p:sp>
        <p:nvSpPr>
          <p:cNvPr id="4" name="page">
            <a:extLst xmlns:a="http://schemas.openxmlformats.org/drawingml/2006/main">
              <a:ext uri="{FF2B5EF4-FFF2-40B4-BE49-F238E27FC236}">
                <a16:creationId xmlns:a16="http://schemas.microsoft.com/office/drawing/2014/main" id="{68A15EE0-6A2B-44B3-B718-2C4B7E41325A}"/>
              </a:ext>
            </a:extLst>
          </p:cNvPr>
          <p:cNvSpPr>
            <a:spLocks xmlns:a="http://schemas.openxmlformats.org/drawingml/2006/main" noGrp="1"/>
          </p:cNvSpPr>
          <p:nvPr/>
        </p:nvSpPr>
        <p:spPr>
          <a:xfrm xmlns:a="http://schemas.openxmlformats.org/drawingml/2006/main">
            <a:off x="11658600" y="6496050"/>
            <a:ext cx="238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C686E"/>
                </a:solidFill>
                <a:latin typeface="Calibri"/>
                <a:ea typeface="Calibri"/>
                <a:cs typeface="Calibri"/>
              </a:defRPr>
            </a:defPPr>
          </a:lstStyle>
          <a:p xmlns:a="http://schemas.openxmlformats.org/drawingml/2006/main">
            <a:pPr>
              <a:defRPr sz="1125" b="0">
                <a:solidFill>
                  <a:srgbClr val="4C686E"/>
                </a:solidFill>
                <a:latin typeface="Calibri"/>
                <a:ea typeface="Calibri"/>
                <a:cs typeface="Calibri"/>
              </a:defRPr>
            </a:pPr>
            <a:r>
              <a:rPr sz="1125" b="0">
                <a:solidFill>
                  <a:srgbClr val="4C686E"/>
                </a:solidFill>
                <a:latin typeface="Calibri"/>
                <a:ea typeface="Calibri"/>
                <a:cs typeface="Calibri"/>
              </a:rPr>
              <a:t>5</a:t>
            </a:r>
          </a:p>
        </p:txBody>
      </p:sp>
      <p:sp>
        <p:nvSpPr>
          <p:cNvPr id="5" name="figure-title">
            <a:extLst xmlns:a="http://schemas.openxmlformats.org/drawingml/2006/main">
              <a:ext uri="{FF2B5EF4-FFF2-40B4-BE49-F238E27FC236}">
                <a16:creationId xmlns:a16="http://schemas.microsoft.com/office/drawing/2014/main" id="{949EF0B9-7608-4AD4-8066-8A1BE36DDCD5}"/>
              </a:ext>
            </a:extLst>
          </p:cNvPr>
          <p:cNvSpPr>
            <a:spLocks xmlns:a="http://schemas.openxmlformats.org/drawingml/2006/main" noGrp="1"/>
          </p:cNvSpPr>
          <p:nvPr/>
        </p:nvSpPr>
        <p:spPr>
          <a:xfrm xmlns:a="http://schemas.openxmlformats.org/drawingml/2006/main">
            <a:off x="609600" y="15621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262A"/>
                </a:solidFill>
                <a:latin typeface="Calibri"/>
                <a:ea typeface="Calibri"/>
                <a:cs typeface="Calibri"/>
              </a:defRPr>
            </a:defPPr>
          </a:lstStyle>
          <a:p xmlns:a="http://schemas.openxmlformats.org/drawingml/2006/main">
            <a:pPr>
              <a:defRPr sz="2025" b="1">
                <a:solidFill>
                  <a:srgbClr val="16262A"/>
                </a:solidFill>
                <a:latin typeface="Calibri"/>
                <a:ea typeface="Calibri"/>
                <a:cs typeface="Calibri"/>
              </a:defRPr>
            </a:pPr>
            <a:r>
              <a:rPr sz="2025" b="1">
                <a:solidFill>
                  <a:srgbClr val="16262A"/>
                </a:solidFill>
                <a:latin typeface="Calibri"/>
                <a:ea typeface="Calibri"/>
                <a:cs typeface="Calibri"/>
              </a:rPr>
              <a:t>All recorded heights</a:t>
            </a:r>
          </a:p>
        </p:txBody>
      </p:sp>
      <p:sp>
        <p:nvSpPr>
          <p:cNvPr id="6" name="figure-title">
            <a:extLst xmlns:a="http://schemas.openxmlformats.org/drawingml/2006/main">
              <a:ext uri="{FF2B5EF4-FFF2-40B4-BE49-F238E27FC236}">
                <a16:creationId xmlns:a16="http://schemas.microsoft.com/office/drawing/2014/main" id="{D3B9780C-93AF-4164-8377-A7974DC4FFCF}"/>
              </a:ext>
            </a:extLst>
          </p:cNvPr>
          <p:cNvSpPr>
            <a:spLocks xmlns:a="http://schemas.openxmlformats.org/drawingml/2006/main" noGrp="1"/>
          </p:cNvSpPr>
          <p:nvPr/>
        </p:nvSpPr>
        <p:spPr>
          <a:xfrm xmlns:a="http://schemas.openxmlformats.org/drawingml/2006/main">
            <a:off x="6534150" y="15621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262A"/>
                </a:solidFill>
                <a:latin typeface="Calibri"/>
                <a:ea typeface="Calibri"/>
                <a:cs typeface="Calibri"/>
              </a:defRPr>
            </a:defPPr>
          </a:lstStyle>
          <a:p xmlns:a="http://schemas.openxmlformats.org/drawingml/2006/main">
            <a:pPr>
              <a:defRPr sz="2025" b="1">
                <a:solidFill>
                  <a:srgbClr val="16262A"/>
                </a:solidFill>
                <a:latin typeface="Calibri"/>
                <a:ea typeface="Calibri"/>
                <a:cs typeface="Calibri"/>
              </a:defRPr>
            </a:pPr>
            <a:r>
              <a:rPr sz="2025" b="1">
                <a:solidFill>
                  <a:srgbClr val="16262A"/>
                </a:solidFill>
                <a:latin typeface="Calibri"/>
                <a:ea typeface="Calibri"/>
                <a:cs typeface="Calibri"/>
              </a:rPr>
              <a:t>Zero heights left out</a:t>
            </a:r>
          </a:p>
        </p:txBody>
      </p:sp>
      <p:graphicFrame>
        <p:nvGraphicFramePr>
          <p:cNvPr id="7" name="">
            <a:extLst xmlns:a="http://schemas.openxmlformats.org/drawingml/2006/main">
              <a:ext uri="{FF2B5EF4-FFF2-40B4-BE49-F238E27FC236}">
                <a16:creationId xmlns:a16="http://schemas.microsoft.com/office/drawing/2014/main" id="{EC1D5E87-D50A-4333-962E-0D0D17139E5B}"/>
              </a:ext>
            </a:extLst>
          </p:cNvPr>
          <p:cNvGraphicFramePr/>
          <p:nvPr/>
        </p:nvGraphicFramePr>
        <p:xfrm>
          <a:off xmlns:a="http://schemas.openxmlformats.org/drawingml/2006/main" x="609600" y="2114550"/>
          <a:ext xmlns:a="http://schemas.openxmlformats.org/drawingml/2006/main" cx="5048250" cy="3105150"/>
        </p:xfrm>
        <a:graphic xmlns:a="http://schemas.openxmlformats.org/drawingml/2006/main">
          <a:graphicData uri="http://schemas.openxmlformats.org/drawingml/2006/table">
            <a:tbl>
              <a:tblPr firstRow="0" firstCol="0" bandRow="0" bandCol="0"/>
              <a:tblGrid>
                <a:gridCol w="1238250"/>
                <a:gridCol w="952500"/>
                <a:gridCol w="952500"/>
                <a:gridCol w="952500"/>
                <a:gridCol w="952500"/>
              </a:tblGrid>
              <a:tr h="590550">
                <a:tc>
                  <a:txBody>
                    <a:bodyPr lIns="28575" tIns="28575" rIns="28575" bIns="28575"/>
                    <a:lstStyle/>
                    <a:p>
                      <a:r>
                        <a:rPr sz="1725" b="1">
                          <a:solidFill>
                            <a:srgbClr val="16262A"/>
                          </a:solidFill>
                          <a:latin typeface="Calibri"/>
                          <a:ea typeface="Calibri"/>
                          <a:cs typeface="Calibri"/>
                        </a:rPr>
                        <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6F6"/>
                    </a:solidFill>
                  </a:tcPr>
                </a:tc>
                <a:tc>
                  <a:txBody>
                    <a:bodyPr lIns="28575" tIns="28575" rIns="28575" bIns="28575"/>
                    <a:lstStyle/>
                    <a:p>
                      <a:pPr algn="ctr"/>
                      <a:r>
                        <a:rPr sz="1725" b="1">
                          <a:solidFill>
                            <a:srgbClr val="16262A"/>
                          </a:solidFill>
                          <a:latin typeface="Calibri"/>
                          <a:ea typeface="Calibri"/>
                          <a:cs typeface="Calibri"/>
                        </a:rPr>
                        <a:t>Age</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EAF6F6"/>
                    </a:solidFill>
                  </a:tcPr>
                </a:tc>
                <a:tc>
                  <a:txBody>
                    <a:bodyPr lIns="28575" tIns="28575" rIns="28575" bIns="28575"/>
                    <a:lstStyle/>
                    <a:p>
                      <a:pPr algn="ctr"/>
                      <a:r>
                        <a:rPr sz="1725" b="1">
                          <a:solidFill>
                            <a:srgbClr val="16262A"/>
                          </a:solidFill>
                          <a:latin typeface="Calibri"/>
                          <a:ea typeface="Calibri"/>
                          <a:cs typeface="Calibri"/>
                        </a:rPr>
                        <a:t>People</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EAF6F6"/>
                    </a:solidFill>
                  </a:tcPr>
                </a:tc>
                <a:tc>
                  <a:txBody>
                    <a:bodyPr lIns="28575" tIns="28575" rIns="28575" bIns="28575"/>
                    <a:lstStyle/>
                    <a:p>
                      <a:pPr algn="ctr"/>
                      <a:r>
                        <a:rPr sz="1725" b="1">
                          <a:solidFill>
                            <a:srgbClr val="16262A"/>
                          </a:solidFill>
                          <a:latin typeface="Calibri"/>
                          <a:ea typeface="Calibri"/>
                          <a:cs typeface="Calibri"/>
                        </a:rPr>
                        <a:t>Amount</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EAF6F6"/>
                    </a:solidFill>
                  </a:tcPr>
                </a:tc>
                <a:tc>
                  <a:txBody>
                    <a:bodyPr lIns="28575" tIns="28575" rIns="28575" bIns="28575"/>
                    <a:lstStyle/>
                    <a:p>
                      <a:pPr algn="ctr"/>
                      <a:r>
                        <a:rPr sz="1725" b="1">
                          <a:solidFill>
                            <a:srgbClr val="16262A"/>
                          </a:solidFill>
                          <a:latin typeface="Calibri"/>
                          <a:ea typeface="Calibri"/>
                          <a:cs typeface="Calibri"/>
                        </a:rPr>
                        <a:t>Height</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EAF6F6"/>
                    </a:solidFill>
                  </a:tcPr>
                </a:tc>
              </a:tr>
              <a:tr h="628650">
                <a:tc>
                  <a:txBody>
                    <a:bodyPr lIns="28575" tIns="28575" rIns="28575" bIns="28575"/>
                    <a:lstStyle/>
                    <a:p>
                      <a:pPr algn="ctr"/>
                      <a:r>
                        <a:rPr sz="1725" b="1">
                          <a:solidFill>
                            <a:srgbClr val="16262A"/>
                          </a:solidFill>
                          <a:latin typeface="Calibri"/>
                          <a:ea typeface="Calibri"/>
                          <a:cs typeface="Calibri"/>
                        </a:rPr>
                        <a:t>Age</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EAF6F6"/>
                    </a:solidFill>
                  </a:tcPr>
                </a:tc>
                <a:tc>
                  <a:txBody>
                    <a:bodyPr lIns="28575" tIns="28575" rIns="28575" bIns="28575"/>
                    <a:lstStyle/>
                    <a:p>
                      <a:pPr algn="ctr"/>
                      <a:r>
                        <a:rPr sz="1875" b="0">
                          <a:solidFill>
                            <a:srgbClr val="FFFFFF"/>
                          </a:solidFill>
                          <a:latin typeface="Calibri"/>
                          <a:ea typeface="Calibri"/>
                          <a:cs typeface="Calibri"/>
                        </a:rPr>
                        <a:t>1.00</a:t>
                      </a:r>
                    </a:p>
                  </a:txBody>
                  <a:tcPr marL="91440" marR="91440" marT="45720" marB="45720" anchor="ctr">
                    <a:lnR w="19050">
                      <a:solidFill>
                        <a:srgbClr val="FFFFFF"/>
                      </a:solidFill>
                      <a:prstDash val="solid"/>
                    </a:lnR>
                    <a:lnB w="19050">
                      <a:solidFill>
                        <a:srgbClr val="FFFFFF"/>
                      </a:solidFill>
                      <a:prstDash val="solid"/>
                    </a:lnB>
                    <a:solidFill>
                      <a:srgbClr val="5C3A8C"/>
                    </a:solidFill>
                  </a:tcPr>
                </a:tc>
                <a:tc>
                  <a:txBody>
                    <a:bodyPr lIns="28575" tIns="28575" rIns="28575" bIns="28575"/>
                    <a:lstStyle/>
                    <a:p>
                      <a:pPr algn="ctr"/>
                      <a:r>
                        <a:rPr sz="1875" b="0">
                          <a:solidFill>
                            <a:srgbClr val="16262A"/>
                          </a:solidFill>
                          <a:latin typeface="Calibri"/>
                          <a:ea typeface="Calibri"/>
                          <a:cs typeface="Calibri"/>
                        </a:rPr>
                        <a:t>-0.02</a:t>
                      </a:r>
                    </a:p>
                  </a:txBody>
                  <a:tcPr marL="91440" marR="91440" marT="45720" marB="45720" anchor="ctr">
                    <a:lnR w="19050">
                      <a:solidFill>
                        <a:srgbClr val="FFFFFF"/>
                      </a:solidFill>
                      <a:prstDash val="solid"/>
                    </a:lnR>
                    <a:lnB w="19050">
                      <a:solidFill>
                        <a:srgbClr val="FFFFFF"/>
                      </a:solidFill>
                      <a:prstDash val="solid"/>
                    </a:lnB>
                    <a:solidFill>
                      <a:srgbClr val="F1F0F5"/>
                    </a:solidFill>
                  </a:tcPr>
                </a:tc>
                <a:tc>
                  <a:txBody>
                    <a:bodyPr lIns="28575" tIns="28575" rIns="28575" bIns="28575"/>
                    <a:lstStyle/>
                    <a:p>
                      <a:pPr algn="ctr"/>
                      <a:r>
                        <a:rPr sz="1875" b="0">
                          <a:solidFill>
                            <a:srgbClr val="16262A"/>
                          </a:solidFill>
                          <a:latin typeface="Calibri"/>
                          <a:ea typeface="Calibri"/>
                          <a:cs typeface="Calibri"/>
                        </a:rPr>
                        <a:t>-0.08</a:t>
                      </a:r>
                    </a:p>
                  </a:txBody>
                  <a:tcPr marL="91440" marR="91440" marT="45720" marB="45720" anchor="ctr">
                    <a:lnR w="19050">
                      <a:solidFill>
                        <a:srgbClr val="FFFFFF"/>
                      </a:solidFill>
                      <a:prstDash val="solid"/>
                    </a:lnR>
                    <a:lnB w="19050">
                      <a:solidFill>
                        <a:srgbClr val="FFFFFF"/>
                      </a:solidFill>
                      <a:prstDash val="solid"/>
                    </a:lnB>
                    <a:solidFill>
                      <a:srgbClr val="E5E6EE"/>
                    </a:solidFill>
                  </a:tcPr>
                </a:tc>
                <a:tc>
                  <a:txBody>
                    <a:bodyPr lIns="28575" tIns="28575" rIns="28575" bIns="28575"/>
                    <a:lstStyle/>
                    <a:p>
                      <a:pPr algn="ctr"/>
                      <a:r>
                        <a:rPr sz="1875" b="0">
                          <a:solidFill>
                            <a:srgbClr val="16262A"/>
                          </a:solidFill>
                          <a:latin typeface="Calibri"/>
                          <a:ea typeface="Calibri"/>
                          <a:cs typeface="Calibri"/>
                        </a:rPr>
                        <a:t>0.03</a:t>
                      </a:r>
                    </a:p>
                  </a:txBody>
                  <a:tcPr marL="91440" marR="91440" marT="45720" marB="45720" anchor="ctr">
                    <a:lnR w="19050">
                      <a:solidFill>
                        <a:srgbClr val="FFFFFF"/>
                      </a:solidFill>
                      <a:prstDash val="solid"/>
                    </a:lnR>
                    <a:lnB w="19050">
                      <a:solidFill>
                        <a:srgbClr val="FFFFFF"/>
                      </a:solidFill>
                      <a:prstDash val="solid"/>
                    </a:lnB>
                    <a:solidFill>
                      <a:srgbClr val="EFECF3"/>
                    </a:solidFill>
                  </a:tcPr>
                </a:tc>
              </a:tr>
              <a:tr h="628650">
                <a:tc>
                  <a:txBody>
                    <a:bodyPr lIns="28575" tIns="28575" rIns="28575" bIns="28575"/>
                    <a:lstStyle/>
                    <a:p>
                      <a:pPr algn="ctr"/>
                      <a:r>
                        <a:rPr sz="1725" b="1">
                          <a:solidFill>
                            <a:srgbClr val="16262A"/>
                          </a:solidFill>
                          <a:latin typeface="Calibri"/>
                          <a:ea typeface="Calibri"/>
                          <a:cs typeface="Calibri"/>
                        </a:rPr>
                        <a:t>People</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EAF6F6"/>
                    </a:solidFill>
                  </a:tcPr>
                </a:tc>
                <a:tc>
                  <a:txBody>
                    <a:bodyPr lIns="28575" tIns="28575" rIns="28575" bIns="28575"/>
                    <a:lstStyle/>
                    <a:p>
                      <a:pPr algn="ctr"/>
                      <a:r>
                        <a:rPr sz="1875" b="0">
                          <a:solidFill>
                            <a:srgbClr val="16262A"/>
                          </a:solidFill>
                          <a:latin typeface="Calibri"/>
                          <a:ea typeface="Calibri"/>
                          <a:cs typeface="Calibri"/>
                        </a:rPr>
                        <a:t>-0.02</a:t>
                      </a:r>
                    </a:p>
                  </a:txBody>
                  <a:tcPr marL="91440" marR="91440" marT="45720" marB="45720" anchor="ctr">
                    <a:lnR w="19050">
                      <a:solidFill>
                        <a:srgbClr val="FFFFFF"/>
                      </a:solidFill>
                      <a:prstDash val="solid"/>
                    </a:lnR>
                    <a:lnB w="19050">
                      <a:solidFill>
                        <a:srgbClr val="FFFFFF"/>
                      </a:solidFill>
                      <a:prstDash val="solid"/>
                    </a:lnB>
                    <a:solidFill>
                      <a:srgbClr val="F1F0F5"/>
                    </a:solidFill>
                  </a:tcPr>
                </a:tc>
                <a:tc>
                  <a:txBody>
                    <a:bodyPr lIns="28575" tIns="28575" rIns="28575" bIns="28575"/>
                    <a:lstStyle/>
                    <a:p>
                      <a:pPr algn="ctr"/>
                      <a:r>
                        <a:rPr sz="1875" b="0">
                          <a:solidFill>
                            <a:srgbClr val="FFFFFF"/>
                          </a:solidFill>
                          <a:latin typeface="Calibri"/>
                          <a:ea typeface="Calibri"/>
                          <a:cs typeface="Calibri"/>
                        </a:rPr>
                        <a:t>1.00</a:t>
                      </a:r>
                    </a:p>
                  </a:txBody>
                  <a:tcPr marL="91440" marR="91440" marT="45720" marB="45720" anchor="ctr">
                    <a:lnR w="19050">
                      <a:solidFill>
                        <a:srgbClr val="FFFFFF"/>
                      </a:solidFill>
                      <a:prstDash val="solid"/>
                    </a:lnR>
                    <a:lnB w="19050">
                      <a:solidFill>
                        <a:srgbClr val="FFFFFF"/>
                      </a:solidFill>
                      <a:prstDash val="solid"/>
                    </a:lnB>
                    <a:solidFill>
                      <a:srgbClr val="5C3A8C"/>
                    </a:solidFill>
                  </a:tcPr>
                </a:tc>
                <a:tc>
                  <a:txBody>
                    <a:bodyPr lIns="28575" tIns="28575" rIns="28575" bIns="28575"/>
                    <a:lstStyle/>
                    <a:p>
                      <a:pPr algn="ctr"/>
                      <a:r>
                        <a:rPr sz="1875" b="0">
                          <a:solidFill>
                            <a:srgbClr val="16262A"/>
                          </a:solidFill>
                          <a:latin typeface="Calibri"/>
                          <a:ea typeface="Calibri"/>
                          <a:cs typeface="Calibri"/>
                        </a:rPr>
                        <a:t>0.02</a:t>
                      </a:r>
                    </a:p>
                  </a:txBody>
                  <a:tcPr marL="91440" marR="91440" marT="45720" marB="45720" anchor="ctr">
                    <a:lnR w="19050">
                      <a:solidFill>
                        <a:srgbClr val="FFFFFF"/>
                      </a:solidFill>
                      <a:prstDash val="solid"/>
                    </a:lnR>
                    <a:lnB w="19050">
                      <a:solidFill>
                        <a:srgbClr val="FFFFFF"/>
                      </a:solidFill>
                      <a:prstDash val="solid"/>
                    </a:lnB>
                    <a:solidFill>
                      <a:srgbClr val="F1EEF5"/>
                    </a:solidFill>
                  </a:tcPr>
                </a:tc>
                <a:tc>
                  <a:txBody>
                    <a:bodyPr lIns="28575" tIns="28575" rIns="28575" bIns="28575"/>
                    <a:lstStyle/>
                    <a:p>
                      <a:pPr algn="ctr"/>
                      <a:r>
                        <a:rPr sz="1875" b="0">
                          <a:solidFill>
                            <a:srgbClr val="16262A"/>
                          </a:solidFill>
                          <a:latin typeface="Calibri"/>
                          <a:ea typeface="Calibri"/>
                          <a:cs typeface="Calibri"/>
                        </a:rPr>
                        <a:t>-0.07</a:t>
                      </a:r>
                    </a:p>
                  </a:txBody>
                  <a:tcPr marL="91440" marR="91440" marT="45720" marB="45720" anchor="ctr">
                    <a:lnR w="19050">
                      <a:solidFill>
                        <a:srgbClr val="FFFFFF"/>
                      </a:solidFill>
                      <a:prstDash val="solid"/>
                    </a:lnR>
                    <a:lnB w="19050">
                      <a:solidFill>
                        <a:srgbClr val="FFFFFF"/>
                      </a:solidFill>
                      <a:prstDash val="solid"/>
                    </a:lnB>
                    <a:solidFill>
                      <a:srgbClr val="E8E9F0"/>
                    </a:solidFill>
                  </a:tcPr>
                </a:tc>
              </a:tr>
              <a:tr h="628650">
                <a:tc>
                  <a:txBody>
                    <a:bodyPr lIns="28575" tIns="28575" rIns="28575" bIns="28575"/>
                    <a:lstStyle/>
                    <a:p>
                      <a:pPr algn="ctr"/>
                      <a:r>
                        <a:rPr sz="1725" b="1">
                          <a:solidFill>
                            <a:srgbClr val="16262A"/>
                          </a:solidFill>
                          <a:latin typeface="Calibri"/>
                          <a:ea typeface="Calibri"/>
                          <a:cs typeface="Calibri"/>
                        </a:rPr>
                        <a:t>Amount</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EAF6F6"/>
                    </a:solidFill>
                  </a:tcPr>
                </a:tc>
                <a:tc>
                  <a:txBody>
                    <a:bodyPr lIns="28575" tIns="28575" rIns="28575" bIns="28575"/>
                    <a:lstStyle/>
                    <a:p>
                      <a:pPr algn="ctr"/>
                      <a:r>
                        <a:rPr sz="1875" b="0">
                          <a:solidFill>
                            <a:srgbClr val="16262A"/>
                          </a:solidFill>
                          <a:latin typeface="Calibri"/>
                          <a:ea typeface="Calibri"/>
                          <a:cs typeface="Calibri"/>
                        </a:rPr>
                        <a:t>-0.08</a:t>
                      </a:r>
                    </a:p>
                  </a:txBody>
                  <a:tcPr marL="91440" marR="91440" marT="45720" marB="45720" anchor="ctr">
                    <a:lnR w="19050">
                      <a:solidFill>
                        <a:srgbClr val="FFFFFF"/>
                      </a:solidFill>
                      <a:prstDash val="solid"/>
                    </a:lnR>
                    <a:lnB w="19050">
                      <a:solidFill>
                        <a:srgbClr val="FFFFFF"/>
                      </a:solidFill>
                      <a:prstDash val="solid"/>
                    </a:lnB>
                    <a:solidFill>
                      <a:srgbClr val="E5E6EE"/>
                    </a:solidFill>
                  </a:tcPr>
                </a:tc>
                <a:tc>
                  <a:txBody>
                    <a:bodyPr lIns="28575" tIns="28575" rIns="28575" bIns="28575"/>
                    <a:lstStyle/>
                    <a:p>
                      <a:pPr algn="ctr"/>
                      <a:r>
                        <a:rPr sz="1875" b="0">
                          <a:solidFill>
                            <a:srgbClr val="16262A"/>
                          </a:solidFill>
                          <a:latin typeface="Calibri"/>
                          <a:ea typeface="Calibri"/>
                          <a:cs typeface="Calibri"/>
                        </a:rPr>
                        <a:t>0.02</a:t>
                      </a:r>
                    </a:p>
                  </a:txBody>
                  <a:tcPr marL="91440" marR="91440" marT="45720" marB="45720" anchor="ctr">
                    <a:lnR w="19050">
                      <a:solidFill>
                        <a:srgbClr val="FFFFFF"/>
                      </a:solidFill>
                      <a:prstDash val="solid"/>
                    </a:lnR>
                    <a:lnB w="19050">
                      <a:solidFill>
                        <a:srgbClr val="FFFFFF"/>
                      </a:solidFill>
                      <a:prstDash val="solid"/>
                    </a:lnB>
                    <a:solidFill>
                      <a:srgbClr val="F1EEF5"/>
                    </a:solidFill>
                  </a:tcPr>
                </a:tc>
                <a:tc>
                  <a:txBody>
                    <a:bodyPr lIns="28575" tIns="28575" rIns="28575" bIns="28575"/>
                    <a:lstStyle/>
                    <a:p>
                      <a:pPr algn="ctr"/>
                      <a:r>
                        <a:rPr sz="1875" b="0">
                          <a:solidFill>
                            <a:srgbClr val="FFFFFF"/>
                          </a:solidFill>
                          <a:latin typeface="Calibri"/>
                          <a:ea typeface="Calibri"/>
                          <a:cs typeface="Calibri"/>
                        </a:rPr>
                        <a:t>1.00</a:t>
                      </a:r>
                    </a:p>
                  </a:txBody>
                  <a:tcPr marL="91440" marR="91440" marT="45720" marB="45720" anchor="ctr">
                    <a:lnR w="19050">
                      <a:solidFill>
                        <a:srgbClr val="FFFFFF"/>
                      </a:solidFill>
                      <a:prstDash val="solid"/>
                    </a:lnR>
                    <a:lnB w="19050">
                      <a:solidFill>
                        <a:srgbClr val="FFFFFF"/>
                      </a:solidFill>
                      <a:prstDash val="solid"/>
                    </a:lnB>
                    <a:solidFill>
                      <a:srgbClr val="5C3A8C"/>
                    </a:solidFill>
                  </a:tcPr>
                </a:tc>
                <a:tc>
                  <a:txBody>
                    <a:bodyPr lIns="28575" tIns="28575" rIns="28575" bIns="28575"/>
                    <a:lstStyle/>
                    <a:p>
                      <a:pPr algn="ctr"/>
                      <a:r>
                        <a:rPr sz="2250" b="1">
                          <a:solidFill>
                            <a:srgbClr val="16262A"/>
                          </a:solidFill>
                          <a:latin typeface="Calibri"/>
                          <a:ea typeface="Calibri"/>
                          <a:cs typeface="Calibri"/>
                        </a:rPr>
                        <a:t>0.34</a:t>
                      </a:r>
                    </a:p>
                  </a:txBody>
                  <a:tcPr marL="91440" marR="91440" marT="45720" marB="45720" anchor="ctr">
                    <a:lnR w="19050">
                      <a:solidFill>
                        <a:srgbClr val="FFFFFF"/>
                      </a:solidFill>
                      <a:prstDash val="solid"/>
                    </a:lnR>
                    <a:lnB w="19050">
                      <a:solidFill>
                        <a:srgbClr val="FFFFFF"/>
                      </a:solidFill>
                      <a:prstDash val="solid"/>
                    </a:lnB>
                    <a:solidFill>
                      <a:srgbClr val="C0B3D2"/>
                    </a:solidFill>
                  </a:tcPr>
                </a:tc>
              </a:tr>
              <a:tr h="628650">
                <a:tc>
                  <a:txBody>
                    <a:bodyPr lIns="28575" tIns="28575" rIns="28575" bIns="28575"/>
                    <a:lstStyle/>
                    <a:p>
                      <a:pPr algn="ctr"/>
                      <a:r>
                        <a:rPr sz="1725" b="1">
                          <a:solidFill>
                            <a:srgbClr val="16262A"/>
                          </a:solidFill>
                          <a:latin typeface="Calibri"/>
                          <a:ea typeface="Calibri"/>
                          <a:cs typeface="Calibri"/>
                        </a:rPr>
                        <a:t>Height</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EAF6F6"/>
                    </a:solidFill>
                  </a:tcPr>
                </a:tc>
                <a:tc>
                  <a:txBody>
                    <a:bodyPr lIns="28575" tIns="28575" rIns="28575" bIns="28575"/>
                    <a:lstStyle/>
                    <a:p>
                      <a:pPr algn="ctr"/>
                      <a:r>
                        <a:rPr sz="1875" b="0">
                          <a:solidFill>
                            <a:srgbClr val="16262A"/>
                          </a:solidFill>
                          <a:latin typeface="Calibri"/>
                          <a:ea typeface="Calibri"/>
                          <a:cs typeface="Calibri"/>
                        </a:rPr>
                        <a:t>0.03</a:t>
                      </a:r>
                    </a:p>
                  </a:txBody>
                  <a:tcPr marL="91440" marR="91440" marT="45720" marB="45720" anchor="ctr">
                    <a:lnR w="19050">
                      <a:solidFill>
                        <a:srgbClr val="FFFFFF"/>
                      </a:solidFill>
                      <a:prstDash val="solid"/>
                    </a:lnR>
                    <a:lnB w="19050">
                      <a:solidFill>
                        <a:srgbClr val="FFFFFF"/>
                      </a:solidFill>
                      <a:prstDash val="solid"/>
                    </a:lnB>
                    <a:solidFill>
                      <a:srgbClr val="EFECF3"/>
                    </a:solidFill>
                  </a:tcPr>
                </a:tc>
                <a:tc>
                  <a:txBody>
                    <a:bodyPr lIns="28575" tIns="28575" rIns="28575" bIns="28575"/>
                    <a:lstStyle/>
                    <a:p>
                      <a:pPr algn="ctr"/>
                      <a:r>
                        <a:rPr sz="1875" b="0">
                          <a:solidFill>
                            <a:srgbClr val="16262A"/>
                          </a:solidFill>
                          <a:latin typeface="Calibri"/>
                          <a:ea typeface="Calibri"/>
                          <a:cs typeface="Calibri"/>
                        </a:rPr>
                        <a:t>-0.07</a:t>
                      </a:r>
                    </a:p>
                  </a:txBody>
                  <a:tcPr marL="91440" marR="91440" marT="45720" marB="45720" anchor="ctr">
                    <a:lnR w="19050">
                      <a:solidFill>
                        <a:srgbClr val="FFFFFF"/>
                      </a:solidFill>
                      <a:prstDash val="solid"/>
                    </a:lnR>
                    <a:lnB w="19050">
                      <a:solidFill>
                        <a:srgbClr val="FFFFFF"/>
                      </a:solidFill>
                      <a:prstDash val="solid"/>
                    </a:lnB>
                    <a:solidFill>
                      <a:srgbClr val="E8E9F0"/>
                    </a:solidFill>
                  </a:tcPr>
                </a:tc>
                <a:tc>
                  <a:txBody>
                    <a:bodyPr lIns="28575" tIns="28575" rIns="28575" bIns="28575"/>
                    <a:lstStyle/>
                    <a:p>
                      <a:pPr algn="ctr"/>
                      <a:r>
                        <a:rPr sz="2250" b="1">
                          <a:solidFill>
                            <a:srgbClr val="16262A"/>
                          </a:solidFill>
                          <a:latin typeface="Calibri"/>
                          <a:ea typeface="Calibri"/>
                          <a:cs typeface="Calibri"/>
                        </a:rPr>
                        <a:t>0.34</a:t>
                      </a:r>
                    </a:p>
                  </a:txBody>
                  <a:tcPr marL="91440" marR="91440" marT="45720" marB="45720" anchor="ctr">
                    <a:lnR w="19050">
                      <a:solidFill>
                        <a:srgbClr val="FFFFFF"/>
                      </a:solidFill>
                      <a:prstDash val="solid"/>
                    </a:lnR>
                    <a:lnB w="19050">
                      <a:solidFill>
                        <a:srgbClr val="FFFFFF"/>
                      </a:solidFill>
                      <a:prstDash val="solid"/>
                    </a:lnB>
                    <a:solidFill>
                      <a:srgbClr val="C0B3D2"/>
                    </a:solidFill>
                  </a:tcPr>
                </a:tc>
                <a:tc>
                  <a:txBody>
                    <a:bodyPr lIns="28575" tIns="28575" rIns="28575" bIns="28575"/>
                    <a:lstStyle/>
                    <a:p>
                      <a:pPr algn="ctr"/>
                      <a:r>
                        <a:rPr sz="1875" b="0">
                          <a:solidFill>
                            <a:srgbClr val="FFFFFF"/>
                          </a:solidFill>
                          <a:latin typeface="Calibri"/>
                          <a:ea typeface="Calibri"/>
                          <a:cs typeface="Calibri"/>
                        </a:rPr>
                        <a:t>1.00</a:t>
                      </a:r>
                    </a:p>
                  </a:txBody>
                  <a:tcPr marL="91440" marR="91440" marT="45720" marB="45720" anchor="ctr">
                    <a:lnR w="19050">
                      <a:solidFill>
                        <a:srgbClr val="FFFFFF"/>
                      </a:solidFill>
                      <a:prstDash val="solid"/>
                    </a:lnR>
                    <a:lnB w="19050">
                      <a:solidFill>
                        <a:srgbClr val="FFFFFF"/>
                      </a:solidFill>
                      <a:prstDash val="solid"/>
                    </a:lnB>
                    <a:solidFill>
                      <a:srgbClr val="5C3A8C"/>
                    </a:solidFill>
                  </a:tcPr>
                </a:tc>
              </a:tr>
            </a:tbl>
          </a:graphicData>
        </a:graphic>
      </p:graphicFrame>
      <p:graphicFrame>
        <p:nvGraphicFramePr>
          <p:cNvPr id="8" name="">
            <a:extLst xmlns:a="http://schemas.openxmlformats.org/drawingml/2006/main">
              <a:ext uri="{FF2B5EF4-FFF2-40B4-BE49-F238E27FC236}">
                <a16:creationId xmlns:a16="http://schemas.microsoft.com/office/drawing/2014/main" id="{0E36B4C8-7728-496F-9C6F-5A8432CDFAE6}"/>
              </a:ext>
            </a:extLst>
          </p:cNvPr>
          <p:cNvGraphicFramePr/>
          <p:nvPr/>
        </p:nvGraphicFramePr>
        <p:xfrm>
          <a:off xmlns:a="http://schemas.openxmlformats.org/drawingml/2006/main" x="6534150" y="2114550"/>
          <a:ext xmlns:a="http://schemas.openxmlformats.org/drawingml/2006/main" cx="5048250" cy="3105150"/>
        </p:xfrm>
        <a:graphic xmlns:a="http://schemas.openxmlformats.org/drawingml/2006/main">
          <a:graphicData uri="http://schemas.openxmlformats.org/drawingml/2006/table">
            <a:tbl>
              <a:tblPr firstRow="0" firstCol="0" bandRow="0" bandCol="0"/>
              <a:tblGrid>
                <a:gridCol w="1238250"/>
                <a:gridCol w="952500"/>
                <a:gridCol w="952500"/>
                <a:gridCol w="952500"/>
                <a:gridCol w="952500"/>
              </a:tblGrid>
              <a:tr h="590550">
                <a:tc>
                  <a:txBody>
                    <a:bodyPr lIns="28575" tIns="28575" rIns="28575" bIns="28575"/>
                    <a:lstStyle/>
                    <a:p>
                      <a:r>
                        <a:rPr sz="1725" b="1">
                          <a:solidFill>
                            <a:srgbClr val="16262A"/>
                          </a:solidFill>
                          <a:latin typeface="Calibri"/>
                          <a:ea typeface="Calibri"/>
                          <a:cs typeface="Calibri"/>
                        </a:rPr>
                        <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6F6"/>
                    </a:solidFill>
                  </a:tcPr>
                </a:tc>
                <a:tc>
                  <a:txBody>
                    <a:bodyPr lIns="28575" tIns="28575" rIns="28575" bIns="28575"/>
                    <a:lstStyle/>
                    <a:p>
                      <a:pPr algn="ctr"/>
                      <a:r>
                        <a:rPr sz="1725" b="1">
                          <a:solidFill>
                            <a:srgbClr val="16262A"/>
                          </a:solidFill>
                          <a:latin typeface="Calibri"/>
                          <a:ea typeface="Calibri"/>
                          <a:cs typeface="Calibri"/>
                        </a:rPr>
                        <a:t>Age</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EAF6F6"/>
                    </a:solidFill>
                  </a:tcPr>
                </a:tc>
                <a:tc>
                  <a:txBody>
                    <a:bodyPr lIns="28575" tIns="28575" rIns="28575" bIns="28575"/>
                    <a:lstStyle/>
                    <a:p>
                      <a:pPr algn="ctr"/>
                      <a:r>
                        <a:rPr sz="1725" b="1">
                          <a:solidFill>
                            <a:srgbClr val="16262A"/>
                          </a:solidFill>
                          <a:latin typeface="Calibri"/>
                          <a:ea typeface="Calibri"/>
                          <a:cs typeface="Calibri"/>
                        </a:rPr>
                        <a:t>People</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EAF6F6"/>
                    </a:solidFill>
                  </a:tcPr>
                </a:tc>
                <a:tc>
                  <a:txBody>
                    <a:bodyPr lIns="28575" tIns="28575" rIns="28575" bIns="28575"/>
                    <a:lstStyle/>
                    <a:p>
                      <a:pPr algn="ctr"/>
                      <a:r>
                        <a:rPr sz="1725" b="1">
                          <a:solidFill>
                            <a:srgbClr val="16262A"/>
                          </a:solidFill>
                          <a:latin typeface="Calibri"/>
                          <a:ea typeface="Calibri"/>
                          <a:cs typeface="Calibri"/>
                        </a:rPr>
                        <a:t>Amount</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EAF6F6"/>
                    </a:solidFill>
                  </a:tcPr>
                </a:tc>
                <a:tc>
                  <a:txBody>
                    <a:bodyPr lIns="28575" tIns="28575" rIns="28575" bIns="28575"/>
                    <a:lstStyle/>
                    <a:p>
                      <a:pPr algn="ctr"/>
                      <a:r>
                        <a:rPr sz="1725" b="1">
                          <a:solidFill>
                            <a:srgbClr val="16262A"/>
                          </a:solidFill>
                          <a:latin typeface="Calibri"/>
                          <a:ea typeface="Calibri"/>
                          <a:cs typeface="Calibri"/>
                        </a:rPr>
                        <a:t>Height</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EAF6F6"/>
                    </a:solidFill>
                  </a:tcPr>
                </a:tc>
              </a:tr>
              <a:tr h="628650">
                <a:tc>
                  <a:txBody>
                    <a:bodyPr lIns="28575" tIns="28575" rIns="28575" bIns="28575"/>
                    <a:lstStyle/>
                    <a:p>
                      <a:pPr algn="ctr"/>
                      <a:r>
                        <a:rPr sz="1725" b="1">
                          <a:solidFill>
                            <a:srgbClr val="16262A"/>
                          </a:solidFill>
                          <a:latin typeface="Calibri"/>
                          <a:ea typeface="Calibri"/>
                          <a:cs typeface="Calibri"/>
                        </a:rPr>
                        <a:t>Age</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EAF6F6"/>
                    </a:solidFill>
                  </a:tcPr>
                </a:tc>
                <a:tc>
                  <a:txBody>
                    <a:bodyPr lIns="28575" tIns="28575" rIns="28575" bIns="28575"/>
                    <a:lstStyle/>
                    <a:p>
                      <a:pPr algn="ctr"/>
                      <a:r>
                        <a:rPr sz="1875" b="0">
                          <a:solidFill>
                            <a:srgbClr val="FFFFFF"/>
                          </a:solidFill>
                          <a:latin typeface="Calibri"/>
                          <a:ea typeface="Calibri"/>
                          <a:cs typeface="Calibri"/>
                        </a:rPr>
                        <a:t>1.00</a:t>
                      </a:r>
                    </a:p>
                  </a:txBody>
                  <a:tcPr marL="91440" marR="91440" marT="45720" marB="45720" anchor="ctr">
                    <a:lnR w="19050">
                      <a:solidFill>
                        <a:srgbClr val="FFFFFF"/>
                      </a:solidFill>
                      <a:prstDash val="solid"/>
                    </a:lnR>
                    <a:lnB w="19050">
                      <a:solidFill>
                        <a:srgbClr val="FFFFFF"/>
                      </a:solidFill>
                      <a:prstDash val="solid"/>
                    </a:lnB>
                    <a:solidFill>
                      <a:srgbClr val="5C3A8C"/>
                    </a:solidFill>
                  </a:tcPr>
                </a:tc>
                <a:tc>
                  <a:txBody>
                    <a:bodyPr lIns="28575" tIns="28575" rIns="28575" bIns="28575"/>
                    <a:lstStyle/>
                    <a:p>
                      <a:pPr algn="ctr"/>
                      <a:r>
                        <a:rPr sz="1875" b="0">
                          <a:solidFill>
                            <a:srgbClr val="16262A"/>
                          </a:solidFill>
                          <a:latin typeface="Calibri"/>
                          <a:ea typeface="Calibri"/>
                          <a:cs typeface="Calibri"/>
                        </a:rPr>
                        <a:t>-0.02</a:t>
                      </a:r>
                    </a:p>
                  </a:txBody>
                  <a:tcPr marL="91440" marR="91440" marT="45720" marB="45720" anchor="ctr">
                    <a:lnR w="19050">
                      <a:solidFill>
                        <a:srgbClr val="FFFFFF"/>
                      </a:solidFill>
                      <a:prstDash val="solid"/>
                    </a:lnR>
                    <a:lnB w="19050">
                      <a:solidFill>
                        <a:srgbClr val="FFFFFF"/>
                      </a:solidFill>
                      <a:prstDash val="solid"/>
                    </a:lnB>
                    <a:solidFill>
                      <a:srgbClr val="F1F0F5"/>
                    </a:solidFill>
                  </a:tcPr>
                </a:tc>
                <a:tc>
                  <a:txBody>
                    <a:bodyPr lIns="28575" tIns="28575" rIns="28575" bIns="28575"/>
                    <a:lstStyle/>
                    <a:p>
                      <a:pPr algn="ctr"/>
                      <a:r>
                        <a:rPr sz="1875" b="0">
                          <a:solidFill>
                            <a:srgbClr val="16262A"/>
                          </a:solidFill>
                          <a:latin typeface="Calibri"/>
                          <a:ea typeface="Calibri"/>
                          <a:cs typeface="Calibri"/>
                        </a:rPr>
                        <a:t>-0.08</a:t>
                      </a:r>
                    </a:p>
                  </a:txBody>
                  <a:tcPr marL="91440" marR="91440" marT="45720" marB="45720" anchor="ctr">
                    <a:lnR w="19050">
                      <a:solidFill>
                        <a:srgbClr val="FFFFFF"/>
                      </a:solidFill>
                      <a:prstDash val="solid"/>
                    </a:lnR>
                    <a:lnB w="19050">
                      <a:solidFill>
                        <a:srgbClr val="FFFFFF"/>
                      </a:solidFill>
                      <a:prstDash val="solid"/>
                    </a:lnB>
                    <a:solidFill>
                      <a:srgbClr val="E5E6EE"/>
                    </a:solidFill>
                  </a:tcPr>
                </a:tc>
                <a:tc>
                  <a:txBody>
                    <a:bodyPr lIns="28575" tIns="28575" rIns="28575" bIns="28575"/>
                    <a:lstStyle/>
                    <a:p>
                      <a:pPr algn="ctr"/>
                      <a:r>
                        <a:rPr sz="1875" b="0">
                          <a:solidFill>
                            <a:srgbClr val="16262A"/>
                          </a:solidFill>
                          <a:latin typeface="Calibri"/>
                          <a:ea typeface="Calibri"/>
                          <a:cs typeface="Calibri"/>
                        </a:rPr>
                        <a:t>0.04</a:t>
                      </a:r>
                    </a:p>
                  </a:txBody>
                  <a:tcPr marL="91440" marR="91440" marT="45720" marB="45720" anchor="ctr">
                    <a:lnR w="19050">
                      <a:solidFill>
                        <a:srgbClr val="FFFFFF"/>
                      </a:solidFill>
                      <a:prstDash val="solid"/>
                    </a:lnR>
                    <a:lnB w="19050">
                      <a:solidFill>
                        <a:srgbClr val="FFFFFF"/>
                      </a:solidFill>
                      <a:prstDash val="solid"/>
                    </a:lnB>
                    <a:solidFill>
                      <a:srgbClr val="EEEBF3"/>
                    </a:solidFill>
                  </a:tcPr>
                </a:tc>
              </a:tr>
              <a:tr h="628650">
                <a:tc>
                  <a:txBody>
                    <a:bodyPr lIns="28575" tIns="28575" rIns="28575" bIns="28575"/>
                    <a:lstStyle/>
                    <a:p>
                      <a:pPr algn="ctr"/>
                      <a:r>
                        <a:rPr sz="1725" b="1">
                          <a:solidFill>
                            <a:srgbClr val="16262A"/>
                          </a:solidFill>
                          <a:latin typeface="Calibri"/>
                          <a:ea typeface="Calibri"/>
                          <a:cs typeface="Calibri"/>
                        </a:rPr>
                        <a:t>People</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EAF6F6"/>
                    </a:solidFill>
                  </a:tcPr>
                </a:tc>
                <a:tc>
                  <a:txBody>
                    <a:bodyPr lIns="28575" tIns="28575" rIns="28575" bIns="28575"/>
                    <a:lstStyle/>
                    <a:p>
                      <a:pPr algn="ctr"/>
                      <a:r>
                        <a:rPr sz="1875" b="0">
                          <a:solidFill>
                            <a:srgbClr val="16262A"/>
                          </a:solidFill>
                          <a:latin typeface="Calibri"/>
                          <a:ea typeface="Calibri"/>
                          <a:cs typeface="Calibri"/>
                        </a:rPr>
                        <a:t>-0.02</a:t>
                      </a:r>
                    </a:p>
                  </a:txBody>
                  <a:tcPr marL="91440" marR="91440" marT="45720" marB="45720" anchor="ctr">
                    <a:lnR w="19050">
                      <a:solidFill>
                        <a:srgbClr val="FFFFFF"/>
                      </a:solidFill>
                      <a:prstDash val="solid"/>
                    </a:lnR>
                    <a:lnB w="19050">
                      <a:solidFill>
                        <a:srgbClr val="FFFFFF"/>
                      </a:solidFill>
                      <a:prstDash val="solid"/>
                    </a:lnB>
                    <a:solidFill>
                      <a:srgbClr val="F1F0F5"/>
                    </a:solidFill>
                  </a:tcPr>
                </a:tc>
                <a:tc>
                  <a:txBody>
                    <a:bodyPr lIns="28575" tIns="28575" rIns="28575" bIns="28575"/>
                    <a:lstStyle/>
                    <a:p>
                      <a:pPr algn="ctr"/>
                      <a:r>
                        <a:rPr sz="1875" b="0">
                          <a:solidFill>
                            <a:srgbClr val="FFFFFF"/>
                          </a:solidFill>
                          <a:latin typeface="Calibri"/>
                          <a:ea typeface="Calibri"/>
                          <a:cs typeface="Calibri"/>
                        </a:rPr>
                        <a:t>1.00</a:t>
                      </a:r>
                    </a:p>
                  </a:txBody>
                  <a:tcPr marL="91440" marR="91440" marT="45720" marB="45720" anchor="ctr">
                    <a:lnR w="19050">
                      <a:solidFill>
                        <a:srgbClr val="FFFFFF"/>
                      </a:solidFill>
                      <a:prstDash val="solid"/>
                    </a:lnR>
                    <a:lnB w="19050">
                      <a:solidFill>
                        <a:srgbClr val="FFFFFF"/>
                      </a:solidFill>
                      <a:prstDash val="solid"/>
                    </a:lnB>
                    <a:solidFill>
                      <a:srgbClr val="5C3A8C"/>
                    </a:solidFill>
                  </a:tcPr>
                </a:tc>
                <a:tc>
                  <a:txBody>
                    <a:bodyPr lIns="28575" tIns="28575" rIns="28575" bIns="28575"/>
                    <a:lstStyle/>
                    <a:p>
                      <a:pPr algn="ctr"/>
                      <a:r>
                        <a:rPr sz="1875" b="0">
                          <a:solidFill>
                            <a:srgbClr val="16262A"/>
                          </a:solidFill>
                          <a:latin typeface="Calibri"/>
                          <a:ea typeface="Calibri"/>
                          <a:cs typeface="Calibri"/>
                        </a:rPr>
                        <a:t>0.02</a:t>
                      </a:r>
                    </a:p>
                  </a:txBody>
                  <a:tcPr marL="91440" marR="91440" marT="45720" marB="45720" anchor="ctr">
                    <a:lnR w="19050">
                      <a:solidFill>
                        <a:srgbClr val="FFFFFF"/>
                      </a:solidFill>
                      <a:prstDash val="solid"/>
                    </a:lnR>
                    <a:lnB w="19050">
                      <a:solidFill>
                        <a:srgbClr val="FFFFFF"/>
                      </a:solidFill>
                      <a:prstDash val="solid"/>
                    </a:lnB>
                    <a:solidFill>
                      <a:srgbClr val="F1EEF5"/>
                    </a:solidFill>
                  </a:tcPr>
                </a:tc>
                <a:tc>
                  <a:txBody>
                    <a:bodyPr lIns="28575" tIns="28575" rIns="28575" bIns="28575"/>
                    <a:lstStyle/>
                    <a:p>
                      <a:pPr algn="ctr"/>
                      <a:r>
                        <a:rPr sz="1875" b="0">
                          <a:solidFill>
                            <a:srgbClr val="16262A"/>
                          </a:solidFill>
                          <a:latin typeface="Calibri"/>
                          <a:ea typeface="Calibri"/>
                          <a:cs typeface="Calibri"/>
                        </a:rPr>
                        <a:t>-0.06</a:t>
                      </a:r>
                    </a:p>
                  </a:txBody>
                  <a:tcPr marL="91440" marR="91440" marT="45720" marB="45720" anchor="ctr">
                    <a:lnR w="19050">
                      <a:solidFill>
                        <a:srgbClr val="FFFFFF"/>
                      </a:solidFill>
                      <a:prstDash val="solid"/>
                    </a:lnR>
                    <a:lnB w="19050">
                      <a:solidFill>
                        <a:srgbClr val="FFFFFF"/>
                      </a:solidFill>
                      <a:prstDash val="solid"/>
                    </a:lnB>
                    <a:solidFill>
                      <a:srgbClr val="E9E9F0"/>
                    </a:solidFill>
                  </a:tcPr>
                </a:tc>
              </a:tr>
              <a:tr h="628650">
                <a:tc>
                  <a:txBody>
                    <a:bodyPr lIns="28575" tIns="28575" rIns="28575" bIns="28575"/>
                    <a:lstStyle/>
                    <a:p>
                      <a:pPr algn="ctr"/>
                      <a:r>
                        <a:rPr sz="1725" b="1">
                          <a:solidFill>
                            <a:srgbClr val="16262A"/>
                          </a:solidFill>
                          <a:latin typeface="Calibri"/>
                          <a:ea typeface="Calibri"/>
                          <a:cs typeface="Calibri"/>
                        </a:rPr>
                        <a:t>Amount</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EAF6F6"/>
                    </a:solidFill>
                  </a:tcPr>
                </a:tc>
                <a:tc>
                  <a:txBody>
                    <a:bodyPr lIns="28575" tIns="28575" rIns="28575" bIns="28575"/>
                    <a:lstStyle/>
                    <a:p>
                      <a:pPr algn="ctr"/>
                      <a:r>
                        <a:rPr sz="1875" b="0">
                          <a:solidFill>
                            <a:srgbClr val="16262A"/>
                          </a:solidFill>
                          <a:latin typeface="Calibri"/>
                          <a:ea typeface="Calibri"/>
                          <a:cs typeface="Calibri"/>
                        </a:rPr>
                        <a:t>-0.08</a:t>
                      </a:r>
                    </a:p>
                  </a:txBody>
                  <a:tcPr marL="91440" marR="91440" marT="45720" marB="45720" anchor="ctr">
                    <a:lnR w="19050">
                      <a:solidFill>
                        <a:srgbClr val="FFFFFF"/>
                      </a:solidFill>
                      <a:prstDash val="solid"/>
                    </a:lnR>
                    <a:lnB w="19050">
                      <a:solidFill>
                        <a:srgbClr val="FFFFFF"/>
                      </a:solidFill>
                      <a:prstDash val="solid"/>
                    </a:lnB>
                    <a:solidFill>
                      <a:srgbClr val="E5E6EE"/>
                    </a:solidFill>
                  </a:tcPr>
                </a:tc>
                <a:tc>
                  <a:txBody>
                    <a:bodyPr lIns="28575" tIns="28575" rIns="28575" bIns="28575"/>
                    <a:lstStyle/>
                    <a:p>
                      <a:pPr algn="ctr"/>
                      <a:r>
                        <a:rPr sz="1875" b="0">
                          <a:solidFill>
                            <a:srgbClr val="16262A"/>
                          </a:solidFill>
                          <a:latin typeface="Calibri"/>
                          <a:ea typeface="Calibri"/>
                          <a:cs typeface="Calibri"/>
                        </a:rPr>
                        <a:t>0.02</a:t>
                      </a:r>
                    </a:p>
                  </a:txBody>
                  <a:tcPr marL="91440" marR="91440" marT="45720" marB="45720" anchor="ctr">
                    <a:lnR w="19050">
                      <a:solidFill>
                        <a:srgbClr val="FFFFFF"/>
                      </a:solidFill>
                      <a:prstDash val="solid"/>
                    </a:lnR>
                    <a:lnB w="19050">
                      <a:solidFill>
                        <a:srgbClr val="FFFFFF"/>
                      </a:solidFill>
                      <a:prstDash val="solid"/>
                    </a:lnB>
                    <a:solidFill>
                      <a:srgbClr val="F1EEF5"/>
                    </a:solidFill>
                  </a:tcPr>
                </a:tc>
                <a:tc>
                  <a:txBody>
                    <a:bodyPr lIns="28575" tIns="28575" rIns="28575" bIns="28575"/>
                    <a:lstStyle/>
                    <a:p>
                      <a:pPr algn="ctr"/>
                      <a:r>
                        <a:rPr sz="1875" b="0">
                          <a:solidFill>
                            <a:srgbClr val="FFFFFF"/>
                          </a:solidFill>
                          <a:latin typeface="Calibri"/>
                          <a:ea typeface="Calibri"/>
                          <a:cs typeface="Calibri"/>
                        </a:rPr>
                        <a:t>1.00</a:t>
                      </a:r>
                    </a:p>
                  </a:txBody>
                  <a:tcPr marL="91440" marR="91440" marT="45720" marB="45720" anchor="ctr">
                    <a:lnR w="19050">
                      <a:solidFill>
                        <a:srgbClr val="FFFFFF"/>
                      </a:solidFill>
                      <a:prstDash val="solid"/>
                    </a:lnR>
                    <a:lnB w="19050">
                      <a:solidFill>
                        <a:srgbClr val="FFFFFF"/>
                      </a:solidFill>
                      <a:prstDash val="solid"/>
                    </a:lnB>
                    <a:solidFill>
                      <a:srgbClr val="5C3A8C"/>
                    </a:solidFill>
                  </a:tcPr>
                </a:tc>
                <a:tc>
                  <a:txBody>
                    <a:bodyPr lIns="28575" tIns="28575" rIns="28575" bIns="28575"/>
                    <a:lstStyle/>
                    <a:p>
                      <a:pPr algn="ctr"/>
                      <a:r>
                        <a:rPr sz="2250" b="1">
                          <a:solidFill>
                            <a:srgbClr val="16262A"/>
                          </a:solidFill>
                          <a:latin typeface="Calibri"/>
                          <a:ea typeface="Calibri"/>
                          <a:cs typeface="Calibri"/>
                        </a:rPr>
                        <a:t>0.02</a:t>
                      </a:r>
                    </a:p>
                  </a:txBody>
                  <a:tcPr marL="91440" marR="91440" marT="45720" marB="45720" anchor="ctr">
                    <a:lnR w="19050">
                      <a:solidFill>
                        <a:srgbClr val="FFFFFF"/>
                      </a:solidFill>
                      <a:prstDash val="solid"/>
                    </a:lnR>
                    <a:lnB w="19050">
                      <a:solidFill>
                        <a:srgbClr val="FFFFFF"/>
                      </a:solidFill>
                      <a:prstDash val="solid"/>
                    </a:lnB>
                    <a:solidFill>
                      <a:srgbClr val="F1EEF5"/>
                    </a:solidFill>
                  </a:tcPr>
                </a:tc>
              </a:tr>
              <a:tr h="628650">
                <a:tc>
                  <a:txBody>
                    <a:bodyPr lIns="28575" tIns="28575" rIns="28575" bIns="28575"/>
                    <a:lstStyle/>
                    <a:p>
                      <a:pPr algn="ctr"/>
                      <a:r>
                        <a:rPr sz="1725" b="1">
                          <a:solidFill>
                            <a:srgbClr val="16262A"/>
                          </a:solidFill>
                          <a:latin typeface="Calibri"/>
                          <a:ea typeface="Calibri"/>
                          <a:cs typeface="Calibri"/>
                        </a:rPr>
                        <a:t>Height</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EAF6F6"/>
                    </a:solidFill>
                  </a:tcPr>
                </a:tc>
                <a:tc>
                  <a:txBody>
                    <a:bodyPr lIns="28575" tIns="28575" rIns="28575" bIns="28575"/>
                    <a:lstStyle/>
                    <a:p>
                      <a:pPr algn="ctr"/>
                      <a:r>
                        <a:rPr sz="1875" b="0">
                          <a:solidFill>
                            <a:srgbClr val="16262A"/>
                          </a:solidFill>
                          <a:latin typeface="Calibri"/>
                          <a:ea typeface="Calibri"/>
                          <a:cs typeface="Calibri"/>
                        </a:rPr>
                        <a:t>0.04</a:t>
                      </a:r>
                    </a:p>
                  </a:txBody>
                  <a:tcPr marL="91440" marR="91440" marT="45720" marB="45720" anchor="ctr">
                    <a:lnR w="19050">
                      <a:solidFill>
                        <a:srgbClr val="FFFFFF"/>
                      </a:solidFill>
                      <a:prstDash val="solid"/>
                    </a:lnR>
                    <a:lnB w="19050">
                      <a:solidFill>
                        <a:srgbClr val="FFFFFF"/>
                      </a:solidFill>
                      <a:prstDash val="solid"/>
                    </a:lnB>
                    <a:solidFill>
                      <a:srgbClr val="EEEBF3"/>
                    </a:solidFill>
                  </a:tcPr>
                </a:tc>
                <a:tc>
                  <a:txBody>
                    <a:bodyPr lIns="28575" tIns="28575" rIns="28575" bIns="28575"/>
                    <a:lstStyle/>
                    <a:p>
                      <a:pPr algn="ctr"/>
                      <a:r>
                        <a:rPr sz="1875" b="0">
                          <a:solidFill>
                            <a:srgbClr val="16262A"/>
                          </a:solidFill>
                          <a:latin typeface="Calibri"/>
                          <a:ea typeface="Calibri"/>
                          <a:cs typeface="Calibri"/>
                        </a:rPr>
                        <a:t>-0.06</a:t>
                      </a:r>
                    </a:p>
                  </a:txBody>
                  <a:tcPr marL="91440" marR="91440" marT="45720" marB="45720" anchor="ctr">
                    <a:lnR w="19050">
                      <a:solidFill>
                        <a:srgbClr val="FFFFFF"/>
                      </a:solidFill>
                      <a:prstDash val="solid"/>
                    </a:lnR>
                    <a:lnB w="19050">
                      <a:solidFill>
                        <a:srgbClr val="FFFFFF"/>
                      </a:solidFill>
                      <a:prstDash val="solid"/>
                    </a:lnB>
                    <a:solidFill>
                      <a:srgbClr val="E9E9F0"/>
                    </a:solidFill>
                  </a:tcPr>
                </a:tc>
                <a:tc>
                  <a:txBody>
                    <a:bodyPr lIns="28575" tIns="28575" rIns="28575" bIns="28575"/>
                    <a:lstStyle/>
                    <a:p>
                      <a:pPr algn="ctr"/>
                      <a:r>
                        <a:rPr sz="2250" b="1">
                          <a:solidFill>
                            <a:srgbClr val="16262A"/>
                          </a:solidFill>
                          <a:latin typeface="Calibri"/>
                          <a:ea typeface="Calibri"/>
                          <a:cs typeface="Calibri"/>
                        </a:rPr>
                        <a:t>0.02</a:t>
                      </a:r>
                    </a:p>
                  </a:txBody>
                  <a:tcPr marL="91440" marR="91440" marT="45720" marB="45720" anchor="ctr">
                    <a:lnR w="19050">
                      <a:solidFill>
                        <a:srgbClr val="FFFFFF"/>
                      </a:solidFill>
                      <a:prstDash val="solid"/>
                    </a:lnR>
                    <a:lnB w="19050">
                      <a:solidFill>
                        <a:srgbClr val="FFFFFF"/>
                      </a:solidFill>
                      <a:prstDash val="solid"/>
                    </a:lnB>
                    <a:solidFill>
                      <a:srgbClr val="F1EEF5"/>
                    </a:solidFill>
                  </a:tcPr>
                </a:tc>
                <a:tc>
                  <a:txBody>
                    <a:bodyPr lIns="28575" tIns="28575" rIns="28575" bIns="28575"/>
                    <a:lstStyle/>
                    <a:p>
                      <a:pPr algn="ctr"/>
                      <a:r>
                        <a:rPr sz="1875" b="0">
                          <a:solidFill>
                            <a:srgbClr val="FFFFFF"/>
                          </a:solidFill>
                          <a:latin typeface="Calibri"/>
                          <a:ea typeface="Calibri"/>
                          <a:cs typeface="Calibri"/>
                        </a:rPr>
                        <a:t>1.00</a:t>
                      </a:r>
                    </a:p>
                  </a:txBody>
                  <a:tcPr marL="91440" marR="91440" marT="45720" marB="45720" anchor="ctr">
                    <a:lnR w="19050">
                      <a:solidFill>
                        <a:srgbClr val="FFFFFF"/>
                      </a:solidFill>
                      <a:prstDash val="solid"/>
                    </a:lnR>
                    <a:lnB w="19050">
                      <a:solidFill>
                        <a:srgbClr val="FFFFFF"/>
                      </a:solidFill>
                      <a:prstDash val="solid"/>
                    </a:lnB>
                    <a:solidFill>
                      <a:srgbClr val="5C3A8C"/>
                    </a:solidFill>
                  </a:tcPr>
                </a:tc>
              </a:tr>
            </a:tbl>
          </a:graphicData>
        </a:graphic>
      </p:graphicFrame>
      <p:sp>
        <p:nvSpPr>
          <p:cNvPr id="9" name="correlation-result">
            <a:extLst xmlns:a="http://schemas.openxmlformats.org/drawingml/2006/main">
              <a:ext uri="{FF2B5EF4-FFF2-40B4-BE49-F238E27FC236}">
                <a16:creationId xmlns:a16="http://schemas.microsoft.com/office/drawing/2014/main" id="{841B3713-738C-4527-B9BB-620F58978675}"/>
              </a:ext>
            </a:extLst>
          </p:cNvPr>
          <p:cNvSpPr>
            <a:spLocks xmlns:a="http://schemas.openxmlformats.org/drawingml/2006/main" noGrp="1"/>
          </p:cNvSpPr>
          <p:nvPr/>
        </p:nvSpPr>
        <p:spPr>
          <a:xfrm xmlns:a="http://schemas.openxmlformats.org/drawingml/2006/main">
            <a:off x="609600" y="55054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5C3A8C"/>
                </a:solidFill>
                <a:latin typeface="Calibri"/>
                <a:ea typeface="Calibri"/>
                <a:cs typeface="Calibri"/>
              </a:defRPr>
            </a:defPPr>
          </a:lstStyle>
          <a:p xmlns:a="http://schemas.openxmlformats.org/drawingml/2006/main">
            <a:pPr>
              <a:defRPr sz="2175" b="1">
                <a:solidFill>
                  <a:srgbClr val="5C3A8C"/>
                </a:solidFill>
                <a:latin typeface="Calibri"/>
                <a:ea typeface="Calibri"/>
                <a:cs typeface="Calibri"/>
              </a:defRPr>
            </a:pPr>
            <a:r>
              <a:rPr sz="2175" b="1">
                <a:solidFill>
                  <a:srgbClr val="5C3A8C"/>
                </a:solidFill>
                <a:latin typeface="Calibri"/>
                <a:ea typeface="Calibri"/>
                <a:cs typeface="Calibri"/>
              </a:rPr>
              <a:t>Amount and height: 0.34 with zeros, 0.02 without zeros</a:t>
            </a:r>
          </a:p>
        </p:txBody>
      </p:sp>
      <p:sp>
        <p:nvSpPr>
          <p:cNvPr id="10" name="correlation-explanation">
            <a:extLst xmlns:a="http://schemas.openxmlformats.org/drawingml/2006/main">
              <a:ext uri="{FF2B5EF4-FFF2-40B4-BE49-F238E27FC236}">
                <a16:creationId xmlns:a16="http://schemas.microsoft.com/office/drawing/2014/main" id="{31AF2742-B64D-408D-B17E-D7E20CC54421}"/>
              </a:ext>
            </a:extLst>
          </p:cNvPr>
          <p:cNvSpPr>
            <a:spLocks xmlns:a="http://schemas.openxmlformats.org/drawingml/2006/main" noGrp="1"/>
          </p:cNvSpPr>
          <p:nvPr/>
        </p:nvSpPr>
        <p:spPr>
          <a:xfrm xmlns:a="http://schemas.openxmlformats.org/drawingml/2006/main">
            <a:off x="609600" y="59531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4C686E"/>
                </a:solidFill>
                <a:latin typeface="Calibri"/>
                <a:ea typeface="Calibri"/>
                <a:cs typeface="Calibri"/>
              </a:defRPr>
            </a:defPPr>
          </a:lstStyle>
          <a:p xmlns:a="http://schemas.openxmlformats.org/drawingml/2006/main">
            <a:pPr>
              <a:defRPr sz="1575" b="0">
                <a:solidFill>
                  <a:srgbClr val="4C686E"/>
                </a:solidFill>
                <a:latin typeface="Calibri"/>
                <a:ea typeface="Calibri"/>
                <a:cs typeface="Calibri"/>
              </a:defRPr>
            </a:pPr>
            <a:r>
              <a:rPr sz="1575" b="0">
                <a:solidFill>
                  <a:srgbClr val="4C686E"/>
                </a:solidFill>
                <a:latin typeface="Calibri"/>
                <a:ea typeface="Calibri"/>
                <a:cs typeface="Calibri"/>
              </a:rPr>
              <a:t>Positive values mean higher values tend to occur together. Negative values mean the opposite.</a:t>
            </a:r>
          </a:p>
        </p:txBody>
      </p:sp>
      <p:sp>
        <p:nvSpPr>
          <p:cNvPr id="11" name="amount-definition">
            <a:extLst xmlns:a="http://schemas.openxmlformats.org/drawingml/2006/main">
              <a:ext uri="{FF2B5EF4-FFF2-40B4-BE49-F238E27FC236}">
                <a16:creationId xmlns:a16="http://schemas.microsoft.com/office/drawing/2014/main" id="{37059D85-BBC8-4048-97A3-F62F24C7C95E}"/>
              </a:ext>
            </a:extLst>
          </p:cNvPr>
          <p:cNvSpPr>
            <a:spLocks xmlns:a="http://schemas.openxmlformats.org/drawingml/2006/main" noGrp="1"/>
          </p:cNvSpPr>
          <p:nvPr/>
        </p:nvSpPr>
        <p:spPr>
          <a:xfrm xmlns:a="http://schemas.openxmlformats.org/drawingml/2006/main">
            <a:off x="609600" y="63531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C686E"/>
                </a:solidFill>
                <a:latin typeface="Calibri"/>
                <a:ea typeface="Calibri"/>
                <a:cs typeface="Calibri"/>
              </a:defRPr>
            </a:defPPr>
          </a:lstStyle>
          <a:p xmlns:a="http://schemas.openxmlformats.org/drawingml/2006/main">
            <a:pPr>
              <a:defRPr sz="1350" b="0">
                <a:solidFill>
                  <a:srgbClr val="4C686E"/>
                </a:solidFill>
                <a:latin typeface="Calibri"/>
                <a:ea typeface="Calibri"/>
                <a:cs typeface="Calibri"/>
              </a:defRPr>
            </a:pPr>
            <a:r>
              <a:rPr sz="1350" b="0">
                <a:solidFill>
                  <a:srgbClr val="4C686E"/>
                </a:solidFill>
                <a:latin typeface="Calibri"/>
                <a:ea typeface="Calibri"/>
                <a:cs typeface="Calibri"/>
              </a:rPr>
              <a:t>Amount is amount_tsh. Its meaning needs checking. Amount-height records: 59,400 with zeros and 38,962 without.</a:t>
            </a:r>
          </a:p>
        </p:txBody>
      </p:sp>
    </p:spTree>
    <p:extLst>
      <p:ext uri="{BB962C8B-B14F-4D97-AF65-F5344CB8AC3E}">
        <p14:creationId xmlns:p14="http://schemas.microsoft.com/office/powerpoint/2010/main" val="2614878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header-band">
            <a:extLst xmlns:a="http://schemas.openxmlformats.org/drawingml/2006/main">
              <a:ext uri="{FF2B5EF4-FFF2-40B4-BE49-F238E27FC236}">
                <a16:creationId xmlns:a16="http://schemas.microsoft.com/office/drawing/2014/main" id="{FB9B67EA-4631-4321-80C3-BBB531FEABA5}"/>
              </a:ext>
            </a:extLst>
          </p:cNvPr>
          <p:cNvSpPr>
            <a:spLocks xmlns:a="http://schemas.openxmlformats.org/drawingml/2006/main" noGrp="1"/>
          </p:cNvSpPr>
          <p:nvPr/>
        </p:nvSpPr>
        <p:spPr>
          <a:xfrm xmlns:a="http://schemas.openxmlformats.org/drawingml/2006/main">
            <a:off x="0" y="0"/>
            <a:ext cx="12192000" cy="1181100"/>
          </a:xfrm>
          <a:prstGeom xmlns:a="http://schemas.openxmlformats.org/drawingml/2006/main" prst="rect">
            <a:avLst/>
          </a:prstGeom>
          <a:solidFill xmlns:a="http://schemas.openxmlformats.org/drawingml/2006/main">
            <a:srgbClr val="EAF6F6"/>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BAFEE2E2-21B7-4A03-9855-9C1A3FE0E5EA}"/>
              </a:ext>
            </a:extLst>
          </p:cNvPr>
          <p:cNvSpPr>
            <a:spLocks xmlns:a="http://schemas.openxmlformats.org/drawingml/2006/main" noGrp="1"/>
          </p:cNvSpPr>
          <p:nvPr/>
        </p:nvSpPr>
        <p:spPr>
          <a:xfrm xmlns:a="http://schemas.openxmlformats.org/drawingml/2006/main">
            <a:off x="609600" y="2286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028090"/>
                </a:solidFill>
                <a:latin typeface="Calibri"/>
                <a:ea typeface="Calibri"/>
                <a:cs typeface="Calibri"/>
              </a:defRPr>
            </a:defPPr>
          </a:lstStyle>
          <a:p xmlns:a="http://schemas.openxmlformats.org/drawingml/2006/main">
            <a:pPr>
              <a:defRPr sz="1350" b="1">
                <a:solidFill>
                  <a:srgbClr val="028090"/>
                </a:solidFill>
                <a:latin typeface="Calibri"/>
                <a:ea typeface="Calibri"/>
                <a:cs typeface="Calibri"/>
              </a:defRPr>
            </a:pPr>
            <a:r>
              <a:rPr sz="1350" b="1">
                <a:solidFill>
                  <a:srgbClr val="028090"/>
                </a:solidFill>
                <a:latin typeface="Calibri"/>
                <a:ea typeface="Calibri"/>
                <a:cs typeface="Calibri"/>
              </a:rPr>
              <a:t>SPRINT 2</a:t>
            </a:r>
          </a:p>
        </p:txBody>
      </p:sp>
      <p:sp>
        <p:nvSpPr>
          <p:cNvPr id="3" name="title">
            <a:extLst xmlns:a="http://schemas.openxmlformats.org/drawingml/2006/main">
              <a:ext uri="{FF2B5EF4-FFF2-40B4-BE49-F238E27FC236}">
                <a16:creationId xmlns:a16="http://schemas.microsoft.com/office/drawing/2014/main" id="{20A2AF80-208B-40CB-AA1F-2AC24B2EAA0D}"/>
              </a:ext>
            </a:extLst>
          </p:cNvPr>
          <p:cNvSpPr>
            <a:spLocks xmlns:a="http://schemas.openxmlformats.org/drawingml/2006/main" noGrp="1"/>
          </p:cNvSpPr>
          <p:nvPr/>
        </p:nvSpPr>
        <p:spPr>
          <a:xfrm xmlns:a="http://schemas.openxmlformats.org/drawingml/2006/main">
            <a:off x="609600" y="5810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6262A"/>
                </a:solidFill>
                <a:latin typeface="Cambria"/>
                <a:ea typeface="Cambria"/>
                <a:cs typeface="Cambria"/>
              </a:defRPr>
            </a:defPPr>
          </a:lstStyle>
          <a:p xmlns:a="http://schemas.openxmlformats.org/drawingml/2006/main">
            <a:pPr>
              <a:defRPr sz="3000" b="1">
                <a:solidFill>
                  <a:srgbClr val="16262A"/>
                </a:solidFill>
                <a:latin typeface="Cambria"/>
                <a:ea typeface="Cambria"/>
                <a:cs typeface="Cambria"/>
              </a:defRPr>
            </a:pPr>
            <a:r>
              <a:rPr sz="3000" b="1">
                <a:solidFill>
                  <a:srgbClr val="16262A"/>
                </a:solidFill>
                <a:latin typeface="Cambria"/>
                <a:ea typeface="Cambria"/>
                <a:cs typeface="Cambria"/>
              </a:rPr>
              <a:t>Sprint 2 will check predictions for every pump state</a:t>
            </a:r>
          </a:p>
        </p:txBody>
      </p:sp>
      <p:sp>
        <p:nvSpPr>
          <p:cNvPr id="4" name="page">
            <a:extLst xmlns:a="http://schemas.openxmlformats.org/drawingml/2006/main">
              <a:ext uri="{FF2B5EF4-FFF2-40B4-BE49-F238E27FC236}">
                <a16:creationId xmlns:a16="http://schemas.microsoft.com/office/drawing/2014/main" id="{72D67107-4A18-4994-AC77-46F6380CC7A9}"/>
              </a:ext>
            </a:extLst>
          </p:cNvPr>
          <p:cNvSpPr>
            <a:spLocks xmlns:a="http://schemas.openxmlformats.org/drawingml/2006/main" noGrp="1"/>
          </p:cNvSpPr>
          <p:nvPr/>
        </p:nvSpPr>
        <p:spPr>
          <a:xfrm xmlns:a="http://schemas.openxmlformats.org/drawingml/2006/main">
            <a:off x="11658600" y="6496050"/>
            <a:ext cx="238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4C686E"/>
                </a:solidFill>
                <a:latin typeface="Calibri"/>
                <a:ea typeface="Calibri"/>
                <a:cs typeface="Calibri"/>
              </a:defRPr>
            </a:defPPr>
          </a:lstStyle>
          <a:p xmlns:a="http://schemas.openxmlformats.org/drawingml/2006/main">
            <a:pPr>
              <a:defRPr sz="1125" b="0">
                <a:solidFill>
                  <a:srgbClr val="4C686E"/>
                </a:solidFill>
                <a:latin typeface="Calibri"/>
                <a:ea typeface="Calibri"/>
                <a:cs typeface="Calibri"/>
              </a:defRPr>
            </a:pPr>
            <a:r>
              <a:rPr sz="1125" b="0">
                <a:solidFill>
                  <a:srgbClr val="4C686E"/>
                </a:solidFill>
                <a:latin typeface="Calibri"/>
                <a:ea typeface="Calibri"/>
                <a:cs typeface="Calibri"/>
              </a:rPr>
              <a:t>6</a:t>
            </a:r>
          </a:p>
        </p:txBody>
      </p:sp>
      <p:sp>
        <p:nvSpPr>
          <p:cNvPr id="5" name="figure-title">
            <a:extLst xmlns:a="http://schemas.openxmlformats.org/drawingml/2006/main">
              <a:ext uri="{FF2B5EF4-FFF2-40B4-BE49-F238E27FC236}">
                <a16:creationId xmlns:a16="http://schemas.microsoft.com/office/drawing/2014/main" id="{C2DB1C88-B919-4AFE-A78F-A8630BF33D5B}"/>
              </a:ext>
            </a:extLst>
          </p:cNvPr>
          <p:cNvSpPr>
            <a:spLocks xmlns:a="http://schemas.openxmlformats.org/drawingml/2006/main" noGrp="1"/>
          </p:cNvSpPr>
          <p:nvPr/>
        </p:nvSpPr>
        <p:spPr>
          <a:xfrm xmlns:a="http://schemas.openxmlformats.org/drawingml/2006/main">
            <a:off x="609600" y="15621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6262A"/>
                </a:solidFill>
                <a:latin typeface="Calibri"/>
                <a:ea typeface="Calibri"/>
                <a:cs typeface="Calibri"/>
              </a:defRPr>
            </a:defPPr>
          </a:lstStyle>
          <a:p xmlns:a="http://schemas.openxmlformats.org/drawingml/2006/main">
            <a:pPr>
              <a:defRPr sz="1950" b="1">
                <a:solidFill>
                  <a:srgbClr val="16262A"/>
                </a:solidFill>
                <a:latin typeface="Calibri"/>
                <a:ea typeface="Calibri"/>
                <a:cs typeface="Calibri"/>
              </a:defRPr>
            </a:pPr>
            <a:r>
              <a:rPr sz="1950" b="1">
                <a:solidFill>
                  <a:srgbClr val="16262A"/>
                </a:solidFill>
                <a:latin typeface="Calibri"/>
                <a:ea typeface="Calibri"/>
                <a:cs typeface="Calibri"/>
              </a:rPr>
              <a:t>Recorded pump states</a:t>
            </a:r>
          </a:p>
        </p:txBody>
      </p:sp>
      <p:sp>
        <p:nvSpPr>
          <p:cNvPr id="6" name="figure-title">
            <a:extLst xmlns:a="http://schemas.openxmlformats.org/drawingml/2006/main">
              <a:ext uri="{FF2B5EF4-FFF2-40B4-BE49-F238E27FC236}">
                <a16:creationId xmlns:a16="http://schemas.microsoft.com/office/drawing/2014/main" id="{3D994395-39D5-4A77-B255-EDF26A07D663}"/>
              </a:ext>
            </a:extLst>
          </p:cNvPr>
          <p:cNvSpPr>
            <a:spLocks xmlns:a="http://schemas.openxmlformats.org/drawingml/2006/main" noGrp="1"/>
          </p:cNvSpPr>
          <p:nvPr/>
        </p:nvSpPr>
        <p:spPr>
          <a:xfrm xmlns:a="http://schemas.openxmlformats.org/drawingml/2006/main">
            <a:off x="7524750" y="15621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6262A"/>
                </a:solidFill>
                <a:latin typeface="Calibri"/>
                <a:ea typeface="Calibri"/>
                <a:cs typeface="Calibri"/>
              </a:defRPr>
            </a:defPPr>
          </a:lstStyle>
          <a:p xmlns:a="http://schemas.openxmlformats.org/drawingml/2006/main">
            <a:pPr>
              <a:defRPr sz="1950" b="1">
                <a:solidFill>
                  <a:srgbClr val="16262A"/>
                </a:solidFill>
                <a:latin typeface="Calibri"/>
                <a:ea typeface="Calibri"/>
                <a:cs typeface="Calibri"/>
              </a:defRPr>
            </a:pPr>
            <a:r>
              <a:rPr sz="1950" b="1">
                <a:solidFill>
                  <a:srgbClr val="16262A"/>
                </a:solidFill>
                <a:latin typeface="Calibri"/>
                <a:ea typeface="Calibri"/>
                <a:cs typeface="Calibri"/>
              </a:rPr>
              <a:t>Next steps</a:t>
            </a:r>
          </a:p>
        </p:txBody>
      </p:sp>
      <p:graphicFrame>
        <p:nvGraphicFramePr>
          <p:cNvPr id="7" name="Chart">
            <a:extLst xmlns:a="http://schemas.openxmlformats.org/drawingml/2006/main">
              <a:ext uri="{FF2B5EF4-FFF2-40B4-BE49-F238E27FC236}">
                <a16:creationId xmlns:a16="http://schemas.microsoft.com/office/drawing/2014/main" id="{C1E28EC5-2383-4715-9BA5-198D940FC424}"/>
              </a:ext>
            </a:extLst>
          </p:cNvPr>
          <p:cNvGraphicFramePr/>
          <p:nvPr/>
        </p:nvGraphicFramePr>
        <p:xfrm>
          <a:off xmlns:a="http://schemas.openxmlformats.org/drawingml/2006/main" x="419100" y="2114550"/>
          <a:ext xmlns:a="http://schemas.openxmlformats.org/drawingml/2006/main" cx="6248400" cy="3143250"/>
        </p:xfrm>
        <a:graphic xmlns:a="http://schemas.openxmlformats.org/drawingml/2006/main">
          <a:graphicData uri="http://schemas.openxmlformats.org/drawingml/2006/chart">
            <c:chart xmlns:r="http://schemas.openxmlformats.org/officeDocument/2006/relationships" xmlns:c="http://schemas.openxmlformats.org/drawingml/2006/chart" r:id="R4150ec0fdfc44f46"/>
          </a:graphicData>
        </a:graphic>
      </p:graphicFrame>
      <p:sp>
        <p:nvSpPr>
          <p:cNvPr id="8" name="action-heading">
            <a:extLst xmlns:a="http://schemas.openxmlformats.org/drawingml/2006/main">
              <a:ext uri="{FF2B5EF4-FFF2-40B4-BE49-F238E27FC236}">
                <a16:creationId xmlns:a16="http://schemas.microsoft.com/office/drawing/2014/main" id="{193BB9AD-E1F9-45EA-9C04-CBE619120B51}"/>
              </a:ext>
            </a:extLst>
          </p:cNvPr>
          <p:cNvSpPr>
            <a:spLocks xmlns:a="http://schemas.openxmlformats.org/drawingml/2006/main" noGrp="1"/>
          </p:cNvSpPr>
          <p:nvPr/>
        </p:nvSpPr>
        <p:spPr>
          <a:xfrm xmlns:a="http://schemas.openxmlformats.org/drawingml/2006/main">
            <a:off x="7524750" y="2152650"/>
            <a:ext cx="4048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262A"/>
                </a:solidFill>
                <a:latin typeface="Cambria"/>
                <a:ea typeface="Cambria"/>
                <a:cs typeface="Cambria"/>
              </a:defRPr>
            </a:defPPr>
          </a:lstStyle>
          <a:p xmlns:a="http://schemas.openxmlformats.org/drawingml/2006/main">
            <a:pPr>
              <a:defRPr sz="2025" b="1">
                <a:solidFill>
                  <a:srgbClr val="16262A"/>
                </a:solidFill>
                <a:latin typeface="Cambria"/>
                <a:ea typeface="Cambria"/>
                <a:cs typeface="Cambria"/>
              </a:defRPr>
            </a:pPr>
            <a:r>
              <a:rPr sz="2025" b="1">
                <a:solidFill>
                  <a:srgbClr val="16262A"/>
                </a:solidFill>
                <a:latin typeface="Cambria"/>
                <a:ea typeface="Cambria"/>
                <a:cs typeface="Cambria"/>
              </a:rPr>
              <a:t>Prepare data in the same way</a:t>
            </a:r>
          </a:p>
        </p:txBody>
      </p:sp>
      <p:sp>
        <p:nvSpPr>
          <p:cNvPr id="9" name="action-body">
            <a:extLst xmlns:a="http://schemas.openxmlformats.org/drawingml/2006/main">
              <a:ext uri="{FF2B5EF4-FFF2-40B4-BE49-F238E27FC236}">
                <a16:creationId xmlns:a16="http://schemas.microsoft.com/office/drawing/2014/main" id="{3887A906-B097-4293-9E09-5ACDD4B86CDA}"/>
              </a:ext>
            </a:extLst>
          </p:cNvPr>
          <p:cNvSpPr>
            <a:spLocks xmlns:a="http://schemas.openxmlformats.org/drawingml/2006/main" noGrp="1"/>
          </p:cNvSpPr>
          <p:nvPr/>
        </p:nvSpPr>
        <p:spPr>
          <a:xfrm xmlns:a="http://schemas.openxmlformats.org/drawingml/2006/main">
            <a:off x="7524750" y="2609850"/>
            <a:ext cx="4048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C686E"/>
                </a:solidFill>
                <a:latin typeface="Calibri"/>
                <a:ea typeface="Calibri"/>
                <a:cs typeface="Calibri"/>
              </a:defRPr>
            </a:defPPr>
          </a:lstStyle>
          <a:p xmlns:a="http://schemas.openxmlformats.org/drawingml/2006/main">
            <a:pPr>
              <a:defRPr sz="1875" b="0">
                <a:solidFill>
                  <a:srgbClr val="4C686E"/>
                </a:solidFill>
                <a:latin typeface="Calibri"/>
                <a:ea typeface="Calibri"/>
                <a:cs typeface="Calibri"/>
              </a:defRPr>
            </a:pPr>
            <a:r>
              <a:rPr sz="1875" b="0">
                <a:solidFill>
                  <a:srgbClr val="4C686E"/>
                </a:solidFill>
                <a:latin typeface="Calibri"/>
                <a:ea typeface="Calibri"/>
                <a:cs typeface="Calibri"/>
              </a:rPr>
              <a:t>Use our shared cleaning code.</a:t>
            </a:r>
          </a:p>
        </p:txBody>
      </p:sp>
      <p:sp>
        <p:nvSpPr>
          <p:cNvPr id="10" name="action-heading">
            <a:extLst xmlns:a="http://schemas.openxmlformats.org/drawingml/2006/main">
              <a:ext uri="{FF2B5EF4-FFF2-40B4-BE49-F238E27FC236}">
                <a16:creationId xmlns:a16="http://schemas.microsoft.com/office/drawing/2014/main" id="{422D9CEF-DC4B-4227-BA83-5973C8F04D39}"/>
              </a:ext>
            </a:extLst>
          </p:cNvPr>
          <p:cNvSpPr>
            <a:spLocks xmlns:a="http://schemas.openxmlformats.org/drawingml/2006/main" noGrp="1"/>
          </p:cNvSpPr>
          <p:nvPr/>
        </p:nvSpPr>
        <p:spPr>
          <a:xfrm xmlns:a="http://schemas.openxmlformats.org/drawingml/2006/main">
            <a:off x="7524750" y="3352800"/>
            <a:ext cx="4048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262A"/>
                </a:solidFill>
                <a:latin typeface="Cambria"/>
                <a:ea typeface="Cambria"/>
                <a:cs typeface="Cambria"/>
              </a:defRPr>
            </a:defPPr>
          </a:lstStyle>
          <a:p xmlns:a="http://schemas.openxmlformats.org/drawingml/2006/main">
            <a:pPr>
              <a:defRPr sz="2025" b="1">
                <a:solidFill>
                  <a:srgbClr val="16262A"/>
                </a:solidFill>
                <a:latin typeface="Cambria"/>
                <a:ea typeface="Cambria"/>
                <a:cs typeface="Cambria"/>
              </a:defRPr>
            </a:pPr>
            <a:r>
              <a:rPr sz="2025" b="1">
                <a:solidFill>
                  <a:srgbClr val="16262A"/>
                </a:solidFill>
                <a:latin typeface="Cambria"/>
                <a:ea typeface="Cambria"/>
                <a:cs typeface="Cambria"/>
              </a:rPr>
              <a:t>Compare models</a:t>
            </a:r>
          </a:p>
        </p:txBody>
      </p:sp>
      <p:sp>
        <p:nvSpPr>
          <p:cNvPr id="11" name="action-body">
            <a:extLst xmlns:a="http://schemas.openxmlformats.org/drawingml/2006/main">
              <a:ext uri="{FF2B5EF4-FFF2-40B4-BE49-F238E27FC236}">
                <a16:creationId xmlns:a16="http://schemas.microsoft.com/office/drawing/2014/main" id="{2AEBB2C7-98C8-4981-86AF-27D8681D2607}"/>
              </a:ext>
            </a:extLst>
          </p:cNvPr>
          <p:cNvSpPr>
            <a:spLocks xmlns:a="http://schemas.openxmlformats.org/drawingml/2006/main" noGrp="1"/>
          </p:cNvSpPr>
          <p:nvPr/>
        </p:nvSpPr>
        <p:spPr>
          <a:xfrm xmlns:a="http://schemas.openxmlformats.org/drawingml/2006/main">
            <a:off x="7524750" y="3810000"/>
            <a:ext cx="4048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C686E"/>
                </a:solidFill>
                <a:latin typeface="Calibri"/>
                <a:ea typeface="Calibri"/>
                <a:cs typeface="Calibri"/>
              </a:defRPr>
            </a:defPPr>
          </a:lstStyle>
          <a:p xmlns:a="http://schemas.openxmlformats.org/drawingml/2006/main">
            <a:pPr>
              <a:defRPr sz="1875" b="0">
                <a:solidFill>
                  <a:srgbClr val="4C686E"/>
                </a:solidFill>
                <a:latin typeface="Calibri"/>
                <a:ea typeface="Calibri"/>
                <a:cs typeface="Calibri"/>
              </a:defRPr>
            </a:pPr>
            <a:r>
              <a:rPr sz="1875" b="0">
                <a:solidFill>
                  <a:srgbClr val="4C686E"/>
                </a:solidFill>
                <a:latin typeface="Calibri"/>
                <a:ea typeface="Calibri"/>
                <a:cs typeface="Calibri"/>
              </a:rPr>
              <a:t>Compare a simple model with more complex ones.</a:t>
            </a:r>
          </a:p>
        </p:txBody>
      </p:sp>
      <p:sp>
        <p:nvSpPr>
          <p:cNvPr id="12" name="action-heading">
            <a:extLst xmlns:a="http://schemas.openxmlformats.org/drawingml/2006/main">
              <a:ext uri="{FF2B5EF4-FFF2-40B4-BE49-F238E27FC236}">
                <a16:creationId xmlns:a16="http://schemas.microsoft.com/office/drawing/2014/main" id="{2422ECB0-921A-4B48-8842-7829C0748DAF}"/>
              </a:ext>
            </a:extLst>
          </p:cNvPr>
          <p:cNvSpPr>
            <a:spLocks xmlns:a="http://schemas.openxmlformats.org/drawingml/2006/main" noGrp="1"/>
          </p:cNvSpPr>
          <p:nvPr/>
        </p:nvSpPr>
        <p:spPr>
          <a:xfrm xmlns:a="http://schemas.openxmlformats.org/drawingml/2006/main">
            <a:off x="7524750" y="4552950"/>
            <a:ext cx="4048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262A"/>
                </a:solidFill>
                <a:latin typeface="Cambria"/>
                <a:ea typeface="Cambria"/>
                <a:cs typeface="Cambria"/>
              </a:defRPr>
            </a:defPPr>
          </a:lstStyle>
          <a:p xmlns:a="http://schemas.openxmlformats.org/drawingml/2006/main">
            <a:pPr>
              <a:defRPr sz="2025" b="1">
                <a:solidFill>
                  <a:srgbClr val="16262A"/>
                </a:solidFill>
                <a:latin typeface="Cambria"/>
                <a:ea typeface="Cambria"/>
                <a:cs typeface="Cambria"/>
              </a:defRPr>
            </a:pPr>
            <a:r>
              <a:rPr sz="2025" b="1">
                <a:solidFill>
                  <a:srgbClr val="16262A"/>
                </a:solidFill>
                <a:latin typeface="Cambria"/>
                <a:ea typeface="Cambria"/>
                <a:cs typeface="Cambria"/>
              </a:rPr>
              <a:t>Check each pump state</a:t>
            </a:r>
          </a:p>
        </p:txBody>
      </p:sp>
      <p:sp>
        <p:nvSpPr>
          <p:cNvPr id="13" name="action-body">
            <a:extLst xmlns:a="http://schemas.openxmlformats.org/drawingml/2006/main">
              <a:ext uri="{FF2B5EF4-FFF2-40B4-BE49-F238E27FC236}">
                <a16:creationId xmlns:a16="http://schemas.microsoft.com/office/drawing/2014/main" id="{1022699C-95FD-406D-8216-241C5BCF65E2}"/>
              </a:ext>
            </a:extLst>
          </p:cNvPr>
          <p:cNvSpPr>
            <a:spLocks xmlns:a="http://schemas.openxmlformats.org/drawingml/2006/main" noGrp="1"/>
          </p:cNvSpPr>
          <p:nvPr/>
        </p:nvSpPr>
        <p:spPr>
          <a:xfrm xmlns:a="http://schemas.openxmlformats.org/drawingml/2006/main">
            <a:off x="7524750" y="5010150"/>
            <a:ext cx="4048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C686E"/>
                </a:solidFill>
                <a:latin typeface="Calibri"/>
                <a:ea typeface="Calibri"/>
                <a:cs typeface="Calibri"/>
              </a:defRPr>
            </a:defPPr>
          </a:lstStyle>
          <a:p xmlns:a="http://schemas.openxmlformats.org/drawingml/2006/main">
            <a:pPr>
              <a:defRPr sz="1875" b="0">
                <a:solidFill>
                  <a:srgbClr val="4C686E"/>
                </a:solidFill>
                <a:latin typeface="Calibri"/>
                <a:ea typeface="Calibri"/>
                <a:cs typeface="Calibri"/>
              </a:defRPr>
            </a:pPr>
            <a:r>
              <a:rPr sz="1875" b="0">
                <a:solidFill>
                  <a:srgbClr val="4C686E"/>
                </a:solidFill>
                <a:latin typeface="Calibri"/>
                <a:ea typeface="Calibri"/>
                <a:cs typeface="Calibri"/>
              </a:rPr>
              <a:t>Count correct results, missed repairs and false alarms.</a:t>
            </a:r>
          </a:p>
        </p:txBody>
      </p:sp>
      <p:sp>
        <p:nvSpPr>
          <p:cNvPr id="14" name="repair-count">
            <a:extLst xmlns:a="http://schemas.openxmlformats.org/drawingml/2006/main">
              <a:ext uri="{FF2B5EF4-FFF2-40B4-BE49-F238E27FC236}">
                <a16:creationId xmlns:a16="http://schemas.microsoft.com/office/drawing/2014/main" id="{26B8D5FF-A177-482D-A55E-FB99442498BF}"/>
              </a:ext>
            </a:extLst>
          </p:cNvPr>
          <p:cNvSpPr>
            <a:spLocks xmlns:a="http://schemas.openxmlformats.org/drawingml/2006/main" noGrp="1"/>
          </p:cNvSpPr>
          <p:nvPr/>
        </p:nvSpPr>
        <p:spPr>
          <a:xfrm xmlns:a="http://schemas.openxmlformats.org/drawingml/2006/main">
            <a:off x="609600" y="5810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B77900"/>
                </a:solidFill>
                <a:latin typeface="Calibri"/>
                <a:ea typeface="Calibri"/>
                <a:cs typeface="Calibri"/>
              </a:defRPr>
            </a:defPPr>
          </a:lstStyle>
          <a:p xmlns:a="http://schemas.openxmlformats.org/drawingml/2006/main">
            <a:pPr>
              <a:defRPr sz="2400" b="1">
                <a:solidFill>
                  <a:srgbClr val="B77900"/>
                </a:solidFill>
                <a:latin typeface="Calibri"/>
                <a:ea typeface="Calibri"/>
                <a:cs typeface="Calibri"/>
              </a:defRPr>
            </a:pPr>
            <a:r>
              <a:rPr sz="2400" b="1">
                <a:solidFill>
                  <a:srgbClr val="B77900"/>
                </a:solidFill>
                <a:latin typeface="Calibri"/>
                <a:ea typeface="Calibri"/>
                <a:cs typeface="Calibri"/>
              </a:rPr>
              <a:t>4,317 waterpoints work but need repair</a:t>
            </a:r>
          </a:p>
        </p:txBody>
      </p:sp>
      <p:sp>
        <p:nvSpPr>
          <p:cNvPr id="15" name="repair-share">
            <a:extLst xmlns:a="http://schemas.openxmlformats.org/drawingml/2006/main">
              <a:ext uri="{FF2B5EF4-FFF2-40B4-BE49-F238E27FC236}">
                <a16:creationId xmlns:a16="http://schemas.microsoft.com/office/drawing/2014/main" id="{0E6D5630-4C04-471F-BF04-662F95FE8D23}"/>
              </a:ext>
            </a:extLst>
          </p:cNvPr>
          <p:cNvSpPr>
            <a:spLocks xmlns:a="http://schemas.openxmlformats.org/drawingml/2006/main" noGrp="1"/>
          </p:cNvSpPr>
          <p:nvPr/>
        </p:nvSpPr>
        <p:spPr>
          <a:xfrm xmlns:a="http://schemas.openxmlformats.org/drawingml/2006/main">
            <a:off x="609600" y="63341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77900"/>
                </a:solidFill>
                <a:latin typeface="Calibri"/>
                <a:ea typeface="Calibri"/>
                <a:cs typeface="Calibri"/>
              </a:defRPr>
            </a:defPPr>
          </a:lstStyle>
          <a:p xmlns:a="http://schemas.openxmlformats.org/drawingml/2006/main">
            <a:pPr>
              <a:defRPr sz="1650" b="0">
                <a:solidFill>
                  <a:srgbClr val="B77900"/>
                </a:solidFill>
                <a:latin typeface="Calibri"/>
                <a:ea typeface="Calibri"/>
                <a:cs typeface="Calibri"/>
              </a:defRPr>
            </a:pPr>
            <a:r>
              <a:rPr sz="1650" b="0">
                <a:solidFill>
                  <a:srgbClr val="B77900"/>
                </a:solidFill>
                <a:latin typeface="Calibri"/>
                <a:ea typeface="Calibri"/>
                <a:cs typeface="Calibri"/>
              </a:rPr>
              <a:t>That is 7.3% of the dataset. We will check this group separately.</a:t>
            </a:r>
          </a:p>
        </p:txBody>
      </p:sp>
    </p:spTree>
    <p:extLst>
      <p:ext uri="{BB962C8B-B14F-4D97-AF65-F5344CB8AC3E}">
        <p14:creationId xmlns:p14="http://schemas.microsoft.com/office/powerpoint/2010/main" val="1113158961"/>
      </p:ext>
    </p:extLst>
  </p:cSld>
</p:sld>
</file>

<file path=ppt/theme/theme1.xml><?xml version="1.0" encoding="utf-8"?>
<a:theme xmlns:a="http://schemas.openxmlformats.org/drawingml/2006/main" name="WTM Water Table">
  <a:themeElements>
    <a:clrScheme name="WTM Water Table">
      <a:dk1>
        <a:srgbClr val="16262A"/>
      </a:dk1>
      <a:lt1>
        <a:srgbClr val="FFFFFF"/>
      </a:lt1>
      <a:dk2>
        <a:srgbClr val="028090"/>
      </a:dk2>
      <a:lt2>
        <a:srgbClr val="EAF6F6"/>
      </a:lt2>
      <a:accent1>
        <a:srgbClr val="02C39A"/>
      </a:accent1>
      <a:accent2>
        <a:srgbClr val="00A896"/>
      </a:accent2>
      <a:accent3>
        <a:srgbClr val="F2B134"/>
      </a:accent3>
      <a:accent4>
        <a:srgbClr val="D7263D"/>
      </a:accent4>
      <a:accent5>
        <a:srgbClr val="7FD8C8"/>
      </a:accent5>
      <a:accent6>
        <a:srgbClr val="0B4F56"/>
      </a:accent6>
      <a:hlink>
        <a:srgbClr val="02C39A"/>
      </a:hlink>
      <a:folHlink>
        <a:srgbClr val="00A896"/>
      </a:folHlink>
    </a:clrScheme>
    <a:fontScheme name="WTM Water Tabl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TM Water Tabl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2026-10-15T14:07:18.4980000Z</dcterms:created>
  <dcterms:modified xsi:type="dcterms:W3CDTF">2026-10-15T14:07:18.4980000Z</dcterms:modified>
</coreProperties>
</file>