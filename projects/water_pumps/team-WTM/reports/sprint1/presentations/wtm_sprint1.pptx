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 4:30" id="{6D8F4D6A-888F-CA81-0E01-24650DA4C6FF}">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263D"/>
    <a:srgbClr val="F2B134"/>
    <a:srgbClr val="02C3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6874" autoAdjust="0"/>
  </p:normalViewPr>
  <p:slideViewPr>
    <p:cSldViewPr snapToGrid="0" snapToObjects="1">
      <p:cViewPr>
        <p:scale>
          <a:sx n="80" d="100"/>
          <a:sy n="80" d="100"/>
        </p:scale>
        <p:origin x="1728"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2319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[Goodfriend | 35 sec]
Hello, I'm Goodfriend. Today I'm presenting with Morisade and Tari from Team WTM. Our project looks at water pump functionality in Tanzania. We want to know which features are linked to a pump working, needing repair, or being broken. In Sprint 1, we focused on understanding the data and looking at these relationships. I wrote the research framework that guided our work this sprint. Now I will hand over to Morisade, who will talk about the data quality.
Next: Morisade — Data quality affects what we can conclude.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[Morisade | 55 sec]
Before we trust any pattern in this data, we need to understand its limits. The training set has 59,400 water points. About 35% are missing a real construction year — these are stored as 0, so we treat them as unknown, not as built in year zero. 3.1% of the GPS coordinates are outside Tanzania, so we remove those from the map — you can see that in this chart. We also found 36 duplicate rows, and missing values in a few columns like scheme_name and installer. Installer and funder names are also written in many different ways, so we still need clear rules for cleaning them. None of this stops the analysis, but it does mean the numbers on the next slides come from slightly different totals. Now Tari will talk about the target classes.
Next: Tari — The repair class is small, and several characteristics show clear differences.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 | 75 sec]
Our target has three classes, and they are not equal in size: 54.3% of water points are functional, 38.4% are non-functional, and only 7.3% need repair. This small class is the one our model most needs to find. To see which features are related to the pump's condition, we ranked every category using a statistic called Cramér's V. Water quantity — how much water is available — was the strongest, at 0.31. Permit status was the weakest, at 0.03, so it barely matters. Looking at this chart: 97% of pumps recorded as dry are non-functional. This is a strong pattern, but it is very close to the target itself, so it might be a kind of leakage. We need to test this carefully in Sprint 2. The pump's extraction type also shows clear differences, and management or payment also differ, but those groups are uneven in size, so we are careful there. The main point for modelling: the repair class is small, so we must check our model separately on this class. Now I'll move on to geography and age.
Next: Tari (same speaker, continuing) — Functionality varies with location and age.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 | 75 sec]
Both location and age matter here. Looking at the regions, Lindi has the highest share of non-functional pumps, at about 64%, and Mtwara is close behind. Iringa has the lowest, at about 19%. This is a big difference, and it might be linked to how well pumps are maintained, or when they were built in each region. Age shows an even clearer pattern: pumps that are 0 to 5 years old are about 72% functional. That share goes down step by step, until pumps over 31 years old are only about 31% functional. I also made an interactive map of every pump, coloured by status. It's not part of this short talk, but I'm happy to show it afterwards if anyone wants to see it. These numbers come from our shared integration branch, and they match the data quality and category findings we just showed. Now I'll hand over to Goodfriend to bring this together for Sprint 2.
Next: Tari (same speaker, continuing) — a quick look at the full interactive map.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[Tari | ~20 sec]
Here's that same data as a map — every recorded waterpoint, colour-coded green for functional, orange for needs repair, red for non-functional. You can already see the regional clustering we just talked about. The full interactive version is in our notebook if anyone wants to explore it afterwards.
Next: Goodfriend — Sprint 1 gives us a practical modelling plan.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[Goodfriend | 40 sec]
To finish: our findings support looking further into age, location, water availability, technology, and management. First, we need one shared and written-down way to clean the data — the same steps for zeros, duplicates, and coordinates that we showed today, used by every notebook and the final pipeline. Second, in Sprint 2 we will test if these features can really predict pump status. We will compare a simple baseline model against stronger models, and check for possible leakage, especially around water quantity and the dry category. Third, and most important: we will check every class on its own, especially needs repair, and report results for each class, not just overall accuracy. Through all of this, we remember that a pattern is not the same as a cause. That's Team WTM's Sprint 1 — thank you, and we are happy to take questions.
Next: none — open the floor for Q&amp;A.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17320"/>
            <a:ext cx="10881360" cy="457200"/>
          </a:xfrm>
          <a:prstGeom prst="rect">
            <a:avLst/>
          </a:prstGeom>
          <a:noFill/>
          <a:ln/>
        </p:spPr>
        <p:txBody>
          <a:bodyPr wrap="square" rtlCol="0"/>
          <a:lstStyle>
            <a:lvl1pPr marL="0" indent="0" algn="l">
              <a:buNone/>
              <a:defRPr lang="en-US" sz="1500" b="1" kern="0" spc="200" dirty="0">
                <a:solidFill>
                  <a:schemeClr val="accent1"/>
                </a:solidFill>
                <a:latin typeface="Calibri" pitchFamily="34" charset="0"/>
                <a:ea typeface="Calibri" pitchFamily="34" charset="-122"/>
                <a:cs typeface="Calibri" pitchFamily="34" charset="-120"/>
              </a:defRPr>
            </a:lvl1pPr>
          </a:lstStyle>
          <a:p>
            <a:pPr marL="0" indent="0" algn="l">
              <a:buNone/>
            </a:pPr>
            <a:r>
              <a:rPr lang="en-US" sz="1500" b="1" kern="0" spc="200" dirty="0">
                <a:solidFill>
                  <a:schemeClr val="accent1"/>
                </a:solidFill>
                <a:latin typeface="Calibri" pitchFamily="34" charset="0"/>
                <a:ea typeface="Calibri" pitchFamily="34" charset="-122"/>
                <a:cs typeface="Calibri" pitchFamily="34" charset="-120"/>
              </a:rPr>
              <a:t>KICKER</a:t>
            </a:r>
            <a:endParaRPr lang="en-US" sz="1500" dirty="0"/>
          </a:p>
        </p:txBody>
      </p:sp>
      <p:sp>
        <p:nvSpPr>
          <p:cNvPr id="3" name="Text 0"/>
          <p:cNvSpPr>
            <a:spLocks noGrp="1"/>
          </p:cNvSpPr>
          <p:nvPr>
            <p:ph type="body" idx="101" hasCustomPrompt="1"/>
          </p:nvPr>
        </p:nvSpPr>
        <p:spPr>
          <a:xfrm>
            <a:off x="640080" y="1920240"/>
            <a:ext cx="10881360" cy="173736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r>
              <a:rPr lang="en-US" sz="4000" b="1" dirty="0">
                <a:solidFill>
                  <a:schemeClr val="bg1"/>
                </a:solidFill>
                <a:latin typeface="Cambria" pitchFamily="34" charset="0"/>
                <a:ea typeface="Cambria" pitchFamily="34" charset="-122"/>
                <a:cs typeface="Cambria" pitchFamily="34" charset="-120"/>
              </a:rPr>
              <a:t>Title</a:t>
            </a:r>
            <a:endParaRPr lang="en-US" sz="4000" dirty="0"/>
          </a:p>
        </p:txBody>
      </p:sp>
      <p:sp>
        <p:nvSpPr>
          <p:cNvPr id="4" name="Text 0"/>
          <p:cNvSpPr>
            <a:spLocks noGrp="1"/>
          </p:cNvSpPr>
          <p:nvPr>
            <p:ph type="body" idx="102" hasCustomPrompt="1"/>
          </p:nvPr>
        </p:nvSpPr>
        <p:spPr>
          <a:xfrm>
            <a:off x="640080" y="3703320"/>
            <a:ext cx="10058400" cy="1188720"/>
          </a:xfrm>
          <a:prstGeom prst="rect">
            <a:avLst/>
          </a:prstGeom>
          <a:noFill/>
          <a:ln/>
        </p:spPr>
        <p:txBody>
          <a:bodyPr wrap="square" rtlCol="0"/>
          <a:lstStyle>
            <a:lvl1pPr marL="0" indent="0" algn="l">
              <a:buNone/>
              <a:defRPr lang="en-US" sz="1700" dirty="0">
                <a:solidFill>
                  <a:schemeClr val="bg2"/>
                </a:solidFill>
                <a:latin typeface="Calibri" pitchFamily="34" charset="0"/>
                <a:ea typeface="Calibri" pitchFamily="34" charset="-122"/>
                <a:cs typeface="Calibri" pitchFamily="34" charset="-120"/>
              </a:defRPr>
            </a:lvl1pPr>
          </a:lstStyle>
          <a:p>
            <a:pPr marL="0" indent="0" algn="l">
              <a:buNone/>
            </a:pPr>
            <a:r>
              <a:rPr lang="en-US" sz="1700" dirty="0">
                <a:solidFill>
                  <a:schemeClr val="bg2"/>
                </a:solidFill>
                <a:latin typeface="Calibri" pitchFamily="34" charset="0"/>
                <a:ea typeface="Calibri" pitchFamily="34" charset="-122"/>
                <a:cs typeface="Calibri" pitchFamily="34" charset="-120"/>
              </a:rPr>
              <a:t>Subtitle</a:t>
            </a:r>
            <a:endParaRPr lang="en-US" sz="1700" dirty="0"/>
          </a:p>
        </p:txBody>
      </p:sp>
      <p:sp>
        <p:nvSpPr>
          <p:cNvPr id="5" name="Text 0"/>
          <p:cNvSpPr/>
          <p:nvPr/>
        </p:nvSpPr>
        <p:spPr>
          <a:xfrm>
            <a:off x="640080" y="6355080"/>
            <a:ext cx="10881360" cy="320040"/>
          </a:xfrm>
          <a:prstGeom prst="rect">
            <a:avLst/>
          </a:prstGeom>
          <a:noFill/>
          <a:ln/>
        </p:spPr>
        <p:txBody>
          <a:bodyPr wrap="square" rtlCol="0" anchor="ctr"/>
          <a:lstStyle/>
          <a:p>
            <a:pPr marL="0" indent="0" algn="l">
              <a:buNone/>
            </a:pPr>
            <a:r>
              <a:rPr lang="en-US" sz="1000" dirty="0">
                <a:solidFill>
                  <a:schemeClr val="accent5"/>
                </a:solidFill>
                <a:latin typeface="Calibri" pitchFamily="34" charset="0"/>
                <a:ea typeface="Calibri" pitchFamily="34" charset="-122"/>
                <a:cs typeface="Calibri" pitchFamily="34" charset="-120"/>
              </a:rPr>
              <a:t>Team WTM  ·  Pump it Up: Data Mining the Water Table  ·  Sprint 1</a:t>
            </a:r>
            <a:endParaRPr lang="en-US" sz="1000" dirty="0"/>
          </a:p>
        </p:txBody>
      </p:sp>
      <p:sp>
        <p:nvSpPr>
          <p:cNvPr id="25" name="Slide Number Placeholder 0"/>
          <p:cNvSpPr>
            <a:spLocks noGrp="1"/>
          </p:cNvSpPr>
          <p:nvPr>
            <p:ph type="sldNum" sz="quarter" idx="4294967295"/>
          </p:nvPr>
        </p:nvSpPr>
        <p:spPr>
          <a:xfrm>
            <a:off x="11658600" y="635508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D8C8"/>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LIGH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chemeClr val="bg2"/>
          </a:solidFill>
          <a:ln/>
        </p:spPr>
      </p:sp>
      <p:sp>
        <p:nvSpPr>
          <p:cNvPr id="3" name="Text 1"/>
          <p:cNvSpPr>
            <a:spLocks noGrp="1"/>
          </p:cNvSpPr>
          <p:nvPr>
            <p:ph type="title" idx="101" hasCustomPrompt="1"/>
          </p:nvPr>
        </p:nvSpPr>
        <p:spPr>
          <a:xfrm>
            <a:off x="548640" y="201168"/>
            <a:ext cx="9601200" cy="365760"/>
          </a:xfrm>
          <a:prstGeom prst="rect">
            <a:avLst/>
          </a:prstGeom>
          <a:noFill/>
          <a:ln/>
        </p:spPr>
        <p:txBody>
          <a:bodyPr wrap="square" rtlCol="0"/>
          <a:lstStyle>
            <a:lvl1pPr marL="0" indent="0" algn="l">
              <a:buNone/>
              <a:defRPr lang="en-US" sz="1300" b="1" kern="0" spc="150" dirty="0">
                <a:solidFill>
                  <a:schemeClr val="tx2"/>
                </a:solidFill>
                <a:latin typeface="Calibri" pitchFamily="34" charset="0"/>
                <a:ea typeface="Calibri" pitchFamily="34" charset="-122"/>
                <a:cs typeface="Calibri" pitchFamily="34" charset="-120"/>
              </a:defRPr>
            </a:lvl1pPr>
          </a:lstStyle>
          <a:p>
            <a:pPr marL="0" indent="0" algn="l">
              <a:buNone/>
            </a:pPr>
            <a:r>
              <a:rPr lang="en-US" sz="1300" b="1" kern="0" spc="150" dirty="0">
                <a:solidFill>
                  <a:schemeClr val="tx2"/>
                </a:solidFill>
                <a:latin typeface="Calibri" pitchFamily="34" charset="0"/>
                <a:ea typeface="Calibri" pitchFamily="34" charset="-122"/>
                <a:cs typeface="Calibri" pitchFamily="34" charset="-120"/>
              </a:rPr>
              <a:t>KICKER</a:t>
            </a:r>
            <a:endParaRPr lang="en-US" sz="1300" dirty="0"/>
          </a:p>
        </p:txBody>
      </p:sp>
      <p:sp>
        <p:nvSpPr>
          <p:cNvPr id="4" name="Text 1"/>
          <p:cNvSpPr>
            <a:spLocks noGrp="1"/>
          </p:cNvSpPr>
          <p:nvPr>
            <p:ph type="body" idx="102" hasCustomPrompt="1"/>
          </p:nvPr>
        </p:nvSpPr>
        <p:spPr>
          <a:xfrm>
            <a:off x="548640" y="512064"/>
            <a:ext cx="10515600" cy="594360"/>
          </a:xfrm>
          <a:prstGeom prst="rect">
            <a:avLst/>
          </a:prstGeom>
          <a:noFill/>
          <a:ln/>
        </p:spPr>
        <p:txBody>
          <a:bodyPr wrap="square" rtlCol="0"/>
          <a:lstStyle>
            <a:lvl1pPr marL="0" indent="0" algn="l">
              <a:buNone/>
              <a:defRPr lang="en-US" sz="2600" b="1" dirty="0">
                <a:solidFill>
                  <a:schemeClr val="tx1"/>
                </a:solidFill>
                <a:latin typeface="Cambria" pitchFamily="34" charset="0"/>
                <a:ea typeface="Cambria" pitchFamily="34" charset="-122"/>
                <a:cs typeface="Cambria" pitchFamily="34" charset="-120"/>
              </a:defRPr>
            </a:lvl1pPr>
          </a:lstStyle>
          <a:p>
            <a:pPr marL="0" indent="0" algn="l">
              <a:buNone/>
            </a:pPr>
            <a:r>
              <a:rPr lang="en-US" sz="2600" b="1" dirty="0">
                <a:solidFill>
                  <a:schemeClr val="tx1"/>
                </a:solidFill>
                <a:latin typeface="Cambria" pitchFamily="34" charset="0"/>
                <a:ea typeface="Cambria" pitchFamily="34" charset="-122"/>
                <a:cs typeface="Cambria" pitchFamily="34" charset="-120"/>
              </a:rPr>
              <a:t>Title</a:t>
            </a:r>
            <a:endParaRPr lang="en-US" sz="2600" dirty="0"/>
          </a:p>
        </p:txBody>
      </p:sp>
      <p:sp>
        <p:nvSpPr>
          <p:cNvPr id="5" name="Shape 1"/>
          <p:cNvSpPr/>
          <p:nvPr/>
        </p:nvSpPr>
        <p:spPr>
          <a:xfrm>
            <a:off x="548640" y="6565392"/>
            <a:ext cx="11064240" cy="0"/>
          </a:xfrm>
          <a:prstGeom prst="line">
            <a:avLst/>
          </a:prstGeom>
          <a:noFill/>
          <a:ln w="9525">
            <a:solidFill>
              <a:schemeClr val="bg2"/>
            </a:solidFill>
            <a:prstDash val="solid"/>
          </a:ln>
        </p:spPr>
      </p:sp>
      <p:sp>
        <p:nvSpPr>
          <p:cNvPr id="6" name="Text 2"/>
          <p:cNvSpPr/>
          <p:nvPr/>
        </p:nvSpPr>
        <p:spPr>
          <a:xfrm>
            <a:off x="548640" y="6601968"/>
            <a:ext cx="7772400" cy="237744"/>
          </a:xfrm>
          <a:prstGeom prst="rect">
            <a:avLst/>
          </a:prstGeom>
          <a:noFill/>
          <a:ln/>
        </p:spPr>
        <p:txBody>
          <a:bodyPr wrap="square" rtlCol="0" anchor="ctr"/>
          <a:lstStyle/>
          <a:p>
            <a:pPr marL="0" indent="0" algn="l">
              <a:buNone/>
            </a:pPr>
            <a:r>
              <a:rPr lang="en-US" sz="900" dirty="0">
                <a:solidFill>
                  <a:srgbClr val="8AA5A8"/>
                </a:solidFill>
                <a:latin typeface="Calibri" pitchFamily="34" charset="0"/>
                <a:ea typeface="Calibri" pitchFamily="34" charset="-122"/>
                <a:cs typeface="Calibri" pitchFamily="34" charset="-120"/>
              </a:rPr>
              <a:t>Team WTM  ·  Sprint 1 EDA findings</a:t>
            </a:r>
            <a:endParaRPr lang="en-US" sz="900" dirty="0"/>
          </a:p>
        </p:txBody>
      </p:sp>
      <p:sp>
        <p:nvSpPr>
          <p:cNvPr id="25" name="Slide Number Placeholder 0"/>
          <p:cNvSpPr>
            <a:spLocks noGrp="1"/>
          </p:cNvSpPr>
          <p:nvPr>
            <p:ph type="sldNum" sz="quarter" idx="4294967295"/>
          </p:nvPr>
        </p:nvSpPr>
        <p:spPr>
          <a:xfrm>
            <a:off x="1165860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A5A8"/>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58600" y="635508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D8C8"/>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417320"/>
            <a:ext cx="10881360" cy="457200"/>
          </a:xfrm>
          <a:prstGeom prst="rect">
            <a:avLst/>
          </a:prstGeom>
          <a:noFill/>
          <a:ln/>
        </p:spPr>
        <p:txBody>
          <a:bodyPr wrap="square" rtlCol="0"/>
          <a:lstStyle/>
          <a:p>
            <a:pPr marL="0" indent="0" algn="l">
              <a:buNone/>
            </a:pPr>
            <a:r>
              <a:rPr lang="en-US" sz="1500" b="1" kern="0" spc="200" dirty="0">
                <a:solidFill>
                  <a:schemeClr val="accent1"/>
                </a:solidFill>
                <a:latin typeface="Calibri" pitchFamily="34" charset="0"/>
                <a:ea typeface="Calibri" pitchFamily="34" charset="-122"/>
                <a:cs typeface="Calibri" pitchFamily="34" charset="-120"/>
              </a:rPr>
              <a:t>SPRINT 1  ·  PUMP IT UP: DATA MINING THE WATER TABLE</a:t>
            </a:r>
            <a:endParaRPr lang="en-US" sz="1500" dirty="0"/>
          </a:p>
        </p:txBody>
      </p:sp>
      <p:sp>
        <p:nvSpPr>
          <p:cNvPr id="3" name="Text 0"/>
          <p:cNvSpPr>
            <a:spLocks noGrp="1"/>
          </p:cNvSpPr>
          <p:nvPr>
            <p:ph type="body" idx="101" hasCustomPrompt="1"/>
          </p:nvPr>
        </p:nvSpPr>
        <p:spPr>
          <a:xfrm>
            <a:off x="640080" y="1920240"/>
            <a:ext cx="10881360" cy="1737360"/>
          </a:xfrm>
          <a:prstGeom prst="rect">
            <a:avLst/>
          </a:prstGeom>
          <a:noFill/>
          <a:ln/>
        </p:spPr>
        <p:txBody>
          <a:bodyPr wrap="square" rtlCol="0" anchor="t"/>
          <a:lstStyle/>
          <a:p>
            <a:pPr marL="0" indent="0" algn="l">
              <a:buNone/>
            </a:pPr>
            <a:r>
              <a:rPr lang="en-US" sz="4000" b="1" dirty="0">
                <a:solidFill>
                  <a:schemeClr val="bg1"/>
                </a:solidFill>
                <a:latin typeface="Cambria" pitchFamily="34" charset="0"/>
                <a:ea typeface="Cambria" pitchFamily="34" charset="-122"/>
                <a:cs typeface="Cambria" pitchFamily="34" charset="-120"/>
              </a:rPr>
              <a:t>What is associated with</a:t>
            </a:r>
            <a:endParaRPr lang="en-US" sz="4000" dirty="0"/>
          </a:p>
          <a:p>
            <a:pPr marL="0" indent="0" algn="l">
              <a:buNone/>
            </a:pPr>
            <a:r>
              <a:rPr lang="en-US" sz="4000" b="1" dirty="0">
                <a:solidFill>
                  <a:schemeClr val="bg1"/>
                </a:solidFill>
                <a:latin typeface="Cambria" pitchFamily="34" charset="0"/>
                <a:ea typeface="Cambria" pitchFamily="34" charset="-122"/>
                <a:cs typeface="Cambria" pitchFamily="34" charset="-120"/>
              </a:rPr>
              <a:t>waterpoint condition?</a:t>
            </a:r>
            <a:endParaRPr lang="en-US" sz="4000" dirty="0"/>
          </a:p>
        </p:txBody>
      </p:sp>
      <p:sp>
        <p:nvSpPr>
          <p:cNvPr id="4" name="Text 0"/>
          <p:cNvSpPr>
            <a:spLocks noGrp="1"/>
          </p:cNvSpPr>
          <p:nvPr>
            <p:ph type="body" idx="102" hasCustomPrompt="1"/>
          </p:nvPr>
        </p:nvSpPr>
        <p:spPr>
          <a:xfrm>
            <a:off x="640080" y="3703320"/>
            <a:ext cx="10058400" cy="1188720"/>
          </a:xfrm>
          <a:prstGeom prst="rect">
            <a:avLst/>
          </a:prstGeom>
          <a:noFill/>
          <a:ln/>
        </p:spPr>
        <p:txBody>
          <a:bodyPr wrap="square" rtlCol="0" anchor="t"/>
          <a:lstStyle/>
          <a:p>
            <a:pPr marL="0" indent="0" algn="l">
              <a:buNone/>
            </a:pPr>
            <a:r>
              <a:rPr lang="en-US" dirty="0"/>
              <a:t>I</a:t>
            </a:r>
            <a:r>
              <a:rPr lang="en-US" sz="1700" dirty="0">
                <a:solidFill>
                  <a:schemeClr val="bg2"/>
                </a:solidFill>
                <a:latin typeface="Calibri" pitchFamily="34" charset="0"/>
                <a:ea typeface="Calibri" pitchFamily="34" charset="-122"/>
                <a:cs typeface="Calibri" pitchFamily="34" charset="-120"/>
              </a:rPr>
              <a:t>nvestigate features of Tanzania's waterpoints linked to pump status (</a:t>
            </a:r>
            <a:r>
              <a:rPr lang="en-US" sz="1700" b="1" dirty="0">
                <a:solidFill>
                  <a:srgbClr val="02C39A"/>
                </a:solidFill>
                <a:latin typeface="Calibri" pitchFamily="34" charset="0"/>
                <a:ea typeface="Calibri" pitchFamily="34" charset="-122"/>
                <a:cs typeface="Calibri" pitchFamily="34" charset="-120"/>
              </a:rPr>
              <a:t>functional</a:t>
            </a:r>
            <a:r>
              <a:rPr lang="en-US" sz="1700" dirty="0">
                <a:solidFill>
                  <a:schemeClr val="bg2"/>
                </a:solidFill>
                <a:latin typeface="Calibri" pitchFamily="34" charset="0"/>
                <a:ea typeface="Calibri" pitchFamily="34" charset="-122"/>
                <a:cs typeface="Calibri" pitchFamily="34" charset="-120"/>
              </a:rPr>
              <a:t>, </a:t>
            </a:r>
            <a:r>
              <a:rPr lang="en-US" sz="1700" b="1" dirty="0">
                <a:solidFill>
                  <a:srgbClr val="F2B134"/>
                </a:solidFill>
                <a:latin typeface="Calibri" pitchFamily="34" charset="0"/>
                <a:ea typeface="Calibri" pitchFamily="34" charset="-122"/>
                <a:cs typeface="Calibri" pitchFamily="34" charset="-120"/>
              </a:rPr>
              <a:t>functional needs repair</a:t>
            </a:r>
            <a:r>
              <a:rPr lang="en-US" sz="1700" dirty="0">
                <a:solidFill>
                  <a:schemeClr val="bg2"/>
                </a:solidFill>
                <a:latin typeface="Calibri" pitchFamily="34" charset="0"/>
                <a:ea typeface="Calibri" pitchFamily="34" charset="-122"/>
                <a:cs typeface="Calibri" pitchFamily="34" charset="-120"/>
              </a:rPr>
              <a:t>, or </a:t>
            </a:r>
            <a:r>
              <a:rPr lang="en-US" sz="1700" b="1" dirty="0">
                <a:solidFill>
                  <a:srgbClr val="D7263D"/>
                </a:solidFill>
                <a:latin typeface="Calibri" pitchFamily="34" charset="0"/>
                <a:ea typeface="Calibri" pitchFamily="34" charset="-122"/>
                <a:cs typeface="Calibri" pitchFamily="34" charset="-120"/>
              </a:rPr>
              <a:t>non-functional</a:t>
            </a:r>
            <a:r>
              <a:rPr lang="en-US" sz="1700" dirty="0">
                <a:solidFill>
                  <a:schemeClr val="bg2"/>
                </a:solidFill>
                <a:latin typeface="Calibri" pitchFamily="34" charset="0"/>
                <a:ea typeface="Calibri" pitchFamily="34" charset="-122"/>
                <a:cs typeface="Calibri" pitchFamily="34" charset="-120"/>
              </a:rPr>
              <a:t>). Sprint 1 research questions guides the analysis.</a:t>
            </a:r>
            <a:endParaRPr lang="en-US" sz="1700" dirty="0"/>
          </a:p>
        </p:txBody>
      </p:sp>
      <p:sp>
        <p:nvSpPr>
          <p:cNvPr id="5" name="Shape 3"/>
          <p:cNvSpPr/>
          <p:nvPr/>
        </p:nvSpPr>
        <p:spPr>
          <a:xfrm>
            <a:off x="640080" y="5120640"/>
            <a:ext cx="3246120" cy="868680"/>
          </a:xfrm>
          <a:prstGeom prst="roundRect">
            <a:avLst>
              <a:gd name="adj" fmla="val 10526"/>
            </a:avLst>
          </a:prstGeom>
          <a:solidFill>
            <a:srgbClr val="1E3A3D"/>
          </a:solidFill>
          <a:ln w="19050">
            <a:solidFill>
              <a:srgbClr val="02C39A"/>
            </a:solidFill>
            <a:prstDash val="solid"/>
          </a:ln>
        </p:spPr>
      </p:sp>
      <p:sp>
        <p:nvSpPr>
          <p:cNvPr id="6" name="Shape 4"/>
          <p:cNvSpPr/>
          <p:nvPr/>
        </p:nvSpPr>
        <p:spPr>
          <a:xfrm>
            <a:off x="841248" y="5472684"/>
            <a:ext cx="164592" cy="164592"/>
          </a:xfrm>
          <a:prstGeom prst="ellipse">
            <a:avLst/>
          </a:prstGeom>
          <a:solidFill>
            <a:srgbClr val="02C39A"/>
          </a:solidFill>
          <a:ln/>
        </p:spPr>
      </p:sp>
      <p:sp>
        <p:nvSpPr>
          <p:cNvPr id="7" name="Text 5"/>
          <p:cNvSpPr/>
          <p:nvPr/>
        </p:nvSpPr>
        <p:spPr>
          <a:xfrm>
            <a:off x="1097280" y="5120640"/>
            <a:ext cx="2697480" cy="868680"/>
          </a:xfrm>
          <a:prstGeom prst="rect">
            <a:avLst/>
          </a:prstGeom>
          <a:noFill/>
          <a:ln/>
        </p:spPr>
        <p:txBody>
          <a:bodyPr wrap="square" lIns="0" tIns="0" rIns="0" bIns="0" rtlCol="0" anchor="ctr"/>
          <a:lstStyle/>
          <a:p>
            <a:pPr marL="0" indent="0" algn="l">
              <a:buNone/>
            </a:pPr>
            <a:r>
              <a:rPr lang="en-US" sz="1500" b="1" dirty="0">
                <a:solidFill>
                  <a:srgbClr val="02C39A"/>
                </a:solidFill>
                <a:latin typeface="Calibri" pitchFamily="34" charset="0"/>
                <a:ea typeface="Calibri" pitchFamily="34" charset="-122"/>
                <a:cs typeface="Calibri" pitchFamily="34" charset="-120"/>
              </a:rPr>
              <a:t>Functional</a:t>
            </a:r>
            <a:endParaRPr lang="en-US" sz="1500" dirty="0">
              <a:solidFill>
                <a:srgbClr val="02C39A"/>
              </a:solidFill>
            </a:endParaRPr>
          </a:p>
        </p:txBody>
      </p:sp>
      <p:sp>
        <p:nvSpPr>
          <p:cNvPr id="8" name="Shape 6"/>
          <p:cNvSpPr/>
          <p:nvPr/>
        </p:nvSpPr>
        <p:spPr>
          <a:xfrm>
            <a:off x="4160520" y="5120640"/>
            <a:ext cx="3246120" cy="868680"/>
          </a:xfrm>
          <a:prstGeom prst="roundRect">
            <a:avLst>
              <a:gd name="adj" fmla="val 10526"/>
            </a:avLst>
          </a:prstGeom>
          <a:solidFill>
            <a:srgbClr val="1E3A3D"/>
          </a:solidFill>
          <a:ln w="19050">
            <a:solidFill>
              <a:srgbClr val="F2B134"/>
            </a:solidFill>
            <a:prstDash val="solid"/>
          </a:ln>
        </p:spPr>
      </p:sp>
      <p:sp>
        <p:nvSpPr>
          <p:cNvPr id="9" name="Shape 7"/>
          <p:cNvSpPr/>
          <p:nvPr/>
        </p:nvSpPr>
        <p:spPr>
          <a:xfrm>
            <a:off x="4361688" y="5472684"/>
            <a:ext cx="164592" cy="164592"/>
          </a:xfrm>
          <a:prstGeom prst="ellipse">
            <a:avLst/>
          </a:prstGeom>
          <a:solidFill>
            <a:srgbClr val="F2B134"/>
          </a:solidFill>
          <a:ln/>
        </p:spPr>
      </p:sp>
      <p:sp>
        <p:nvSpPr>
          <p:cNvPr id="10" name="Text 8"/>
          <p:cNvSpPr/>
          <p:nvPr/>
        </p:nvSpPr>
        <p:spPr>
          <a:xfrm>
            <a:off x="4617720" y="5120640"/>
            <a:ext cx="2697480" cy="868680"/>
          </a:xfrm>
          <a:prstGeom prst="rect">
            <a:avLst/>
          </a:prstGeom>
          <a:noFill/>
          <a:ln/>
        </p:spPr>
        <p:txBody>
          <a:bodyPr wrap="square" lIns="0" tIns="0" rIns="0" bIns="0" rtlCol="0" anchor="ctr"/>
          <a:lstStyle/>
          <a:p>
            <a:pPr marL="0" indent="0" algn="l">
              <a:buNone/>
            </a:pPr>
            <a:r>
              <a:rPr lang="en-US" sz="1500" b="1" dirty="0">
                <a:solidFill>
                  <a:srgbClr val="F2B134"/>
                </a:solidFill>
                <a:latin typeface="Calibri" pitchFamily="34" charset="0"/>
                <a:ea typeface="Calibri" pitchFamily="34" charset="-122"/>
                <a:cs typeface="Calibri" pitchFamily="34" charset="-120"/>
              </a:rPr>
              <a:t>Functional needs repair</a:t>
            </a:r>
            <a:endParaRPr lang="en-US" sz="1500" dirty="0">
              <a:solidFill>
                <a:srgbClr val="F2B134"/>
              </a:solidFill>
            </a:endParaRPr>
          </a:p>
        </p:txBody>
      </p:sp>
      <p:sp>
        <p:nvSpPr>
          <p:cNvPr id="11" name="Shape 9"/>
          <p:cNvSpPr/>
          <p:nvPr/>
        </p:nvSpPr>
        <p:spPr>
          <a:xfrm>
            <a:off x="7680960" y="5120640"/>
            <a:ext cx="3246120" cy="868680"/>
          </a:xfrm>
          <a:prstGeom prst="roundRect">
            <a:avLst>
              <a:gd name="adj" fmla="val 10526"/>
            </a:avLst>
          </a:prstGeom>
          <a:solidFill>
            <a:srgbClr val="1E3A3D"/>
          </a:solidFill>
          <a:ln w="19050">
            <a:solidFill>
              <a:srgbClr val="D7263D"/>
            </a:solidFill>
            <a:prstDash val="solid"/>
          </a:ln>
        </p:spPr>
      </p:sp>
      <p:sp>
        <p:nvSpPr>
          <p:cNvPr id="12" name="Shape 10"/>
          <p:cNvSpPr/>
          <p:nvPr/>
        </p:nvSpPr>
        <p:spPr>
          <a:xfrm>
            <a:off x="7882128" y="5472684"/>
            <a:ext cx="164592" cy="164592"/>
          </a:xfrm>
          <a:prstGeom prst="ellipse">
            <a:avLst/>
          </a:prstGeom>
          <a:solidFill>
            <a:srgbClr val="D7263D"/>
          </a:solidFill>
          <a:ln/>
        </p:spPr>
      </p:sp>
      <p:sp>
        <p:nvSpPr>
          <p:cNvPr id="13" name="Text 11"/>
          <p:cNvSpPr/>
          <p:nvPr/>
        </p:nvSpPr>
        <p:spPr>
          <a:xfrm>
            <a:off x="8138160" y="5120640"/>
            <a:ext cx="2697480" cy="868680"/>
          </a:xfrm>
          <a:prstGeom prst="rect">
            <a:avLst/>
          </a:prstGeom>
          <a:noFill/>
          <a:ln/>
        </p:spPr>
        <p:txBody>
          <a:bodyPr wrap="square" lIns="0" tIns="0" rIns="0" bIns="0" rtlCol="0" anchor="ctr"/>
          <a:lstStyle/>
          <a:p>
            <a:pPr marL="0" indent="0" algn="l">
              <a:buNone/>
            </a:pPr>
            <a:r>
              <a:rPr lang="en-US" sz="1500" b="1" dirty="0">
                <a:solidFill>
                  <a:srgbClr val="D7263D"/>
                </a:solidFill>
                <a:latin typeface="Calibri" pitchFamily="34" charset="0"/>
                <a:ea typeface="Calibri" pitchFamily="34" charset="-122"/>
                <a:cs typeface="Calibri" pitchFamily="34" charset="-120"/>
              </a:rPr>
              <a:t>Non-functional</a:t>
            </a:r>
            <a:endParaRPr lang="en-US" sz="1500" dirty="0">
              <a:solidFill>
                <a:srgbClr val="D7263D"/>
              </a:solidFill>
            </a:endParaRPr>
          </a:p>
        </p:txBody>
      </p:sp>
      <p:sp>
        <p:nvSpPr>
          <p:cNvPr id="25" name="Slide Number Placeholder 0"/>
          <p:cNvSpPr>
            <a:spLocks noGrp="1"/>
          </p:cNvSpPr>
          <p:nvPr>
            <p:ph type="sldNum" sz="quarter" idx="4294967295"/>
          </p:nvPr>
        </p:nvSpPr>
        <p:spPr>
          <a:xfrm>
            <a:off x="11658600" y="6355080"/>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7FD8C8"/>
                </a:solidFill>
                <a:latin typeface="Calibri"/>
                <a:ea typeface="Calibri"/>
                <a:cs typeface="Calibri"/>
              </a:defRPr>
            </a:lvl1pPr>
          </a:lstStyle>
          <a:p>
            <a:pPr algn="l"/>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01168"/>
            <a:ext cx="9601200" cy="365760"/>
          </a:xfrm>
          <a:prstGeom prst="rect">
            <a:avLst/>
          </a:prstGeom>
          <a:noFill/>
          <a:ln/>
        </p:spPr>
        <p:txBody>
          <a:bodyPr wrap="square" rtlCol="0"/>
          <a:lstStyle/>
          <a:p>
            <a:pPr marL="0" indent="0" algn="l">
              <a:buNone/>
            </a:pPr>
            <a:r>
              <a:rPr lang="en-US" sz="1300" b="1" kern="0" spc="150" dirty="0">
                <a:solidFill>
                  <a:schemeClr val="tx2"/>
                </a:solidFill>
                <a:latin typeface="Calibri" pitchFamily="34" charset="0"/>
                <a:ea typeface="Calibri" pitchFamily="34" charset="-122"/>
                <a:cs typeface="Calibri" pitchFamily="34" charset="-120"/>
              </a:rPr>
              <a:t>DATASET &amp; QUALITY FINDINGS</a:t>
            </a:r>
            <a:endParaRPr lang="en-US" sz="1300" dirty="0"/>
          </a:p>
        </p:txBody>
      </p:sp>
      <p:sp>
        <p:nvSpPr>
          <p:cNvPr id="3" name="Text 1"/>
          <p:cNvSpPr>
            <a:spLocks noGrp="1"/>
          </p:cNvSpPr>
          <p:nvPr>
            <p:ph type="body" idx="102" hasCustomPrompt="1"/>
          </p:nvPr>
        </p:nvSpPr>
        <p:spPr>
          <a:xfrm>
            <a:off x="548640" y="512064"/>
            <a:ext cx="10515600" cy="594360"/>
          </a:xfrm>
          <a:prstGeom prst="rect">
            <a:avLst/>
          </a:prstGeom>
          <a:noFill/>
          <a:ln/>
        </p:spPr>
        <p:txBody>
          <a:bodyPr wrap="square" rtlCol="0" anchor="t"/>
          <a:lstStyle/>
          <a:p>
            <a:pPr marL="0" indent="0" algn="l">
              <a:buNone/>
            </a:pPr>
            <a:r>
              <a:rPr lang="en-US" sz="2600" b="1" dirty="0">
                <a:solidFill>
                  <a:schemeClr val="tx1"/>
                </a:solidFill>
                <a:latin typeface="Cambria" pitchFamily="34" charset="0"/>
                <a:ea typeface="Cambria" pitchFamily="34" charset="-122"/>
                <a:cs typeface="Cambria" pitchFamily="34" charset="-120"/>
              </a:rPr>
              <a:t>Data quality affects what we can conclude</a:t>
            </a:r>
            <a:endParaRPr lang="en-US" sz="2600" dirty="0"/>
          </a:p>
        </p:txBody>
      </p:sp>
      <p:sp>
        <p:nvSpPr>
          <p:cNvPr id="4" name="Shape 2"/>
          <p:cNvSpPr/>
          <p:nvPr/>
        </p:nvSpPr>
        <p:spPr>
          <a:xfrm>
            <a:off x="548640" y="1508760"/>
            <a:ext cx="3429000" cy="1600200"/>
          </a:xfrm>
          <a:prstGeom prst="roundRect">
            <a:avLst>
              <a:gd name="adj" fmla="val 5143"/>
            </a:avLst>
          </a:prstGeom>
          <a:solidFill>
            <a:srgbClr val="FFFFFF"/>
          </a:solidFill>
          <a:ln w="12700">
            <a:solidFill>
              <a:srgbClr val="D7E8E8"/>
            </a:solidFill>
            <a:prstDash val="solid"/>
          </a:ln>
          <a:effectLst>
            <a:outerShdw blurRad="76200" dist="25400" dir="5400000" algn="bl" rotWithShape="0">
              <a:srgbClr val="16262A">
                <a:alpha val="12000"/>
              </a:srgbClr>
            </a:outerShdw>
          </a:effectLst>
        </p:spPr>
      </p:sp>
      <p:sp>
        <p:nvSpPr>
          <p:cNvPr id="5" name="Text 3"/>
          <p:cNvSpPr/>
          <p:nvPr/>
        </p:nvSpPr>
        <p:spPr>
          <a:xfrm>
            <a:off x="685800" y="1618488"/>
            <a:ext cx="3154680" cy="928116"/>
          </a:xfrm>
          <a:prstGeom prst="rect">
            <a:avLst/>
          </a:prstGeom>
          <a:noFill/>
          <a:ln/>
        </p:spPr>
        <p:txBody>
          <a:bodyPr wrap="square" lIns="0" tIns="0" rIns="0" bIns="0" rtlCol="0" anchor="b"/>
          <a:lstStyle/>
          <a:p>
            <a:pPr marL="0" indent="0" algn="l">
              <a:buNone/>
            </a:pPr>
            <a:r>
              <a:rPr lang="en-US" sz="3200" b="1" dirty="0">
                <a:solidFill>
                  <a:srgbClr val="028090"/>
                </a:solidFill>
                <a:latin typeface="Cambria" pitchFamily="34" charset="0"/>
                <a:ea typeface="Cambria" pitchFamily="34" charset="-122"/>
                <a:cs typeface="Cambria" pitchFamily="34" charset="-120"/>
              </a:rPr>
              <a:t>59,400</a:t>
            </a:r>
            <a:endParaRPr lang="en-US" sz="3200" dirty="0"/>
          </a:p>
        </p:txBody>
      </p:sp>
      <p:sp>
        <p:nvSpPr>
          <p:cNvPr id="6" name="Text 4"/>
          <p:cNvSpPr/>
          <p:nvPr/>
        </p:nvSpPr>
        <p:spPr>
          <a:xfrm>
            <a:off x="685800" y="2528316"/>
            <a:ext cx="3154680" cy="502920"/>
          </a:xfrm>
          <a:prstGeom prst="rect">
            <a:avLst/>
          </a:prstGeom>
          <a:noFill/>
          <a:ln/>
        </p:spPr>
        <p:txBody>
          <a:bodyPr wrap="square" lIns="0" tIns="0" rIns="0" bIns="0" rtlCol="0" anchor="t"/>
          <a:lstStyle/>
          <a:p>
            <a:pPr marL="0" indent="0" algn="l">
              <a:lnSpc>
                <a:spcPct val="105000"/>
              </a:lnSpc>
              <a:buNone/>
            </a:pPr>
            <a:r>
              <a:rPr lang="en-US" sz="1150" dirty="0">
                <a:solidFill>
                  <a:srgbClr val="3C5C5F"/>
                </a:solidFill>
                <a:latin typeface="Calibri" pitchFamily="34" charset="0"/>
                <a:ea typeface="Calibri" pitchFamily="34" charset="-122"/>
                <a:cs typeface="Calibri" pitchFamily="34" charset="-120"/>
              </a:rPr>
              <a:t>waterpoints recorded in the training set</a:t>
            </a:r>
            <a:endParaRPr lang="en-US" sz="1150" dirty="0"/>
          </a:p>
        </p:txBody>
      </p:sp>
      <p:sp>
        <p:nvSpPr>
          <p:cNvPr id="7" name="Shape 5"/>
          <p:cNvSpPr/>
          <p:nvPr/>
        </p:nvSpPr>
        <p:spPr>
          <a:xfrm>
            <a:off x="4297680" y="1508760"/>
            <a:ext cx="3429000" cy="1600200"/>
          </a:xfrm>
          <a:prstGeom prst="roundRect">
            <a:avLst>
              <a:gd name="adj" fmla="val 5143"/>
            </a:avLst>
          </a:prstGeom>
          <a:solidFill>
            <a:srgbClr val="FFFFFF"/>
          </a:solidFill>
          <a:ln w="12700">
            <a:solidFill>
              <a:srgbClr val="D7E8E8"/>
            </a:solidFill>
            <a:prstDash val="solid"/>
          </a:ln>
          <a:effectLst>
            <a:outerShdw blurRad="76200" dist="25400" dir="5400000" algn="bl" rotWithShape="0">
              <a:srgbClr val="16262A">
                <a:alpha val="12000"/>
              </a:srgbClr>
            </a:outerShdw>
          </a:effectLst>
        </p:spPr>
      </p:sp>
      <p:sp>
        <p:nvSpPr>
          <p:cNvPr id="8" name="Text 6"/>
          <p:cNvSpPr/>
          <p:nvPr/>
        </p:nvSpPr>
        <p:spPr>
          <a:xfrm>
            <a:off x="4434840" y="1618488"/>
            <a:ext cx="3154680" cy="928116"/>
          </a:xfrm>
          <a:prstGeom prst="rect">
            <a:avLst/>
          </a:prstGeom>
          <a:noFill/>
          <a:ln/>
        </p:spPr>
        <p:txBody>
          <a:bodyPr wrap="square" lIns="0" tIns="0" rIns="0" bIns="0" rtlCol="0" anchor="b"/>
          <a:lstStyle/>
          <a:p>
            <a:pPr marL="0" indent="0" algn="l">
              <a:buNone/>
            </a:pPr>
            <a:r>
              <a:rPr lang="en-US" sz="3200" b="1" dirty="0">
                <a:solidFill>
                  <a:srgbClr val="F2B134"/>
                </a:solidFill>
                <a:latin typeface="Cambria" pitchFamily="34" charset="0"/>
                <a:ea typeface="Cambria" pitchFamily="34" charset="-122"/>
                <a:cs typeface="Cambria" pitchFamily="34" charset="-120"/>
              </a:rPr>
              <a:t>35%</a:t>
            </a:r>
            <a:endParaRPr lang="en-US" sz="3200" dirty="0"/>
          </a:p>
        </p:txBody>
      </p:sp>
      <p:sp>
        <p:nvSpPr>
          <p:cNvPr id="9" name="Text 7"/>
          <p:cNvSpPr/>
          <p:nvPr/>
        </p:nvSpPr>
        <p:spPr>
          <a:xfrm>
            <a:off x="4434840" y="2528316"/>
            <a:ext cx="3154680" cy="502920"/>
          </a:xfrm>
          <a:prstGeom prst="rect">
            <a:avLst/>
          </a:prstGeom>
          <a:noFill/>
          <a:ln/>
        </p:spPr>
        <p:txBody>
          <a:bodyPr wrap="square" lIns="0" tIns="0" rIns="0" bIns="0" rtlCol="0" anchor="t"/>
          <a:lstStyle/>
          <a:p>
            <a:pPr marL="0" indent="0" algn="l">
              <a:lnSpc>
                <a:spcPct val="105000"/>
              </a:lnSpc>
              <a:buNone/>
            </a:pPr>
            <a:r>
              <a:rPr lang="en-US" sz="1150" dirty="0">
                <a:solidFill>
                  <a:srgbClr val="3C5C5F"/>
                </a:solidFill>
                <a:latin typeface="Calibri" pitchFamily="34" charset="0"/>
                <a:ea typeface="Calibri" pitchFamily="34" charset="-122"/>
                <a:cs typeface="Calibri" pitchFamily="34" charset="-120"/>
              </a:rPr>
              <a:t>have an unknown construction year — stored as a 0 placeholder, not a real date</a:t>
            </a:r>
            <a:endParaRPr lang="en-US" sz="1150" dirty="0"/>
          </a:p>
        </p:txBody>
      </p:sp>
      <p:sp>
        <p:nvSpPr>
          <p:cNvPr id="10" name="Shape 8"/>
          <p:cNvSpPr/>
          <p:nvPr/>
        </p:nvSpPr>
        <p:spPr>
          <a:xfrm>
            <a:off x="8046720" y="1508760"/>
            <a:ext cx="3429000" cy="1600200"/>
          </a:xfrm>
          <a:prstGeom prst="roundRect">
            <a:avLst>
              <a:gd name="adj" fmla="val 5143"/>
            </a:avLst>
          </a:prstGeom>
          <a:solidFill>
            <a:srgbClr val="FFFFFF"/>
          </a:solidFill>
          <a:ln w="12700">
            <a:solidFill>
              <a:srgbClr val="D7E8E8"/>
            </a:solidFill>
            <a:prstDash val="solid"/>
          </a:ln>
          <a:effectLst>
            <a:outerShdw blurRad="76200" dist="25400" dir="5400000" algn="bl" rotWithShape="0">
              <a:srgbClr val="16262A">
                <a:alpha val="12000"/>
              </a:srgbClr>
            </a:outerShdw>
          </a:effectLst>
        </p:spPr>
      </p:sp>
      <p:sp>
        <p:nvSpPr>
          <p:cNvPr id="11" name="Text 9"/>
          <p:cNvSpPr/>
          <p:nvPr/>
        </p:nvSpPr>
        <p:spPr>
          <a:xfrm>
            <a:off x="8183880" y="1618488"/>
            <a:ext cx="3154680" cy="928116"/>
          </a:xfrm>
          <a:prstGeom prst="rect">
            <a:avLst/>
          </a:prstGeom>
          <a:noFill/>
          <a:ln/>
        </p:spPr>
        <p:txBody>
          <a:bodyPr wrap="square" lIns="0" tIns="0" rIns="0" bIns="0" rtlCol="0" anchor="b"/>
          <a:lstStyle/>
          <a:p>
            <a:pPr marL="0" indent="0" algn="l">
              <a:buNone/>
            </a:pPr>
            <a:r>
              <a:rPr lang="en-US" sz="3200" b="1" dirty="0">
                <a:solidFill>
                  <a:srgbClr val="D7263D"/>
                </a:solidFill>
                <a:latin typeface="Cambria" pitchFamily="34" charset="0"/>
                <a:ea typeface="Cambria" pitchFamily="34" charset="-122"/>
                <a:cs typeface="Cambria" pitchFamily="34" charset="-120"/>
              </a:rPr>
              <a:t>3.1%</a:t>
            </a:r>
            <a:endParaRPr lang="en-US" sz="3200" dirty="0"/>
          </a:p>
        </p:txBody>
      </p:sp>
      <p:sp>
        <p:nvSpPr>
          <p:cNvPr id="12" name="Text 10"/>
          <p:cNvSpPr/>
          <p:nvPr/>
        </p:nvSpPr>
        <p:spPr>
          <a:xfrm>
            <a:off x="8183880" y="2528316"/>
            <a:ext cx="3154680" cy="502920"/>
          </a:xfrm>
          <a:prstGeom prst="rect">
            <a:avLst/>
          </a:prstGeom>
          <a:noFill/>
          <a:ln/>
        </p:spPr>
        <p:txBody>
          <a:bodyPr wrap="square" lIns="0" tIns="0" rIns="0" bIns="0" rtlCol="0" anchor="t"/>
          <a:lstStyle/>
          <a:p>
            <a:pPr marL="0" indent="0" algn="l">
              <a:lnSpc>
                <a:spcPct val="105000"/>
              </a:lnSpc>
              <a:buNone/>
            </a:pPr>
            <a:r>
              <a:rPr lang="en-US" sz="1150" dirty="0">
                <a:solidFill>
                  <a:srgbClr val="3C5C5F"/>
                </a:solidFill>
                <a:latin typeface="Calibri" pitchFamily="34" charset="0"/>
                <a:ea typeface="Calibri" pitchFamily="34" charset="-122"/>
                <a:cs typeface="Calibri" pitchFamily="34" charset="-120"/>
              </a:rPr>
              <a:t>of coordinate pairs fail a basic plausibility check for Tanzania</a:t>
            </a:r>
            <a:endParaRPr lang="en-US" sz="1150" dirty="0"/>
          </a:p>
        </p:txBody>
      </p:sp>
      <p:sp>
        <p:nvSpPr>
          <p:cNvPr id="13" name="Text 11"/>
          <p:cNvSpPr/>
          <p:nvPr/>
        </p:nvSpPr>
        <p:spPr>
          <a:xfrm>
            <a:off x="548640" y="3429000"/>
            <a:ext cx="6720840" cy="2926080"/>
          </a:xfrm>
          <a:prstGeom prst="rect">
            <a:avLst/>
          </a:prstGeom>
          <a:noFill/>
          <a:ln/>
        </p:spPr>
        <p:txBody>
          <a:bodyPr wrap="square" lIns="0" tIns="0" rIns="0" bIns="0" rtlCol="0" anchor="t"/>
          <a:lstStyle/>
          <a:p>
            <a:pPr marL="228600" indent="-228600" algn="l">
              <a:spcAft>
                <a:spcPts val="1100"/>
              </a:spcAft>
              <a:buSzPct val="100000"/>
              <a:buChar char="▪"/>
            </a:pPr>
            <a:r>
              <a:rPr lang="en-US" sz="1350" dirty="0">
                <a:solidFill>
                  <a:srgbClr val="223A3D"/>
                </a:solidFill>
                <a:latin typeface="Calibri" pitchFamily="34" charset="0"/>
                <a:ea typeface="Calibri" pitchFamily="34" charset="-122"/>
                <a:cs typeface="Calibri" pitchFamily="34" charset="-120"/>
              </a:rPr>
              <a:t>36 rows are duplicated once the id column is excluded - removed before analysis.</a:t>
            </a:r>
            <a:endParaRPr lang="en-US" sz="1350" dirty="0"/>
          </a:p>
          <a:p>
            <a:pPr marL="228600" indent="-228600" algn="l">
              <a:spcAft>
                <a:spcPts val="1100"/>
              </a:spcAft>
              <a:buSzPct val="100000"/>
              <a:buChar char="▪"/>
            </a:pPr>
            <a:r>
              <a:rPr lang="en-US" sz="1350" dirty="0">
                <a:solidFill>
                  <a:srgbClr val="223A3D"/>
                </a:solidFill>
                <a:latin typeface="Calibri" pitchFamily="34" charset="0"/>
                <a:ea typeface="Calibri" pitchFamily="34" charset="-122"/>
                <a:cs typeface="Calibri" pitchFamily="34" charset="-120"/>
              </a:rPr>
              <a:t>Missing values are concentrated in a few columns: scheme_name (28,810), scheme_management (3,878), installer (3,655), funder (3,637) and permit (3,056).</a:t>
            </a:r>
            <a:endParaRPr lang="en-US" sz="1350" dirty="0"/>
          </a:p>
          <a:p>
            <a:pPr marL="228600" indent="-228600" algn="l">
              <a:spcAft>
                <a:spcPts val="1100"/>
              </a:spcAft>
              <a:buSzPct val="100000"/>
              <a:buChar char="▪"/>
            </a:pPr>
            <a:r>
              <a:rPr lang="en-US" sz="1350" dirty="0">
                <a:solidFill>
                  <a:srgbClr val="223A3D"/>
                </a:solidFill>
                <a:latin typeface="Calibri" pitchFamily="34" charset="0"/>
                <a:ea typeface="Calibri" pitchFamily="34" charset="-122"/>
                <a:cs typeface="Calibri" pitchFamily="34" charset="-120"/>
              </a:rPr>
              <a:t>Several numeric fields use 0 as a silent “missing” placeholder rather than a true zero — construction_year and population both needed this check.</a:t>
            </a:r>
            <a:endParaRPr lang="en-US" sz="1350" dirty="0"/>
          </a:p>
          <a:p>
            <a:pPr marL="228600" indent="-228600" algn="l">
              <a:spcAft>
                <a:spcPts val="1100"/>
              </a:spcAft>
              <a:buSzPct val="100000"/>
              <a:buChar char="▪"/>
            </a:pPr>
            <a:r>
              <a:rPr lang="en-US" sz="1350" dirty="0">
                <a:solidFill>
                  <a:srgbClr val="223A3D"/>
                </a:solidFill>
                <a:latin typeface="Calibri" pitchFamily="34" charset="0"/>
                <a:ea typeface="Calibri" pitchFamily="34" charset="-122"/>
                <a:cs typeface="Calibri" pitchFamily="34" charset="-120"/>
              </a:rPr>
              <a:t>installer and funder are recorded as free text, so the same organisation appears under many spellings — this needs a documented cleaning step before modelling.</a:t>
            </a:r>
            <a:endParaRPr lang="en-US" sz="1350" dirty="0"/>
          </a:p>
        </p:txBody>
      </p:sp>
      <p:sp>
        <p:nvSpPr>
          <p:cNvPr id="14" name="Shape 12"/>
          <p:cNvSpPr/>
          <p:nvPr/>
        </p:nvSpPr>
        <p:spPr>
          <a:xfrm>
            <a:off x="7543800" y="3429000"/>
            <a:ext cx="4114800" cy="2834640"/>
          </a:xfrm>
          <a:prstGeom prst="roundRect">
            <a:avLst>
              <a:gd name="adj" fmla="val 2903"/>
            </a:avLst>
          </a:prstGeom>
          <a:solidFill>
            <a:srgbClr val="FFFFFF"/>
          </a:solidFill>
          <a:ln w="12700">
            <a:solidFill>
              <a:srgbClr val="D7E8E8"/>
            </a:solidFill>
            <a:prstDash val="solid"/>
          </a:ln>
          <a:effectLst>
            <a:outerShdw blurRad="76200" dist="25400" dir="5400000" algn="bl" rotWithShape="0">
              <a:srgbClr val="16262A">
                <a:alpha val="10000"/>
              </a:srgbClr>
            </a:outerShdw>
          </a:effectLst>
        </p:spPr>
      </p:sp>
      <p:pic>
        <p:nvPicPr>
          <p:cNvPr id="15" name="Image 0" descr="assets/06_coordinate_validity.png"/>
          <p:cNvPicPr>
            <a:picLocks noChangeAspect="1"/>
          </p:cNvPicPr>
          <p:nvPr/>
        </p:nvPicPr>
        <p:blipFill>
          <a:blip r:embed="rId3"/>
          <a:stretch>
            <a:fillRect/>
          </a:stretch>
        </p:blipFill>
        <p:spPr>
          <a:xfrm>
            <a:off x="7726680" y="3744468"/>
            <a:ext cx="3749040" cy="2249424"/>
          </a:xfrm>
          <a:prstGeom prst="rect">
            <a:avLst/>
          </a:prstGeom>
        </p:spPr>
      </p:pic>
      <p:sp>
        <p:nvSpPr>
          <p:cNvPr id="25" name="Slide Number Placeholder 0"/>
          <p:cNvSpPr>
            <a:spLocks noGrp="1"/>
          </p:cNvSpPr>
          <p:nvPr>
            <p:ph type="sldNum" sz="quarter" idx="4294967295"/>
          </p:nvPr>
        </p:nvSpPr>
        <p:spPr>
          <a:xfrm>
            <a:off x="1165860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A5A8"/>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01168"/>
            <a:ext cx="9601200" cy="365760"/>
          </a:xfrm>
          <a:prstGeom prst="rect">
            <a:avLst/>
          </a:prstGeom>
          <a:noFill/>
          <a:ln/>
        </p:spPr>
        <p:txBody>
          <a:bodyPr wrap="square" rtlCol="0"/>
          <a:lstStyle/>
          <a:p>
            <a:pPr marL="0" indent="0" algn="l">
              <a:buNone/>
            </a:pPr>
            <a:r>
              <a:rPr lang="en-US" sz="1300" b="1" kern="0" spc="150" dirty="0">
                <a:solidFill>
                  <a:schemeClr val="tx2"/>
                </a:solidFill>
                <a:latin typeface="Calibri" pitchFamily="34" charset="0"/>
                <a:ea typeface="Calibri" pitchFamily="34" charset="-122"/>
                <a:cs typeface="Calibri" pitchFamily="34" charset="-120"/>
              </a:rPr>
              <a:t>TARGET CLASSES &amp; CATEGORICAL FINDINGS</a:t>
            </a:r>
            <a:endParaRPr lang="en-US" sz="1300" dirty="0"/>
          </a:p>
        </p:txBody>
      </p:sp>
      <p:sp>
        <p:nvSpPr>
          <p:cNvPr id="3" name="Text 1"/>
          <p:cNvSpPr>
            <a:spLocks noGrp="1"/>
          </p:cNvSpPr>
          <p:nvPr>
            <p:ph type="body" idx="102" hasCustomPrompt="1"/>
          </p:nvPr>
        </p:nvSpPr>
        <p:spPr>
          <a:xfrm>
            <a:off x="548640" y="512064"/>
            <a:ext cx="10515600" cy="594360"/>
          </a:xfrm>
          <a:prstGeom prst="rect">
            <a:avLst/>
          </a:prstGeom>
          <a:noFill/>
          <a:ln/>
        </p:spPr>
        <p:txBody>
          <a:bodyPr wrap="square" rtlCol="0" anchor="t"/>
          <a:lstStyle/>
          <a:p>
            <a:pPr marL="0" indent="0" algn="l">
              <a:buNone/>
            </a:pPr>
            <a:r>
              <a:rPr lang="en-US" sz="2600" b="1" dirty="0">
                <a:solidFill>
                  <a:schemeClr val="tx1"/>
                </a:solidFill>
                <a:latin typeface="Cambria" pitchFamily="34" charset="0"/>
                <a:ea typeface="Cambria" pitchFamily="34" charset="-122"/>
                <a:cs typeface="Cambria" pitchFamily="34" charset="-120"/>
              </a:rPr>
              <a:t>The repair class is small — several features show clear differences.</a:t>
            </a:r>
            <a:endParaRPr lang="en-US" sz="2600" dirty="0"/>
          </a:p>
        </p:txBody>
      </p:sp>
      <p:pic>
        <p:nvPicPr>
          <p:cNvPr id="4" name="Image 0" descr="assets/5_01_target_distribution.png"/>
          <p:cNvPicPr>
            <a:picLocks noChangeAspect="1"/>
          </p:cNvPicPr>
          <p:nvPr/>
        </p:nvPicPr>
        <p:blipFill>
          <a:blip r:embed="rId3"/>
          <a:stretch>
            <a:fillRect/>
          </a:stretch>
        </p:blipFill>
        <p:spPr>
          <a:xfrm>
            <a:off x="548640" y="1584707"/>
            <a:ext cx="5120640" cy="1768347"/>
          </a:xfrm>
          <a:prstGeom prst="rect">
            <a:avLst/>
          </a:prstGeom>
        </p:spPr>
      </p:pic>
      <p:sp>
        <p:nvSpPr>
          <p:cNvPr id="5" name="Shape 2"/>
          <p:cNvSpPr/>
          <p:nvPr/>
        </p:nvSpPr>
        <p:spPr>
          <a:xfrm>
            <a:off x="5943600" y="1417320"/>
            <a:ext cx="2697480" cy="1325880"/>
          </a:xfrm>
          <a:prstGeom prst="roundRect">
            <a:avLst>
              <a:gd name="adj" fmla="val 6207"/>
            </a:avLst>
          </a:prstGeom>
          <a:solidFill>
            <a:srgbClr val="FFFFFF"/>
          </a:solidFill>
          <a:ln w="12700">
            <a:solidFill>
              <a:srgbClr val="D7E8E8"/>
            </a:solidFill>
            <a:prstDash val="solid"/>
          </a:ln>
          <a:effectLst>
            <a:outerShdw blurRad="76200" dist="25400" dir="5400000" algn="bl" rotWithShape="0">
              <a:srgbClr val="16262A">
                <a:alpha val="12000"/>
              </a:srgbClr>
            </a:outerShdw>
          </a:effectLst>
        </p:spPr>
      </p:sp>
      <p:sp>
        <p:nvSpPr>
          <p:cNvPr id="6" name="Text 3"/>
          <p:cNvSpPr/>
          <p:nvPr/>
        </p:nvSpPr>
        <p:spPr>
          <a:xfrm>
            <a:off x="6080760" y="1527048"/>
            <a:ext cx="2423160" cy="769010"/>
          </a:xfrm>
          <a:prstGeom prst="rect">
            <a:avLst/>
          </a:prstGeom>
          <a:noFill/>
          <a:ln/>
        </p:spPr>
        <p:txBody>
          <a:bodyPr wrap="square" lIns="0" tIns="0" rIns="0" bIns="0" rtlCol="0" anchor="b"/>
          <a:lstStyle/>
          <a:p>
            <a:pPr marL="0" indent="0" algn="l">
              <a:buNone/>
            </a:pPr>
            <a:r>
              <a:rPr lang="en-US" sz="2800" b="1" dirty="0">
                <a:solidFill>
                  <a:srgbClr val="028090"/>
                </a:solidFill>
                <a:latin typeface="Cambria" pitchFamily="34" charset="0"/>
                <a:ea typeface="Cambria" pitchFamily="34" charset="-122"/>
                <a:cs typeface="Cambria" pitchFamily="34" charset="-120"/>
              </a:rPr>
              <a:t>0.31</a:t>
            </a:r>
            <a:endParaRPr lang="en-US" sz="2800" dirty="0"/>
          </a:p>
        </p:txBody>
      </p:sp>
      <p:sp>
        <p:nvSpPr>
          <p:cNvPr id="7" name="Text 4"/>
          <p:cNvSpPr/>
          <p:nvPr/>
        </p:nvSpPr>
        <p:spPr>
          <a:xfrm>
            <a:off x="6080760" y="2277770"/>
            <a:ext cx="2423160" cy="393192"/>
          </a:xfrm>
          <a:prstGeom prst="rect">
            <a:avLst/>
          </a:prstGeom>
          <a:noFill/>
          <a:ln/>
        </p:spPr>
        <p:txBody>
          <a:bodyPr wrap="square" lIns="0" tIns="0" rIns="0" bIns="0" rtlCol="0" anchor="t"/>
          <a:lstStyle/>
          <a:p>
            <a:pPr marL="0" indent="0" algn="l">
              <a:lnSpc>
                <a:spcPct val="105000"/>
              </a:lnSpc>
              <a:buNone/>
            </a:pPr>
            <a:r>
              <a:rPr lang="en-US" sz="1150" dirty="0">
                <a:solidFill>
                  <a:srgbClr val="3C5C5F"/>
                </a:solidFill>
                <a:latin typeface="Calibri" pitchFamily="34" charset="0"/>
                <a:ea typeface="Calibri" pitchFamily="34" charset="-122"/>
                <a:cs typeface="Calibri" pitchFamily="34" charset="-120"/>
              </a:rPr>
              <a:t>strongest categorical association: quantity (Cramér's V)</a:t>
            </a:r>
            <a:endParaRPr lang="en-US" sz="1150" dirty="0"/>
          </a:p>
        </p:txBody>
      </p:sp>
      <p:sp>
        <p:nvSpPr>
          <p:cNvPr id="8" name="Shape 5"/>
          <p:cNvSpPr/>
          <p:nvPr/>
        </p:nvSpPr>
        <p:spPr>
          <a:xfrm>
            <a:off x="8778240" y="1417320"/>
            <a:ext cx="2697480" cy="1325880"/>
          </a:xfrm>
          <a:prstGeom prst="roundRect">
            <a:avLst>
              <a:gd name="adj" fmla="val 6207"/>
            </a:avLst>
          </a:prstGeom>
          <a:solidFill>
            <a:srgbClr val="FFFFFF"/>
          </a:solidFill>
          <a:ln w="12700">
            <a:solidFill>
              <a:srgbClr val="D7E8E8"/>
            </a:solidFill>
            <a:prstDash val="solid"/>
          </a:ln>
          <a:effectLst>
            <a:outerShdw blurRad="76200" dist="25400" dir="5400000" algn="bl" rotWithShape="0">
              <a:srgbClr val="16262A">
                <a:alpha val="12000"/>
              </a:srgbClr>
            </a:outerShdw>
          </a:effectLst>
        </p:spPr>
      </p:sp>
      <p:sp>
        <p:nvSpPr>
          <p:cNvPr id="9" name="Text 6"/>
          <p:cNvSpPr/>
          <p:nvPr/>
        </p:nvSpPr>
        <p:spPr>
          <a:xfrm>
            <a:off x="8915400" y="1527048"/>
            <a:ext cx="2423160" cy="769010"/>
          </a:xfrm>
          <a:prstGeom prst="rect">
            <a:avLst/>
          </a:prstGeom>
          <a:noFill/>
          <a:ln/>
        </p:spPr>
        <p:txBody>
          <a:bodyPr wrap="square" lIns="0" tIns="0" rIns="0" bIns="0" rtlCol="0" anchor="b"/>
          <a:lstStyle/>
          <a:p>
            <a:pPr marL="0" indent="0" algn="l">
              <a:buNone/>
            </a:pPr>
            <a:r>
              <a:rPr lang="en-US" sz="2800" b="1" dirty="0">
                <a:solidFill>
                  <a:srgbClr val="8AA5A8"/>
                </a:solidFill>
                <a:latin typeface="Cambria" pitchFamily="34" charset="0"/>
                <a:ea typeface="Cambria" pitchFamily="34" charset="-122"/>
                <a:cs typeface="Cambria" pitchFamily="34" charset="-120"/>
              </a:rPr>
              <a:t>0.03</a:t>
            </a:r>
            <a:endParaRPr lang="en-US" sz="2800" dirty="0"/>
          </a:p>
        </p:txBody>
      </p:sp>
      <p:sp>
        <p:nvSpPr>
          <p:cNvPr id="10" name="Text 7"/>
          <p:cNvSpPr/>
          <p:nvPr/>
        </p:nvSpPr>
        <p:spPr>
          <a:xfrm>
            <a:off x="8915400" y="2277770"/>
            <a:ext cx="2423160" cy="393192"/>
          </a:xfrm>
          <a:prstGeom prst="rect">
            <a:avLst/>
          </a:prstGeom>
          <a:noFill/>
          <a:ln/>
        </p:spPr>
        <p:txBody>
          <a:bodyPr wrap="square" lIns="0" tIns="0" rIns="0" bIns="0" rtlCol="0" anchor="t"/>
          <a:lstStyle/>
          <a:p>
            <a:pPr marL="0" indent="0" algn="l">
              <a:lnSpc>
                <a:spcPct val="105000"/>
              </a:lnSpc>
              <a:buNone/>
            </a:pPr>
            <a:r>
              <a:rPr lang="en-US" sz="1150" dirty="0">
                <a:solidFill>
                  <a:srgbClr val="3C5C5F"/>
                </a:solidFill>
                <a:latin typeface="Calibri" pitchFamily="34" charset="0"/>
                <a:ea typeface="Calibri" pitchFamily="34" charset="-122"/>
                <a:cs typeface="Calibri" pitchFamily="34" charset="-120"/>
              </a:rPr>
              <a:t>weakest: permit (Cramér's V)</a:t>
            </a:r>
            <a:endParaRPr lang="en-US" sz="1150" dirty="0"/>
          </a:p>
        </p:txBody>
      </p:sp>
      <p:pic>
        <p:nvPicPr>
          <p:cNvPr id="11" name="Image 1" descr="assets/5_05_quantity_quality.png"/>
          <p:cNvPicPr>
            <a:picLocks noChangeAspect="1"/>
          </p:cNvPicPr>
          <p:nvPr/>
        </p:nvPicPr>
        <p:blipFill>
          <a:blip r:embed="rId4"/>
          <a:stretch>
            <a:fillRect/>
          </a:stretch>
        </p:blipFill>
        <p:spPr>
          <a:xfrm>
            <a:off x="5943600" y="2990374"/>
            <a:ext cx="5532120" cy="1380173"/>
          </a:xfrm>
          <a:prstGeom prst="rect">
            <a:avLst/>
          </a:prstGeom>
        </p:spPr>
      </p:pic>
      <p:sp>
        <p:nvSpPr>
          <p:cNvPr id="12" name="Text 8"/>
          <p:cNvSpPr/>
          <p:nvPr/>
        </p:nvSpPr>
        <p:spPr>
          <a:xfrm>
            <a:off x="548640" y="4663440"/>
            <a:ext cx="10927080" cy="1691640"/>
          </a:xfrm>
          <a:prstGeom prst="rect">
            <a:avLst/>
          </a:prstGeom>
          <a:noFill/>
          <a:ln/>
        </p:spPr>
        <p:txBody>
          <a:bodyPr wrap="square" lIns="0" tIns="0" rIns="0" bIns="0" rtlCol="0" anchor="t"/>
          <a:lstStyle/>
          <a:p>
            <a:pPr marL="228600" indent="-228600" algn="l">
              <a:spcAft>
                <a:spcPts val="900"/>
              </a:spcAft>
              <a:buSzPct val="100000"/>
              <a:buChar char="▪"/>
            </a:pPr>
            <a:r>
              <a:rPr lang="en-US" sz="1350" dirty="0">
                <a:solidFill>
                  <a:srgbClr val="223A3D"/>
                </a:solidFill>
                <a:latin typeface="Calibri" pitchFamily="34" charset="0"/>
                <a:ea typeface="Calibri" pitchFamily="34" charset="-122"/>
                <a:cs typeface="Calibri" pitchFamily="34" charset="-120"/>
              </a:rPr>
              <a:t>97% of waterpoints recorded as “dry” are non-functional — a strong signal, but close to the target itself, so we flag it as a possible leakage risk.</a:t>
            </a:r>
            <a:endParaRPr lang="en-US" sz="1350" dirty="0"/>
          </a:p>
          <a:p>
            <a:pPr marL="228600" indent="-228600" algn="l">
              <a:spcAft>
                <a:spcPts val="900"/>
              </a:spcAft>
              <a:buSzPct val="100000"/>
              <a:buChar char="▪"/>
            </a:pPr>
            <a:r>
              <a:rPr lang="en-US" sz="1350" dirty="0">
                <a:solidFill>
                  <a:srgbClr val="223A3D"/>
                </a:solidFill>
                <a:latin typeface="Calibri" pitchFamily="34" charset="0"/>
                <a:ea typeface="Calibri" pitchFamily="34" charset="-122"/>
                <a:cs typeface="Calibri" pitchFamily="34" charset="-120"/>
              </a:rPr>
              <a:t>The functional needs repair class is only 7.3% of the data; any model we build must be checked on this class specifically, not just on overall accuracy.</a:t>
            </a:r>
            <a:endParaRPr lang="en-US" sz="1350" dirty="0"/>
          </a:p>
        </p:txBody>
      </p:sp>
      <p:sp>
        <p:nvSpPr>
          <p:cNvPr id="25" name="Slide Number Placeholder 0"/>
          <p:cNvSpPr>
            <a:spLocks noGrp="1"/>
          </p:cNvSpPr>
          <p:nvPr>
            <p:ph type="sldNum" sz="quarter" idx="4294967295"/>
          </p:nvPr>
        </p:nvSpPr>
        <p:spPr>
          <a:xfrm>
            <a:off x="1165860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A5A8"/>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01168"/>
            <a:ext cx="9601200" cy="365760"/>
          </a:xfrm>
          <a:prstGeom prst="rect">
            <a:avLst/>
          </a:prstGeom>
          <a:noFill/>
          <a:ln/>
        </p:spPr>
        <p:txBody>
          <a:bodyPr wrap="square" rtlCol="0"/>
          <a:lstStyle/>
          <a:p>
            <a:pPr marL="0" indent="0" algn="l">
              <a:buNone/>
            </a:pPr>
            <a:r>
              <a:rPr lang="en-US" sz="1300" b="1" kern="0" spc="150" dirty="0">
                <a:solidFill>
                  <a:schemeClr val="tx2"/>
                </a:solidFill>
                <a:latin typeface="Calibri" pitchFamily="34" charset="0"/>
                <a:ea typeface="Calibri" pitchFamily="34" charset="-122"/>
                <a:cs typeface="Calibri" pitchFamily="34" charset="-120"/>
              </a:rPr>
              <a:t>GEOGRAPHY &amp; PUMP AGE</a:t>
            </a:r>
            <a:endParaRPr lang="en-US" sz="1300" dirty="0"/>
          </a:p>
        </p:txBody>
      </p:sp>
      <p:sp>
        <p:nvSpPr>
          <p:cNvPr id="3" name="Text 1"/>
          <p:cNvSpPr>
            <a:spLocks noGrp="1"/>
          </p:cNvSpPr>
          <p:nvPr>
            <p:ph type="body" idx="102" hasCustomPrompt="1"/>
          </p:nvPr>
        </p:nvSpPr>
        <p:spPr>
          <a:xfrm>
            <a:off x="548640" y="512064"/>
            <a:ext cx="10515600" cy="594360"/>
          </a:xfrm>
          <a:prstGeom prst="rect">
            <a:avLst/>
          </a:prstGeom>
          <a:noFill/>
          <a:ln/>
        </p:spPr>
        <p:txBody>
          <a:bodyPr wrap="square" rtlCol="0" anchor="t"/>
          <a:lstStyle/>
          <a:p>
            <a:pPr marL="0" indent="0" algn="l">
              <a:buNone/>
            </a:pPr>
            <a:r>
              <a:rPr lang="en-US" sz="2600" b="1" dirty="0">
                <a:solidFill>
                  <a:schemeClr val="tx1"/>
                </a:solidFill>
                <a:latin typeface="Cambria" pitchFamily="34" charset="0"/>
                <a:ea typeface="Cambria" pitchFamily="34" charset="-122"/>
                <a:cs typeface="Cambria" pitchFamily="34" charset="-120"/>
              </a:rPr>
              <a:t>Functionality varies with location and age.</a:t>
            </a:r>
            <a:endParaRPr lang="en-US" sz="2600" dirty="0"/>
          </a:p>
        </p:txBody>
      </p:sp>
      <p:pic>
        <p:nvPicPr>
          <p:cNvPr id="4" name="Image 0" descr="assets/06_region_functionality.png"/>
          <p:cNvPicPr>
            <a:picLocks noChangeAspect="1"/>
          </p:cNvPicPr>
          <p:nvPr/>
        </p:nvPicPr>
        <p:blipFill>
          <a:blip r:embed="rId3"/>
          <a:stretch>
            <a:fillRect/>
          </a:stretch>
        </p:blipFill>
        <p:spPr>
          <a:xfrm>
            <a:off x="1143000" y="1371600"/>
            <a:ext cx="4023360" cy="3017520"/>
          </a:xfrm>
          <a:prstGeom prst="rect">
            <a:avLst/>
          </a:prstGeom>
        </p:spPr>
      </p:pic>
      <p:pic>
        <p:nvPicPr>
          <p:cNvPr id="5" name="Image 1" descr="assets/06_pump_age_vs_status.png"/>
          <p:cNvPicPr>
            <a:picLocks noChangeAspect="1"/>
          </p:cNvPicPr>
          <p:nvPr/>
        </p:nvPicPr>
        <p:blipFill>
          <a:blip r:embed="rId4"/>
          <a:stretch>
            <a:fillRect/>
          </a:stretch>
        </p:blipFill>
        <p:spPr>
          <a:xfrm>
            <a:off x="6092190" y="1371600"/>
            <a:ext cx="5280660" cy="3017520"/>
          </a:xfrm>
          <a:prstGeom prst="rect">
            <a:avLst/>
          </a:prstGeom>
        </p:spPr>
      </p:pic>
      <p:sp>
        <p:nvSpPr>
          <p:cNvPr id="6" name="Text 2"/>
          <p:cNvSpPr/>
          <p:nvPr/>
        </p:nvSpPr>
        <p:spPr>
          <a:xfrm>
            <a:off x="548640" y="4526280"/>
            <a:ext cx="10927080" cy="1783080"/>
          </a:xfrm>
          <a:prstGeom prst="rect">
            <a:avLst/>
          </a:prstGeom>
          <a:noFill/>
          <a:ln/>
        </p:spPr>
        <p:txBody>
          <a:bodyPr wrap="square" lIns="0" tIns="0" rIns="0" bIns="0" rtlCol="0" anchor="t"/>
          <a:lstStyle/>
          <a:p>
            <a:pPr marL="228600" indent="-228600" algn="l">
              <a:spcAft>
                <a:spcPts val="900"/>
              </a:spcAft>
              <a:buSzPct val="100000"/>
              <a:buChar char="▪"/>
            </a:pPr>
            <a:r>
              <a:rPr lang="en-US" sz="1350" dirty="0">
                <a:solidFill>
                  <a:srgbClr val="223A3D"/>
                </a:solidFill>
                <a:latin typeface="Calibri" pitchFamily="34" charset="0"/>
                <a:ea typeface="Calibri" pitchFamily="34" charset="-122"/>
                <a:cs typeface="Calibri" pitchFamily="34" charset="-120"/>
              </a:rPr>
              <a:t>Among recorded pumps, Lindi and Mtwara have the highest non-functional share (~64% and ~62%); Iringa and Arusha the lowest (~19–26%) — location matters.</a:t>
            </a:r>
            <a:endParaRPr lang="en-US" sz="1350" dirty="0"/>
          </a:p>
          <a:p>
            <a:pPr marL="228600" indent="-228600" algn="l">
              <a:spcAft>
                <a:spcPts val="900"/>
              </a:spcAft>
              <a:buSzPct val="100000"/>
              <a:buChar char="▪"/>
            </a:pPr>
            <a:r>
              <a:rPr lang="en-US" sz="1350" dirty="0">
                <a:solidFill>
                  <a:srgbClr val="223A3D"/>
                </a:solidFill>
                <a:latin typeface="Calibri" pitchFamily="34" charset="0"/>
                <a:ea typeface="Calibri" pitchFamily="34" charset="-122"/>
                <a:cs typeface="Calibri" pitchFamily="34" charset="-120"/>
              </a:rPr>
              <a:t>Functionality declines steadily with age: pumps 0–5 years old are about 72% functional, falling to about 31% for pumps 31+ years old.</a:t>
            </a:r>
            <a:endParaRPr lang="en-US" sz="1350" dirty="0"/>
          </a:p>
          <a:p>
            <a:pPr marL="228600" indent="-228600" algn="l">
              <a:spcAft>
                <a:spcPts val="900"/>
              </a:spcAft>
              <a:buSzPct val="100000"/>
              <a:buChar char="▪"/>
            </a:pPr>
            <a:r>
              <a:rPr lang="en-US" sz="1350" dirty="0">
                <a:solidFill>
                  <a:srgbClr val="223A3D"/>
                </a:solidFill>
                <a:latin typeface="Calibri" pitchFamily="34" charset="0"/>
                <a:ea typeface="Calibri" pitchFamily="34" charset="-122"/>
                <a:cs typeface="Calibri" pitchFamily="34" charset="-120"/>
              </a:rPr>
              <a:t>These figures come from the shared integration branch (docs/3-sprint1-integration). Next: a quick look at the full interactive map.</a:t>
            </a:r>
            <a:endParaRPr lang="en-US" sz="1350" dirty="0"/>
          </a:p>
        </p:txBody>
      </p:sp>
      <p:sp>
        <p:nvSpPr>
          <p:cNvPr id="25" name="Slide Number Placeholder 0"/>
          <p:cNvSpPr>
            <a:spLocks noGrp="1"/>
          </p:cNvSpPr>
          <p:nvPr>
            <p:ph type="sldNum" sz="quarter" idx="4294967295"/>
          </p:nvPr>
        </p:nvSpPr>
        <p:spPr>
          <a:xfrm>
            <a:off x="1165860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A5A8"/>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01168"/>
            <a:ext cx="9601200" cy="365760"/>
          </a:xfrm>
          <a:prstGeom prst="rect">
            <a:avLst/>
          </a:prstGeom>
          <a:noFill/>
          <a:ln/>
        </p:spPr>
        <p:txBody>
          <a:bodyPr wrap="square" rtlCol="0"/>
          <a:lstStyle/>
          <a:p>
            <a:pPr marL="0" indent="0" algn="l">
              <a:buNone/>
            </a:pPr>
            <a:r>
              <a:rPr lang="en-US" sz="1300" b="1" kern="0" spc="150" dirty="0">
                <a:solidFill>
                  <a:schemeClr val="tx2"/>
                </a:solidFill>
                <a:latin typeface="Calibri" pitchFamily="34" charset="0"/>
                <a:ea typeface="Calibri" pitchFamily="34" charset="-122"/>
                <a:cs typeface="Calibri" pitchFamily="34" charset="-120"/>
              </a:rPr>
              <a:t>INTERACTIVE GEOSPATIAL MAP</a:t>
            </a:r>
            <a:endParaRPr lang="en-US" sz="1300" dirty="0"/>
          </a:p>
        </p:txBody>
      </p:sp>
      <p:sp>
        <p:nvSpPr>
          <p:cNvPr id="3" name="Text 1"/>
          <p:cNvSpPr>
            <a:spLocks noGrp="1"/>
          </p:cNvSpPr>
          <p:nvPr>
            <p:ph type="body" idx="102" hasCustomPrompt="1"/>
          </p:nvPr>
        </p:nvSpPr>
        <p:spPr>
          <a:xfrm>
            <a:off x="548640" y="512064"/>
            <a:ext cx="10515600" cy="594360"/>
          </a:xfrm>
          <a:prstGeom prst="rect">
            <a:avLst/>
          </a:prstGeom>
          <a:noFill/>
          <a:ln/>
        </p:spPr>
        <p:txBody>
          <a:bodyPr wrap="square" rtlCol="0" anchor="t"/>
          <a:lstStyle/>
          <a:p>
            <a:pPr marL="0" indent="0" algn="l">
              <a:buNone/>
            </a:pPr>
            <a:r>
              <a:rPr lang="en-US" sz="2600" b="1" dirty="0">
                <a:solidFill>
                  <a:schemeClr val="tx1"/>
                </a:solidFill>
                <a:latin typeface="Cambria" pitchFamily="34" charset="0"/>
                <a:ea typeface="Cambria" pitchFamily="34" charset="-122"/>
                <a:cs typeface="Cambria" pitchFamily="34" charset="-120"/>
              </a:rPr>
              <a:t>Every waterpoint, mapped and colour-coded by status.</a:t>
            </a:r>
            <a:endParaRPr lang="en-US" sz="2600" dirty="0"/>
          </a:p>
        </p:txBody>
      </p:sp>
      <p:sp>
        <p:nvSpPr>
          <p:cNvPr id="5" name="Text 3"/>
          <p:cNvSpPr/>
          <p:nvPr/>
        </p:nvSpPr>
        <p:spPr>
          <a:xfrm>
            <a:off x="1737360" y="3520440"/>
            <a:ext cx="8686800" cy="457200"/>
          </a:xfrm>
          <a:prstGeom prst="rect">
            <a:avLst/>
          </a:prstGeom>
          <a:noFill/>
          <a:ln/>
        </p:spPr>
        <p:txBody>
          <a:bodyPr wrap="square" rtlCol="0" anchor="ctr"/>
          <a:lstStyle/>
          <a:p>
            <a:pPr marL="0" indent="0" algn="ctr">
              <a:buNone/>
            </a:pPr>
            <a:r>
              <a:rPr lang="en-US" sz="1600" i="1" dirty="0">
                <a:solidFill>
                  <a:srgbClr val="8AA5A8"/>
                </a:solidFill>
                <a:latin typeface="Calibri" pitchFamily="34" charset="0"/>
                <a:ea typeface="Calibri" pitchFamily="34" charset="-122"/>
                <a:cs typeface="Calibri" pitchFamily="34" charset="-120"/>
              </a:rPr>
              <a:t>[ MAP SCREENSHOT GOES HERE ]</a:t>
            </a:r>
            <a:endParaRPr lang="en-US" sz="1600" dirty="0"/>
          </a:p>
        </p:txBody>
      </p:sp>
      <p:sp>
        <p:nvSpPr>
          <p:cNvPr id="6" name="Shape 4"/>
          <p:cNvSpPr/>
          <p:nvPr/>
        </p:nvSpPr>
        <p:spPr>
          <a:xfrm>
            <a:off x="2495007" y="6080760"/>
            <a:ext cx="128016" cy="128016"/>
          </a:xfrm>
          <a:prstGeom prst="ellipse">
            <a:avLst/>
          </a:prstGeom>
          <a:solidFill>
            <a:srgbClr val="02C39A"/>
          </a:solidFill>
          <a:ln/>
        </p:spPr>
      </p:sp>
      <p:sp>
        <p:nvSpPr>
          <p:cNvPr id="7" name="Text 5"/>
          <p:cNvSpPr/>
          <p:nvPr/>
        </p:nvSpPr>
        <p:spPr>
          <a:xfrm>
            <a:off x="2677887" y="6007608"/>
            <a:ext cx="1371600" cy="274320"/>
          </a:xfrm>
          <a:prstGeom prst="rect">
            <a:avLst/>
          </a:prstGeom>
          <a:noFill/>
          <a:ln/>
        </p:spPr>
        <p:txBody>
          <a:bodyPr wrap="square" rtlCol="0" anchor="ctr"/>
          <a:lstStyle/>
          <a:p>
            <a:pPr marL="0" indent="0">
              <a:buNone/>
            </a:pPr>
            <a:r>
              <a:rPr lang="en-US" sz="1100" dirty="0">
                <a:solidFill>
                  <a:srgbClr val="3C5C5F"/>
                </a:solidFill>
                <a:latin typeface="Calibri" pitchFamily="34" charset="0"/>
                <a:ea typeface="Calibri" pitchFamily="34" charset="-122"/>
                <a:cs typeface="Calibri" pitchFamily="34" charset="-120"/>
              </a:rPr>
              <a:t>Functional</a:t>
            </a:r>
            <a:endParaRPr lang="en-US" sz="1100" dirty="0"/>
          </a:p>
        </p:txBody>
      </p:sp>
      <p:sp>
        <p:nvSpPr>
          <p:cNvPr id="8" name="Shape 6"/>
          <p:cNvSpPr/>
          <p:nvPr/>
        </p:nvSpPr>
        <p:spPr>
          <a:xfrm>
            <a:off x="4049487" y="6080760"/>
            <a:ext cx="128016" cy="128016"/>
          </a:xfrm>
          <a:prstGeom prst="ellipse">
            <a:avLst/>
          </a:prstGeom>
          <a:solidFill>
            <a:srgbClr val="F2B134"/>
          </a:solidFill>
          <a:ln/>
        </p:spPr>
      </p:sp>
      <p:sp>
        <p:nvSpPr>
          <p:cNvPr id="9" name="Text 7"/>
          <p:cNvSpPr/>
          <p:nvPr/>
        </p:nvSpPr>
        <p:spPr>
          <a:xfrm>
            <a:off x="4232367" y="6007608"/>
            <a:ext cx="1645920" cy="274320"/>
          </a:xfrm>
          <a:prstGeom prst="rect">
            <a:avLst/>
          </a:prstGeom>
          <a:noFill/>
          <a:ln/>
        </p:spPr>
        <p:txBody>
          <a:bodyPr wrap="square" rtlCol="0" anchor="ctr"/>
          <a:lstStyle/>
          <a:p>
            <a:pPr marL="0" indent="0">
              <a:buNone/>
            </a:pPr>
            <a:r>
              <a:rPr lang="en-US" sz="1100" dirty="0">
                <a:solidFill>
                  <a:srgbClr val="3C5C5F"/>
                </a:solidFill>
                <a:latin typeface="Calibri" pitchFamily="34" charset="0"/>
                <a:ea typeface="Calibri" pitchFamily="34" charset="-122"/>
                <a:cs typeface="Calibri" pitchFamily="34" charset="-120"/>
              </a:rPr>
              <a:t>Needs repair</a:t>
            </a:r>
            <a:endParaRPr lang="en-US" sz="1100" dirty="0"/>
          </a:p>
        </p:txBody>
      </p:sp>
      <p:sp>
        <p:nvSpPr>
          <p:cNvPr id="10" name="Shape 8"/>
          <p:cNvSpPr/>
          <p:nvPr/>
        </p:nvSpPr>
        <p:spPr>
          <a:xfrm>
            <a:off x="5832567" y="6080760"/>
            <a:ext cx="128016" cy="128016"/>
          </a:xfrm>
          <a:prstGeom prst="ellipse">
            <a:avLst/>
          </a:prstGeom>
          <a:solidFill>
            <a:srgbClr val="D7263D"/>
          </a:solidFill>
          <a:ln/>
        </p:spPr>
      </p:sp>
      <p:sp>
        <p:nvSpPr>
          <p:cNvPr id="11" name="Text 9"/>
          <p:cNvSpPr/>
          <p:nvPr/>
        </p:nvSpPr>
        <p:spPr>
          <a:xfrm>
            <a:off x="6015447" y="6007608"/>
            <a:ext cx="1828800" cy="274320"/>
          </a:xfrm>
          <a:prstGeom prst="rect">
            <a:avLst/>
          </a:prstGeom>
          <a:noFill/>
          <a:ln/>
        </p:spPr>
        <p:txBody>
          <a:bodyPr wrap="square" rtlCol="0" anchor="ctr"/>
          <a:lstStyle/>
          <a:p>
            <a:pPr marL="0" indent="0">
              <a:buNone/>
            </a:pPr>
            <a:r>
              <a:rPr lang="en-US" sz="1100" dirty="0">
                <a:solidFill>
                  <a:srgbClr val="3C5C5F"/>
                </a:solidFill>
                <a:latin typeface="Calibri" pitchFamily="34" charset="0"/>
                <a:ea typeface="Calibri" pitchFamily="34" charset="-122"/>
                <a:cs typeface="Calibri" pitchFamily="34" charset="-120"/>
              </a:rPr>
              <a:t>Non-functional</a:t>
            </a:r>
            <a:endParaRPr lang="en-US" sz="1100" dirty="0"/>
          </a:p>
        </p:txBody>
      </p:sp>
      <p:sp>
        <p:nvSpPr>
          <p:cNvPr id="25" name="Slide Number Placeholder 0"/>
          <p:cNvSpPr>
            <a:spLocks noGrp="1"/>
          </p:cNvSpPr>
          <p:nvPr>
            <p:ph type="sldNum" sz="quarter" idx="4294967295"/>
          </p:nvPr>
        </p:nvSpPr>
        <p:spPr>
          <a:xfrm>
            <a:off x="1165860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A5A8"/>
                </a:solidFill>
                <a:latin typeface="Calibri"/>
                <a:ea typeface="Calibri"/>
                <a:cs typeface="Calibri"/>
              </a:defRPr>
            </a:lvl1pPr>
          </a:lstStyle>
          <a:p>
            <a:pPr algn="l"/>
            <a:fld id="{F7021451-1387-4CA6-816F-3879F97B5CBC}" type="slidenum">
              <a:rPr lang="en-US" b="0"/>
              <a:t>5</a:t>
            </a:fld>
            <a:endParaRPr lang="en-US"/>
          </a:p>
        </p:txBody>
      </p:sp>
      <p:pic>
        <p:nvPicPr>
          <p:cNvPr id="13" name="Picture 12">
            <a:extLst>
              <a:ext uri="{FF2B5EF4-FFF2-40B4-BE49-F238E27FC236}">
                <a16:creationId xmlns:a16="http://schemas.microsoft.com/office/drawing/2014/main" id="{C12A66DA-AE43-518E-7F85-1AF0358D6B22}"/>
              </a:ext>
            </a:extLst>
          </p:cNvPr>
          <p:cNvPicPr>
            <a:picLocks noChangeAspect="1"/>
          </p:cNvPicPr>
          <p:nvPr/>
        </p:nvPicPr>
        <p:blipFill>
          <a:blip r:embed="rId3"/>
          <a:stretch>
            <a:fillRect/>
          </a:stretch>
        </p:blipFill>
        <p:spPr>
          <a:xfrm>
            <a:off x="2325380" y="1426211"/>
            <a:ext cx="6630325" cy="44392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201168"/>
            <a:ext cx="9601200" cy="365760"/>
          </a:xfrm>
          <a:prstGeom prst="rect">
            <a:avLst/>
          </a:prstGeom>
          <a:noFill/>
          <a:ln/>
        </p:spPr>
        <p:txBody>
          <a:bodyPr wrap="square" rtlCol="0"/>
          <a:lstStyle/>
          <a:p>
            <a:pPr marL="0" indent="0" algn="l">
              <a:buNone/>
            </a:pPr>
            <a:r>
              <a:rPr lang="en-US" sz="1300" b="1" kern="0" spc="150" dirty="0">
                <a:solidFill>
                  <a:schemeClr val="tx2"/>
                </a:solidFill>
                <a:latin typeface="Calibri" pitchFamily="34" charset="0"/>
                <a:ea typeface="Calibri" pitchFamily="34" charset="-122"/>
                <a:cs typeface="Calibri" pitchFamily="34" charset="-120"/>
              </a:rPr>
              <a:t>CONCLUSIONS &amp; SPRINT 2 PRIORITIES</a:t>
            </a:r>
            <a:endParaRPr lang="en-US" sz="1300" dirty="0"/>
          </a:p>
        </p:txBody>
      </p:sp>
      <p:sp>
        <p:nvSpPr>
          <p:cNvPr id="3" name="Text 1"/>
          <p:cNvSpPr>
            <a:spLocks noGrp="1"/>
          </p:cNvSpPr>
          <p:nvPr>
            <p:ph type="body" idx="102" hasCustomPrompt="1"/>
          </p:nvPr>
        </p:nvSpPr>
        <p:spPr>
          <a:xfrm>
            <a:off x="548640" y="512064"/>
            <a:ext cx="10515600" cy="594360"/>
          </a:xfrm>
          <a:prstGeom prst="rect">
            <a:avLst/>
          </a:prstGeom>
          <a:noFill/>
          <a:ln/>
        </p:spPr>
        <p:txBody>
          <a:bodyPr wrap="square" rtlCol="0" anchor="t"/>
          <a:lstStyle/>
          <a:p>
            <a:pPr marL="0" indent="0" algn="l">
              <a:buNone/>
            </a:pPr>
            <a:r>
              <a:rPr lang="en-US" sz="2600" b="1" dirty="0">
                <a:solidFill>
                  <a:schemeClr val="tx1"/>
                </a:solidFill>
                <a:latin typeface="Cambria" pitchFamily="34" charset="0"/>
                <a:ea typeface="Cambria" pitchFamily="34" charset="-122"/>
                <a:cs typeface="Cambria" pitchFamily="34" charset="-120"/>
              </a:rPr>
              <a:t>Sprint 1 gives us a practical modelling plan.</a:t>
            </a:r>
            <a:endParaRPr lang="en-US" sz="2600" dirty="0"/>
          </a:p>
        </p:txBody>
      </p:sp>
      <p:sp>
        <p:nvSpPr>
          <p:cNvPr id="4" name="Shape 2"/>
          <p:cNvSpPr/>
          <p:nvPr/>
        </p:nvSpPr>
        <p:spPr>
          <a:xfrm>
            <a:off x="548640" y="1600200"/>
            <a:ext cx="3566160" cy="2788920"/>
          </a:xfrm>
          <a:prstGeom prst="roundRect">
            <a:avLst>
              <a:gd name="adj" fmla="val 3279"/>
            </a:avLst>
          </a:prstGeom>
          <a:solidFill>
            <a:srgbClr val="F3FAFA"/>
          </a:solidFill>
          <a:ln w="12700">
            <a:solidFill>
              <a:srgbClr val="D7E8E8"/>
            </a:solidFill>
            <a:prstDash val="solid"/>
          </a:ln>
        </p:spPr>
      </p:sp>
      <p:sp>
        <p:nvSpPr>
          <p:cNvPr id="5" name="Shape 3"/>
          <p:cNvSpPr/>
          <p:nvPr/>
        </p:nvSpPr>
        <p:spPr>
          <a:xfrm>
            <a:off x="777240" y="1828800"/>
            <a:ext cx="502920" cy="502920"/>
          </a:xfrm>
          <a:prstGeom prst="ellipse">
            <a:avLst/>
          </a:prstGeom>
          <a:solidFill>
            <a:srgbClr val="028090"/>
          </a:solidFill>
          <a:ln/>
        </p:spPr>
      </p:sp>
      <p:sp>
        <p:nvSpPr>
          <p:cNvPr id="6" name="Text 4"/>
          <p:cNvSpPr/>
          <p:nvPr/>
        </p:nvSpPr>
        <p:spPr>
          <a:xfrm>
            <a:off x="77724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777240" y="2468880"/>
            <a:ext cx="3108960" cy="685800"/>
          </a:xfrm>
          <a:prstGeom prst="rect">
            <a:avLst/>
          </a:prstGeom>
          <a:noFill/>
          <a:ln/>
        </p:spPr>
        <p:txBody>
          <a:bodyPr wrap="square" lIns="0" tIns="0" rIns="0" bIns="0" rtlCol="0" anchor="t"/>
          <a:lstStyle/>
          <a:p>
            <a:pPr marL="0" indent="0" algn="l">
              <a:buNone/>
            </a:pPr>
            <a:r>
              <a:rPr lang="en-US" sz="1550" b="1" dirty="0">
                <a:solidFill>
                  <a:srgbClr val="16262A"/>
                </a:solidFill>
                <a:latin typeface="Cambria" pitchFamily="34" charset="0"/>
                <a:ea typeface="Cambria" pitchFamily="34" charset="-122"/>
                <a:cs typeface="Cambria" pitchFamily="34" charset="-120"/>
              </a:rPr>
              <a:t>Agree on one data-preparation step</a:t>
            </a:r>
            <a:endParaRPr lang="en-US" sz="1550" dirty="0"/>
          </a:p>
        </p:txBody>
      </p:sp>
      <p:sp>
        <p:nvSpPr>
          <p:cNvPr id="8" name="Text 6"/>
          <p:cNvSpPr/>
          <p:nvPr/>
        </p:nvSpPr>
        <p:spPr>
          <a:xfrm>
            <a:off x="777240" y="3154680"/>
            <a:ext cx="3108960" cy="1051560"/>
          </a:xfrm>
          <a:prstGeom prst="rect">
            <a:avLst/>
          </a:prstGeom>
          <a:noFill/>
          <a:ln/>
        </p:spPr>
        <p:txBody>
          <a:bodyPr wrap="square" lIns="0" tIns="0" rIns="0" bIns="0" rtlCol="0" anchor="t"/>
          <a:lstStyle/>
          <a:p>
            <a:pPr marL="0" indent="0" algn="l">
              <a:lnSpc>
                <a:spcPct val="108000"/>
              </a:lnSpc>
              <a:buNone/>
            </a:pPr>
            <a:r>
              <a:rPr lang="en-US" sz="1200" dirty="0">
                <a:solidFill>
                  <a:srgbClr val="3C5C5F"/>
                </a:solidFill>
                <a:latin typeface="Calibri" pitchFamily="34" charset="0"/>
                <a:ea typeface="Calibri" pitchFamily="34" charset="-122"/>
                <a:cs typeface="Calibri" pitchFamily="34" charset="-120"/>
              </a:rPr>
              <a:t>Implement a single, shared, documented cleaning function — 0-placeholders, duplicates, invalid coordinates — that every notebook and the model pipeline reuse.</a:t>
            </a:r>
            <a:endParaRPr lang="en-US" sz="1200" dirty="0"/>
          </a:p>
        </p:txBody>
      </p:sp>
      <p:sp>
        <p:nvSpPr>
          <p:cNvPr id="9" name="Shape 7"/>
          <p:cNvSpPr/>
          <p:nvPr/>
        </p:nvSpPr>
        <p:spPr>
          <a:xfrm>
            <a:off x="4389120" y="1600200"/>
            <a:ext cx="3566160" cy="2788920"/>
          </a:xfrm>
          <a:prstGeom prst="roundRect">
            <a:avLst>
              <a:gd name="adj" fmla="val 3279"/>
            </a:avLst>
          </a:prstGeom>
          <a:solidFill>
            <a:srgbClr val="F3FAFA"/>
          </a:solidFill>
          <a:ln w="12700">
            <a:solidFill>
              <a:srgbClr val="D7E8E8"/>
            </a:solidFill>
            <a:prstDash val="solid"/>
          </a:ln>
        </p:spPr>
      </p:sp>
      <p:sp>
        <p:nvSpPr>
          <p:cNvPr id="10" name="Shape 8"/>
          <p:cNvSpPr/>
          <p:nvPr/>
        </p:nvSpPr>
        <p:spPr>
          <a:xfrm>
            <a:off x="4617720" y="1828800"/>
            <a:ext cx="502920" cy="502920"/>
          </a:xfrm>
          <a:prstGeom prst="ellipse">
            <a:avLst/>
          </a:prstGeom>
          <a:solidFill>
            <a:srgbClr val="028090"/>
          </a:solidFill>
          <a:ln/>
        </p:spPr>
      </p:sp>
      <p:sp>
        <p:nvSpPr>
          <p:cNvPr id="11" name="Text 9"/>
          <p:cNvSpPr/>
          <p:nvPr/>
        </p:nvSpPr>
        <p:spPr>
          <a:xfrm>
            <a:off x="461772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4617720" y="2468880"/>
            <a:ext cx="3108960" cy="685800"/>
          </a:xfrm>
          <a:prstGeom prst="rect">
            <a:avLst/>
          </a:prstGeom>
          <a:noFill/>
          <a:ln/>
        </p:spPr>
        <p:txBody>
          <a:bodyPr wrap="square" lIns="0" tIns="0" rIns="0" bIns="0" rtlCol="0" anchor="t"/>
          <a:lstStyle/>
          <a:p>
            <a:pPr marL="0" indent="0" algn="l">
              <a:buNone/>
            </a:pPr>
            <a:r>
              <a:rPr lang="en-US" sz="1550" b="1" dirty="0">
                <a:solidFill>
                  <a:srgbClr val="16262A"/>
                </a:solidFill>
                <a:latin typeface="Cambria" pitchFamily="34" charset="0"/>
                <a:ea typeface="Cambria" pitchFamily="34" charset="-122"/>
                <a:cs typeface="Cambria" pitchFamily="34" charset="-120"/>
              </a:rPr>
              <a:t>Compare baseline and candidate models</a:t>
            </a:r>
            <a:endParaRPr lang="en-US" sz="1550" dirty="0"/>
          </a:p>
        </p:txBody>
      </p:sp>
      <p:sp>
        <p:nvSpPr>
          <p:cNvPr id="13" name="Text 11"/>
          <p:cNvSpPr/>
          <p:nvPr/>
        </p:nvSpPr>
        <p:spPr>
          <a:xfrm>
            <a:off x="4617720" y="3154680"/>
            <a:ext cx="3108960" cy="1051560"/>
          </a:xfrm>
          <a:prstGeom prst="rect">
            <a:avLst/>
          </a:prstGeom>
          <a:noFill/>
          <a:ln/>
        </p:spPr>
        <p:txBody>
          <a:bodyPr wrap="square" lIns="0" tIns="0" rIns="0" bIns="0" rtlCol="0" anchor="t"/>
          <a:lstStyle/>
          <a:p>
            <a:pPr marL="0" indent="0" algn="l">
              <a:lnSpc>
                <a:spcPct val="108000"/>
              </a:lnSpc>
              <a:buNone/>
            </a:pPr>
            <a:r>
              <a:rPr lang="en-US" sz="1200" dirty="0">
                <a:solidFill>
                  <a:srgbClr val="3C5C5F"/>
                </a:solidFill>
                <a:latin typeface="Calibri" pitchFamily="34" charset="0"/>
                <a:ea typeface="Calibri" pitchFamily="34" charset="-122"/>
                <a:cs typeface="Calibri" pitchFamily="34" charset="-120"/>
              </a:rPr>
              <a:t>Use the most promising features identified this sprint — quantity, pump age, region, extraction type — to compare a baseline against stronger candidate models.</a:t>
            </a:r>
            <a:endParaRPr lang="en-US" sz="1200" dirty="0"/>
          </a:p>
        </p:txBody>
      </p:sp>
      <p:sp>
        <p:nvSpPr>
          <p:cNvPr id="14" name="Shape 12"/>
          <p:cNvSpPr/>
          <p:nvPr/>
        </p:nvSpPr>
        <p:spPr>
          <a:xfrm>
            <a:off x="8229600" y="1600200"/>
            <a:ext cx="3566160" cy="2788920"/>
          </a:xfrm>
          <a:prstGeom prst="roundRect">
            <a:avLst>
              <a:gd name="adj" fmla="val 3279"/>
            </a:avLst>
          </a:prstGeom>
          <a:solidFill>
            <a:srgbClr val="F3FAFA"/>
          </a:solidFill>
          <a:ln w="12700">
            <a:solidFill>
              <a:srgbClr val="D7E8E8"/>
            </a:solidFill>
            <a:prstDash val="solid"/>
          </a:ln>
        </p:spPr>
      </p:sp>
      <p:sp>
        <p:nvSpPr>
          <p:cNvPr id="15" name="Shape 13"/>
          <p:cNvSpPr/>
          <p:nvPr/>
        </p:nvSpPr>
        <p:spPr>
          <a:xfrm>
            <a:off x="8458200" y="1828800"/>
            <a:ext cx="502920" cy="502920"/>
          </a:xfrm>
          <a:prstGeom prst="ellipse">
            <a:avLst/>
          </a:prstGeom>
          <a:solidFill>
            <a:srgbClr val="028090"/>
          </a:solidFill>
          <a:ln/>
        </p:spPr>
      </p:sp>
      <p:sp>
        <p:nvSpPr>
          <p:cNvPr id="16" name="Text 14"/>
          <p:cNvSpPr/>
          <p:nvPr/>
        </p:nvSpPr>
        <p:spPr>
          <a:xfrm>
            <a:off x="8458200" y="182880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8458200" y="2468880"/>
            <a:ext cx="3108960" cy="685800"/>
          </a:xfrm>
          <a:prstGeom prst="rect">
            <a:avLst/>
          </a:prstGeom>
          <a:noFill/>
          <a:ln/>
        </p:spPr>
        <p:txBody>
          <a:bodyPr wrap="square" lIns="0" tIns="0" rIns="0" bIns="0" rtlCol="0" anchor="t"/>
          <a:lstStyle/>
          <a:p>
            <a:pPr marL="0" indent="0" algn="l">
              <a:buNone/>
            </a:pPr>
            <a:r>
              <a:rPr lang="en-US" sz="1550" b="1" dirty="0">
                <a:solidFill>
                  <a:srgbClr val="16262A"/>
                </a:solidFill>
                <a:latin typeface="Cambria" pitchFamily="34" charset="0"/>
                <a:ea typeface="Cambria" pitchFamily="34" charset="-122"/>
                <a:cs typeface="Cambria" pitchFamily="34" charset="-120"/>
              </a:rPr>
              <a:t>Evaluate every class, especially “needs repair”</a:t>
            </a:r>
            <a:endParaRPr lang="en-US" sz="1550" dirty="0"/>
          </a:p>
        </p:txBody>
      </p:sp>
      <p:sp>
        <p:nvSpPr>
          <p:cNvPr id="18" name="Text 16"/>
          <p:cNvSpPr/>
          <p:nvPr/>
        </p:nvSpPr>
        <p:spPr>
          <a:xfrm>
            <a:off x="8458200" y="3154680"/>
            <a:ext cx="3108960" cy="1051560"/>
          </a:xfrm>
          <a:prstGeom prst="rect">
            <a:avLst/>
          </a:prstGeom>
          <a:noFill/>
          <a:ln/>
        </p:spPr>
        <p:txBody>
          <a:bodyPr wrap="square" lIns="0" tIns="0" rIns="0" bIns="0" rtlCol="0" anchor="t"/>
          <a:lstStyle/>
          <a:p>
            <a:pPr marL="0" indent="0" algn="l">
              <a:lnSpc>
                <a:spcPct val="108000"/>
              </a:lnSpc>
              <a:buNone/>
            </a:pPr>
            <a:r>
              <a:rPr lang="en-US" sz="1200" dirty="0">
                <a:solidFill>
                  <a:srgbClr val="3C5C5F"/>
                </a:solidFill>
                <a:latin typeface="Calibri" pitchFamily="34" charset="0"/>
                <a:ea typeface="Calibri" pitchFamily="34" charset="-122"/>
                <a:cs typeface="Calibri" pitchFamily="34" charset="-120"/>
              </a:rPr>
              <a:t>Report class-specific precision, recall and F1 — not just overall accuracy — so the smallest, most operationally important class isn't hidden by the two larger ones.</a:t>
            </a:r>
            <a:endParaRPr lang="en-US" sz="1200" dirty="0"/>
          </a:p>
        </p:txBody>
      </p:sp>
      <p:sp>
        <p:nvSpPr>
          <p:cNvPr id="19" name="Text 17"/>
          <p:cNvSpPr/>
          <p:nvPr/>
        </p:nvSpPr>
        <p:spPr>
          <a:xfrm>
            <a:off x="548640" y="4709160"/>
            <a:ext cx="10927080" cy="548640"/>
          </a:xfrm>
          <a:prstGeom prst="rect">
            <a:avLst/>
          </a:prstGeom>
          <a:noFill/>
          <a:ln/>
        </p:spPr>
        <p:txBody>
          <a:bodyPr wrap="square" rtlCol="0" anchor="ctr"/>
          <a:lstStyle/>
          <a:p>
            <a:pPr marL="0" indent="0" algn="l">
              <a:buNone/>
            </a:pPr>
            <a:r>
              <a:rPr lang="en-US" sz="1350" i="1" dirty="0">
                <a:solidFill>
                  <a:srgbClr val="028090"/>
                </a:solidFill>
                <a:latin typeface="Calibri" pitchFamily="34" charset="0"/>
                <a:ea typeface="Calibri" pitchFamily="34" charset="-122"/>
                <a:cs typeface="Calibri" pitchFamily="34" charset="-120"/>
              </a:rPr>
              <a:t>Sprint 2 will test whether these patterns are actually predictive — comparing models and reporting results per class, not just overall.</a:t>
            </a:r>
            <a:endParaRPr lang="en-US" sz="1350" dirty="0"/>
          </a:p>
        </p:txBody>
      </p:sp>
      <p:sp>
        <p:nvSpPr>
          <p:cNvPr id="25" name="Slide Number Placeholder 0"/>
          <p:cNvSpPr>
            <a:spLocks noGrp="1"/>
          </p:cNvSpPr>
          <p:nvPr>
            <p:ph type="sldNum" sz="quarter" idx="4294967295"/>
          </p:nvPr>
        </p:nvSpPr>
        <p:spPr>
          <a:xfrm>
            <a:off x="11658600" y="6583680"/>
            <a:ext cx="800000" cy="300000"/>
          </a:xfrm>
          <a:prstGeom prst="rect">
            <a:avLst/>
          </a:prstGeom>
          <a:extLst>
            <a:ext uri="{C572A759-6A51-4108-AA02-DFA0A04FC94B}">
              <ma14:wrappingTextBoxFlag xmlns="" xmlns:ma14="http://schemas.microsoft.com/office/mac/drawingml/2011/main" val="0"/>
            </a:ext>
          </a:extLst>
        </p:spPr>
        <p:txBody>
          <a:bodyPr/>
          <a:lstStyle>
            <a:lvl1pPr>
              <a:defRPr sz="900">
                <a:solidFill>
                  <a:srgbClr val="8AA5A8"/>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theme/theme1.xml><?xml version="1.0" encoding="utf-8"?>
<a:theme xmlns:a="http://schemas.openxmlformats.org/drawingml/2006/main" name="WTM Water Table">
  <a:themeElements>
    <a:clrScheme name="WTM Water Table">
      <a:dk1>
        <a:srgbClr val="16262A"/>
      </a:dk1>
      <a:lt1>
        <a:srgbClr val="FFFFFF"/>
      </a:lt1>
      <a:dk2>
        <a:srgbClr val="028090"/>
      </a:dk2>
      <a:lt2>
        <a:srgbClr val="EAF6F6"/>
      </a:lt2>
      <a:accent1>
        <a:srgbClr val="02C39A"/>
      </a:accent1>
      <a:accent2>
        <a:srgbClr val="00A896"/>
      </a:accent2>
      <a:accent3>
        <a:srgbClr val="F2B134"/>
      </a:accent3>
      <a:accent4>
        <a:srgbClr val="D7263D"/>
      </a:accent4>
      <a:accent5>
        <a:srgbClr val="7FD8C8"/>
      </a:accent5>
      <a:accent6>
        <a:srgbClr val="0B4F56"/>
      </a:accent6>
      <a:hlink>
        <a:srgbClr val="02C39A"/>
      </a:hlink>
      <a:folHlink>
        <a:srgbClr val="00A896"/>
      </a:folHlink>
    </a:clrScheme>
    <a:fontScheme name="WTM Water Tabl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1576</Words>
  <Application>Microsoft Office PowerPoint</Application>
  <PresentationFormat>Widescreen</PresentationFormat>
  <Paragraphs>68</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Arial</vt:lpstr>
      <vt:lpstr>Calibri</vt:lpstr>
      <vt:lpstr>Cambria</vt:lpstr>
      <vt:lpstr>WTM Water Table</vt:lpstr>
      <vt:lpstr>SPRINT 1  ·  PUMP IT UP: DATA MINING THE WATER TABLE</vt:lpstr>
      <vt:lpstr>DATASET &amp; QUALITY FINDINGS</vt:lpstr>
      <vt:lpstr>TARGET CLASSES &amp; CATEGORICAL FINDINGS</vt:lpstr>
      <vt:lpstr>GEOGRAPHY &amp; PUMP AGE</vt:lpstr>
      <vt:lpstr>INTERACTIVE GEOSPATIAL MAP</vt:lpstr>
      <vt:lpstr>CONCLUSIONS &amp; SPRINT 2 PRIORITIES</vt:lpstr>
    </vt:vector>
  </TitlesOfParts>
  <Company>ReDI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Pump it Up: Sprint 1 Findings</dc:title>
  <dc:subject>PptxGenJS Presentation</dc:subject>
  <dc:creator>Team WTM</dc:creator>
  <cp:lastModifiedBy>ReDI</cp:lastModifiedBy>
  <cp:revision>7</cp:revision>
  <dcterms:created xsi:type="dcterms:W3CDTF">2026-10-14T19:08:27Z</dcterms:created>
  <dcterms:modified xsi:type="dcterms:W3CDTF">2026-10-16T02:41:43Z</dcterms:modified>
</cp:coreProperties>
</file>